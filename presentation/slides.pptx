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>
      <p:cViewPr varScale="1">
        <p:scale>
          <a:sx n="113" d="100"/>
          <a:sy n="113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fr-FR" sz="34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déplacer la diapo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651C5B8-81D4-4FD6-8B55-8BEEE368F076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‹N°›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12600" indent="0" algn="l">
              <a:lnSpc>
                <a:spcPct val="111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fr-FR" sz="1400" b="1" u="none" strike="noStrike" spc="-85">
                <a:solidFill>
                  <a:srgbClr val="111111"/>
                </a:solidFill>
                <a:effectLst/>
                <a:uFillTx/>
                <a:latin typeface="Arial"/>
              </a:rPr>
              <a:t>L’état</a:t>
            </a:r>
            <a:r>
              <a:rPr lang="fr-FR" sz="1400" b="1" u="none" strike="noStrike" spc="-11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91">
                <a:solidFill>
                  <a:srgbClr val="111111"/>
                </a:solidFill>
                <a:effectLst/>
                <a:uFillTx/>
                <a:latin typeface="Arial"/>
              </a:rPr>
              <a:t>du</a:t>
            </a:r>
            <a:r>
              <a:rPr lang="fr-FR" sz="1400" b="1" u="none" strike="noStrike" spc="-7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parc</a:t>
            </a:r>
            <a:r>
              <a:rPr lang="fr-FR" sz="1400" b="1" u="none" strike="noStrike" spc="-113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71">
                <a:solidFill>
                  <a:srgbClr val="111111"/>
                </a:solidFill>
                <a:effectLst/>
                <a:uFillTx/>
                <a:latin typeface="Arial"/>
              </a:rPr>
              <a:t>en</a:t>
            </a:r>
            <a:r>
              <a:rPr lang="fr-FR" sz="1400" b="1" u="none" strike="noStrike" spc="-7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96">
                <a:solidFill>
                  <a:srgbClr val="111111"/>
                </a:solidFill>
                <a:effectLst/>
                <a:uFillTx/>
                <a:latin typeface="Arial"/>
              </a:rPr>
              <a:t>un</a:t>
            </a:r>
            <a:r>
              <a:rPr lang="fr-FR" sz="1400" b="1" u="none" strike="noStrike" spc="-74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65">
                <a:solidFill>
                  <a:srgbClr val="111111"/>
                </a:solidFill>
                <a:effectLst/>
                <a:uFillTx/>
                <a:latin typeface="Arial"/>
              </a:rPr>
              <a:t>coup</a:t>
            </a:r>
            <a:r>
              <a:rPr lang="fr-FR" sz="1400" b="1" u="none" strike="noStrike" spc="-11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85">
                <a:solidFill>
                  <a:srgbClr val="111111"/>
                </a:solidFill>
                <a:effectLst/>
                <a:uFillTx/>
                <a:latin typeface="Arial"/>
              </a:rPr>
              <a:t>d’œil</a:t>
            </a:r>
            <a:r>
              <a:rPr lang="fr-FR" sz="1400" b="1" u="none" strike="noStrike" spc="-14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0" u="none" strike="noStrike" spc="-119">
                <a:solidFill>
                  <a:srgbClr val="111111"/>
                </a:solidFill>
                <a:effectLst/>
                <a:uFillTx/>
                <a:latin typeface="Arial MT"/>
              </a:rPr>
              <a:t>:</a:t>
            </a:r>
            <a:r>
              <a:rPr lang="fr-FR" sz="1400" b="0" u="none" strike="noStrike" spc="4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45">
                <a:solidFill>
                  <a:srgbClr val="111111"/>
                </a:solidFill>
                <a:effectLst/>
                <a:uFillTx/>
                <a:latin typeface="Arial MT"/>
              </a:rPr>
              <a:t>un</a:t>
            </a:r>
            <a:r>
              <a:rPr lang="fr-FR" sz="1400" b="0" u="none" strike="noStrike" spc="-54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>
                <a:solidFill>
                  <a:srgbClr val="111111"/>
                </a:solidFill>
                <a:effectLst/>
                <a:uFillTx/>
                <a:latin typeface="Arial MT"/>
              </a:rPr>
              <a:t>statut</a:t>
            </a:r>
            <a:r>
              <a:rPr lang="fr-FR" sz="1400" b="0" u="none" strike="noStrike" spc="-9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6">
                <a:solidFill>
                  <a:srgbClr val="111111"/>
                </a:solidFill>
                <a:effectLst/>
                <a:uFillTx/>
                <a:latin typeface="Arial MT"/>
              </a:rPr>
              <a:t>par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machine,</a:t>
            </a:r>
            <a:r>
              <a:rPr lang="fr-FR" sz="1400" b="0" u="none" strike="noStrike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normal,</a:t>
            </a:r>
            <a:r>
              <a:rPr lang="fr-FR" sz="1400" b="0" u="none" strike="noStrike" spc="6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avertissement</a:t>
            </a:r>
            <a:r>
              <a:rPr lang="fr-FR" sz="1400" b="0" u="none" strike="noStrike" spc="-10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40">
                <a:solidFill>
                  <a:srgbClr val="111111"/>
                </a:solidFill>
                <a:effectLst/>
                <a:uFillTx/>
                <a:latin typeface="Arial MT"/>
              </a:rPr>
              <a:t>ou</a:t>
            </a:r>
            <a:r>
              <a:rPr lang="fr-FR" sz="1400" b="0" u="none" strike="noStrike" spc="-7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>
                <a:solidFill>
                  <a:srgbClr val="111111"/>
                </a:solidFill>
                <a:effectLst/>
                <a:uFillTx/>
                <a:latin typeface="Arial MT"/>
              </a:rPr>
              <a:t>critique.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0" algn="l">
              <a:lnSpc>
                <a:spcPct val="111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Les</a:t>
            </a:r>
            <a:r>
              <a:rPr lang="fr-FR" sz="1400" b="1" u="none" strike="noStrike" spc="-9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54">
                <a:solidFill>
                  <a:srgbClr val="111111"/>
                </a:solidFill>
                <a:effectLst/>
                <a:uFillTx/>
                <a:latin typeface="Arial"/>
              </a:rPr>
              <a:t>tendances</a:t>
            </a:r>
            <a:r>
              <a:rPr lang="fr-FR" sz="1400" b="1" u="none" strike="noStrike" spc="-9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historiques</a:t>
            </a:r>
            <a:r>
              <a:rPr lang="fr-FR" sz="1400" b="1" u="none" strike="noStrike" spc="-8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de</a:t>
            </a:r>
            <a:r>
              <a:rPr lang="fr-FR" sz="1400" b="0" u="none" strike="noStrike" spc="-79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>
                <a:solidFill>
                  <a:srgbClr val="111111"/>
                </a:solidFill>
                <a:effectLst/>
                <a:uFillTx/>
                <a:latin typeface="Arial MT"/>
              </a:rPr>
              <a:t>vibration, </a:t>
            </a:r>
            <a:r>
              <a:rPr lang="fr-FR" sz="1400" b="0" u="none" strike="noStrike" spc="-34">
                <a:solidFill>
                  <a:srgbClr val="111111"/>
                </a:solidFill>
                <a:effectLst/>
                <a:uFillTx/>
                <a:latin typeface="Arial MT"/>
              </a:rPr>
              <a:t>température</a:t>
            </a:r>
            <a:r>
              <a:rPr lang="fr-FR" sz="1400" b="0" u="none" strike="noStrike" spc="-7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0">
                <a:solidFill>
                  <a:srgbClr val="111111"/>
                </a:solidFill>
                <a:effectLst/>
                <a:uFillTx/>
                <a:latin typeface="Arial MT"/>
              </a:rPr>
              <a:t>et</a:t>
            </a:r>
            <a:r>
              <a:rPr lang="fr-FR" sz="1400" b="0" u="none" strike="noStrike" spc="-6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pression</a:t>
            </a:r>
            <a:r>
              <a:rPr lang="fr-FR" sz="1400" b="0" u="none" strike="noStrike" spc="-2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6">
                <a:solidFill>
                  <a:srgbClr val="111111"/>
                </a:solidFill>
                <a:effectLst/>
                <a:uFillTx/>
                <a:latin typeface="Arial MT"/>
              </a:rPr>
              <a:t>pour</a:t>
            </a:r>
            <a:r>
              <a:rPr lang="fr-FR" sz="1400" b="0" u="none" strike="noStrike" spc="-113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comprendre</a:t>
            </a:r>
            <a:r>
              <a:rPr lang="fr-FR" sz="1400" b="0" u="none" strike="noStrike" spc="-7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6">
                <a:solidFill>
                  <a:srgbClr val="111111"/>
                </a:solidFill>
                <a:effectLst/>
                <a:uFillTx/>
                <a:latin typeface="Arial MT"/>
              </a:rPr>
              <a:t>une </a:t>
            </a:r>
            <a:r>
              <a:rPr lang="fr-FR" sz="1400" b="0" u="none" strike="noStrike" spc="-11">
                <a:solidFill>
                  <a:srgbClr val="111111"/>
                </a:solidFill>
                <a:effectLst/>
                <a:uFillTx/>
                <a:latin typeface="Arial MT"/>
              </a:rPr>
              <a:t>dérive.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0" algn="l">
              <a:lnSpc>
                <a:spcPts val="1414"/>
              </a:lnSpc>
              <a:buNone/>
              <a:tabLst>
                <a:tab pos="0" algn="l"/>
              </a:tabLst>
            </a:pPr>
            <a:r>
              <a:rPr lang="fr-FR" sz="1400" b="1" u="none" strike="noStrike" spc="-40">
                <a:solidFill>
                  <a:srgbClr val="111111"/>
                </a:solidFill>
                <a:effectLst/>
                <a:uFillTx/>
                <a:latin typeface="Arial"/>
              </a:rPr>
              <a:t>Des</a:t>
            </a:r>
            <a:r>
              <a:rPr lang="fr-FR" sz="1400" b="1" u="none" strike="noStrike" spc="-9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seuils</a:t>
            </a:r>
            <a:r>
              <a:rPr lang="fr-FR" sz="1400" b="1" u="none" strike="noStrike" spc="-9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54">
                <a:solidFill>
                  <a:srgbClr val="111111"/>
                </a:solidFill>
                <a:effectLst/>
                <a:uFillTx/>
                <a:latin typeface="Arial"/>
              </a:rPr>
              <a:t>explicites</a:t>
            </a:r>
            <a:r>
              <a:rPr lang="fr-FR" sz="1400" b="1" u="none" strike="noStrike" spc="-7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par</a:t>
            </a:r>
            <a:r>
              <a:rPr lang="fr-FR" sz="1400" b="0" u="none" strike="noStrike" spc="-11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4">
                <a:solidFill>
                  <a:srgbClr val="111111"/>
                </a:solidFill>
                <a:effectLst/>
                <a:uFillTx/>
                <a:latin typeface="Arial MT"/>
              </a:rPr>
              <a:t>capteur,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avertissement</a:t>
            </a:r>
            <a:r>
              <a:rPr lang="fr-FR" sz="1400" b="0" u="none" strike="noStrike" spc="-5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0">
                <a:solidFill>
                  <a:srgbClr val="111111"/>
                </a:solidFill>
                <a:effectLst/>
                <a:uFillTx/>
                <a:latin typeface="Arial MT"/>
              </a:rPr>
              <a:t>puis</a:t>
            </a:r>
            <a:r>
              <a:rPr lang="fr-FR" sz="1400" b="0" u="none" strike="noStrike" spc="-54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>
                <a:solidFill>
                  <a:srgbClr val="111111"/>
                </a:solidFill>
                <a:effectLst/>
                <a:uFillTx/>
                <a:latin typeface="Arial MT"/>
              </a:rPr>
              <a:t>critique.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0" algn="l">
              <a:lnSpc>
                <a:spcPts val="1414"/>
              </a:lnSpc>
              <a:buNone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0" algn="l">
              <a:lnSpc>
                <a:spcPct val="111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fr-FR" sz="1400" b="1" u="none" strike="noStrike" spc="-51">
                <a:solidFill>
                  <a:srgbClr val="111111"/>
                </a:solidFill>
                <a:effectLst/>
                <a:uFillTx/>
                <a:latin typeface="Arial"/>
              </a:rPr>
              <a:t>Une</a:t>
            </a:r>
            <a:r>
              <a:rPr lang="fr-FR" sz="1400" b="1" u="none" strike="noStrike" spc="-12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40">
                <a:solidFill>
                  <a:srgbClr val="111111"/>
                </a:solidFill>
                <a:effectLst/>
                <a:uFillTx/>
                <a:latin typeface="Arial"/>
              </a:rPr>
              <a:t>alerte</a:t>
            </a:r>
            <a:r>
              <a:rPr lang="fr-FR" sz="1400" b="1" u="none" strike="noStrike" spc="-12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71">
                <a:solidFill>
                  <a:srgbClr val="111111"/>
                </a:solidFill>
                <a:effectLst/>
                <a:uFillTx/>
                <a:latin typeface="Arial"/>
              </a:rPr>
              <a:t>en</a:t>
            </a:r>
            <a:r>
              <a:rPr lang="fr-FR" sz="1400" b="1" u="none" strike="noStrike" spc="-9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65">
                <a:solidFill>
                  <a:srgbClr val="111111"/>
                </a:solidFill>
                <a:effectLst/>
                <a:uFillTx/>
                <a:latin typeface="Arial"/>
              </a:rPr>
              <a:t>temps</a:t>
            </a:r>
            <a:r>
              <a:rPr lang="fr-FR" sz="1400" b="1" u="none" strike="noStrike" spc="-12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65">
                <a:solidFill>
                  <a:srgbClr val="111111"/>
                </a:solidFill>
                <a:effectLst/>
                <a:uFillTx/>
                <a:latin typeface="Arial"/>
              </a:rPr>
              <a:t>réel</a:t>
            </a:r>
            <a:r>
              <a:rPr lang="fr-FR" sz="1400" b="1" u="none" strike="noStrike" spc="-20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dès</a:t>
            </a:r>
            <a:r>
              <a:rPr lang="fr-FR" sz="1400" b="0" u="none" strike="noStrike" spc="-10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6">
                <a:solidFill>
                  <a:srgbClr val="111111"/>
                </a:solidFill>
                <a:effectLst/>
                <a:uFillTx/>
                <a:latin typeface="Arial MT"/>
              </a:rPr>
              <a:t>qu’un</a:t>
            </a:r>
            <a:r>
              <a:rPr lang="fr-FR" sz="1400" b="0" u="none" strike="noStrike" spc="-6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seuil</a:t>
            </a:r>
            <a:r>
              <a:rPr lang="fr-FR" sz="1400" b="0" u="none" strike="noStrike" spc="-14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6">
                <a:solidFill>
                  <a:srgbClr val="111111"/>
                </a:solidFill>
                <a:effectLst/>
                <a:uFillTx/>
                <a:latin typeface="Arial MT"/>
              </a:rPr>
              <a:t>est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franchi,</a:t>
            </a:r>
            <a:r>
              <a:rPr lang="fr-FR" sz="1400" b="0" u="none" strike="noStrike" spc="1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sans</a:t>
            </a:r>
            <a:r>
              <a:rPr lang="fr-FR" sz="1400" b="0" u="none" strike="noStrike" spc="-10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4">
                <a:solidFill>
                  <a:srgbClr val="111111"/>
                </a:solidFill>
                <a:effectLst/>
                <a:uFillTx/>
                <a:latin typeface="Arial MT"/>
              </a:rPr>
              <a:t>recharger</a:t>
            </a:r>
            <a:r>
              <a:rPr lang="fr-FR" sz="1400" b="0" u="none" strike="noStrike" spc="-14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>
                <a:solidFill>
                  <a:srgbClr val="111111"/>
                </a:solidFill>
                <a:effectLst/>
                <a:uFillTx/>
                <a:latin typeface="Arial MT"/>
              </a:rPr>
              <a:t>la</a:t>
            </a:r>
            <a:r>
              <a:rPr lang="fr-FR" sz="1400" b="0" u="none" strike="noStrike" spc="-159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0">
                <a:solidFill>
                  <a:srgbClr val="111111"/>
                </a:solidFill>
                <a:effectLst/>
                <a:uFillTx/>
                <a:latin typeface="Arial MT"/>
              </a:rPr>
              <a:t>page.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0" algn="l">
              <a:lnSpc>
                <a:spcPct val="111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fr-FR" sz="1400" b="1" u="none" strike="noStrike" spc="-54">
                <a:solidFill>
                  <a:srgbClr val="111111"/>
                </a:solidFill>
                <a:effectLst/>
                <a:uFillTx/>
                <a:latin typeface="Arial"/>
              </a:rPr>
              <a:t>Prioriser</a:t>
            </a:r>
            <a:r>
              <a:rPr lang="fr-FR" sz="1400" b="1" u="none" strike="noStrike" spc="-10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0" u="none" strike="noStrike" spc="-119">
                <a:solidFill>
                  <a:srgbClr val="111111"/>
                </a:solidFill>
                <a:effectLst/>
                <a:uFillTx/>
                <a:latin typeface="Arial MT"/>
              </a:rPr>
              <a:t>:</a:t>
            </a:r>
            <a:r>
              <a:rPr lang="fr-FR" sz="1400" b="0" u="none" strike="noStrike" spc="6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le</a:t>
            </a:r>
            <a:r>
              <a:rPr lang="fr-FR" sz="1400" b="0" u="none" strike="noStrike" spc="-8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0">
                <a:solidFill>
                  <a:srgbClr val="111111"/>
                </a:solidFill>
                <a:effectLst/>
                <a:uFillTx/>
                <a:latin typeface="Arial MT"/>
              </a:rPr>
              <a:t>critique</a:t>
            </a:r>
            <a:r>
              <a:rPr lang="fr-FR" sz="1400" b="0" u="none" strike="noStrike" spc="-8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40">
                <a:solidFill>
                  <a:srgbClr val="111111"/>
                </a:solidFill>
                <a:effectLst/>
                <a:uFillTx/>
                <a:latin typeface="Arial MT"/>
              </a:rPr>
              <a:t>avant</a:t>
            </a:r>
            <a:r>
              <a:rPr lang="fr-FR" sz="1400" b="0" u="none" strike="noStrike" spc="-74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0">
                <a:solidFill>
                  <a:srgbClr val="111111"/>
                </a:solidFill>
                <a:effectLst/>
                <a:uFillTx/>
                <a:latin typeface="Arial MT"/>
              </a:rPr>
              <a:t>l’avertissement, </a:t>
            </a:r>
            <a:r>
              <a:rPr lang="fr-FR" sz="1400" b="0" u="none" strike="noStrike" spc="-34">
                <a:solidFill>
                  <a:srgbClr val="111111"/>
                </a:solidFill>
                <a:effectLst/>
                <a:uFillTx/>
                <a:latin typeface="Arial MT"/>
              </a:rPr>
              <a:t>une</a:t>
            </a:r>
            <a:r>
              <a:rPr lang="fr-FR" sz="1400" b="0" u="none" strike="noStrike" spc="-96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seule</a:t>
            </a:r>
            <a:r>
              <a:rPr lang="fr-FR" sz="1400" b="0" u="none" strike="noStrike" spc="-9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alerte</a:t>
            </a:r>
            <a:r>
              <a:rPr lang="fr-FR" sz="1400" b="0" u="none" strike="noStrike" spc="-96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par</a:t>
            </a:r>
            <a:r>
              <a:rPr lang="fr-FR" sz="1400" b="0" u="none" strike="noStrike" spc="-13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>
                <a:solidFill>
                  <a:srgbClr val="111111"/>
                </a:solidFill>
                <a:effectLst/>
                <a:uFillTx/>
                <a:latin typeface="Arial MT"/>
              </a:rPr>
              <a:t>franchissement.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0" algn="l">
              <a:lnSpc>
                <a:spcPct val="116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Acquitter</a:t>
            </a:r>
            <a:r>
              <a:rPr lang="fr-FR" sz="1400" b="1" u="none" strike="noStrike" spc="-10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0" u="none" strike="noStrike" spc="-26">
                <a:solidFill>
                  <a:srgbClr val="111111"/>
                </a:solidFill>
                <a:effectLst/>
                <a:uFillTx/>
                <a:latin typeface="Arial MT"/>
              </a:rPr>
              <a:t>l’alerte</a:t>
            </a:r>
            <a:r>
              <a:rPr lang="fr-FR" sz="1400" b="0" u="none" strike="noStrike" spc="-8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9">
                <a:solidFill>
                  <a:srgbClr val="111111"/>
                </a:solidFill>
                <a:effectLst/>
                <a:uFillTx/>
                <a:latin typeface="Arial MT"/>
              </a:rPr>
              <a:t>:</a:t>
            </a:r>
            <a:r>
              <a:rPr lang="fr-FR" sz="1400" b="0" u="none" strike="noStrike" spc="6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l’heure</a:t>
            </a:r>
            <a:r>
              <a:rPr lang="fr-FR" sz="1400" b="0" u="none" strike="noStrike" spc="-9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de</a:t>
            </a:r>
            <a:r>
              <a:rPr lang="fr-FR" sz="1400" b="0" u="none" strike="noStrike" spc="-8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prise</a:t>
            </a:r>
            <a:r>
              <a:rPr lang="fr-FR" sz="1400" b="0" u="none" strike="noStrike" spc="-8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45">
                <a:solidFill>
                  <a:srgbClr val="111111"/>
                </a:solidFill>
                <a:effectLst/>
                <a:uFillTx/>
                <a:latin typeface="Arial MT"/>
              </a:rPr>
              <a:t>en</a:t>
            </a:r>
            <a:r>
              <a:rPr lang="fr-FR" sz="1400" b="0" u="none" strike="noStrike" spc="-4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>
                <a:solidFill>
                  <a:srgbClr val="111111"/>
                </a:solidFill>
                <a:effectLst/>
                <a:uFillTx/>
                <a:latin typeface="Arial MT"/>
              </a:rPr>
              <a:t>charge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reste</a:t>
            </a:r>
            <a:r>
              <a:rPr lang="fr-FR" sz="1400" b="0" u="none" strike="noStrike" spc="-9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>
                <a:solidFill>
                  <a:srgbClr val="111111"/>
                </a:solidFill>
                <a:effectLst/>
                <a:uFillTx/>
                <a:latin typeface="Arial MT"/>
              </a:rPr>
              <a:t>enregistrée.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0" algn="l">
              <a:lnSpc>
                <a:spcPct val="116000"/>
              </a:lnSpc>
              <a:spcBef>
                <a:spcPts val="96"/>
              </a:spcBef>
              <a:buNone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0" algn="l">
              <a:lnSpc>
                <a:spcPct val="111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Moins</a:t>
            </a:r>
            <a:r>
              <a:rPr lang="fr-FR" sz="1400" b="1" u="none" strike="noStrike" spc="-9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54">
                <a:solidFill>
                  <a:srgbClr val="111111"/>
                </a:solidFill>
                <a:effectLst/>
                <a:uFillTx/>
                <a:latin typeface="Arial"/>
              </a:rPr>
              <a:t>d’arrêts</a:t>
            </a:r>
            <a:r>
              <a:rPr lang="fr-FR" sz="1400" b="1" u="none" strike="noStrike" spc="-9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79">
                <a:solidFill>
                  <a:srgbClr val="111111"/>
                </a:solidFill>
                <a:effectLst/>
                <a:uFillTx/>
                <a:latin typeface="Arial"/>
              </a:rPr>
              <a:t>non</a:t>
            </a: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 planifiés</a:t>
            </a:r>
            <a:r>
              <a:rPr lang="fr-FR" sz="1400" b="1" u="none" strike="noStrike" spc="-7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0" u="none" strike="noStrike" spc="-119">
                <a:solidFill>
                  <a:srgbClr val="111111"/>
                </a:solidFill>
                <a:effectLst/>
                <a:uFillTx/>
                <a:latin typeface="Arial MT"/>
              </a:rPr>
              <a:t>:</a:t>
            </a:r>
            <a:r>
              <a:rPr lang="fr-FR" sz="1400" b="0" u="none" strike="noStrike" spc="6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>
                <a:solidFill>
                  <a:srgbClr val="111111"/>
                </a:solidFill>
                <a:effectLst/>
                <a:uFillTx/>
                <a:latin typeface="Arial MT"/>
              </a:rPr>
              <a:t>la</a:t>
            </a:r>
            <a:r>
              <a:rPr lang="fr-FR" sz="1400" b="0" u="none" strike="noStrike" spc="-139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>
                <a:solidFill>
                  <a:srgbClr val="111111"/>
                </a:solidFill>
                <a:effectLst/>
                <a:uFillTx/>
                <a:latin typeface="Arial MT"/>
              </a:rPr>
              <a:t>maintenance </a:t>
            </a:r>
            <a:r>
              <a:rPr lang="fr-FR" sz="1400" b="0" u="none" strike="noStrike" spc="-26">
                <a:solidFill>
                  <a:srgbClr val="111111"/>
                </a:solidFill>
                <a:effectLst/>
                <a:uFillTx/>
                <a:latin typeface="Arial MT"/>
              </a:rPr>
              <a:t>intervient</a:t>
            </a:r>
            <a:r>
              <a:rPr lang="fr-FR" sz="1400" b="0" u="none" strike="noStrike" spc="-9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pendant</a:t>
            </a:r>
            <a:r>
              <a:rPr lang="fr-FR" sz="1400" b="0" u="none" strike="noStrike" spc="-8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>
                <a:solidFill>
                  <a:srgbClr val="111111"/>
                </a:solidFill>
                <a:effectLst/>
                <a:uFillTx/>
                <a:latin typeface="Arial MT"/>
              </a:rPr>
              <a:t>la</a:t>
            </a:r>
            <a:r>
              <a:rPr lang="fr-FR" sz="1400" b="0" u="none" strike="noStrike" spc="-15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4">
                <a:solidFill>
                  <a:srgbClr val="111111"/>
                </a:solidFill>
                <a:effectLst/>
                <a:uFillTx/>
                <a:latin typeface="Arial MT"/>
              </a:rPr>
              <a:t>dérive,</a:t>
            </a:r>
            <a:r>
              <a:rPr lang="fr-FR" sz="1400" b="0" u="none" strike="noStrike" spc="3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pas</a:t>
            </a:r>
            <a:r>
              <a:rPr lang="fr-FR" sz="1400" b="0" u="none" strike="noStrike" spc="-9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40">
                <a:solidFill>
                  <a:srgbClr val="111111"/>
                </a:solidFill>
                <a:effectLst/>
                <a:uFillTx/>
                <a:latin typeface="Arial MT"/>
              </a:rPr>
              <a:t>après</a:t>
            </a:r>
            <a:r>
              <a:rPr lang="fr-FR" sz="1400" b="0" u="none" strike="noStrike" spc="-9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6">
                <a:solidFill>
                  <a:srgbClr val="111111"/>
                </a:solidFill>
                <a:effectLst/>
                <a:uFillTx/>
                <a:latin typeface="Arial MT"/>
              </a:rPr>
              <a:t>la </a:t>
            </a:r>
            <a:r>
              <a:rPr lang="fr-FR" sz="1400" b="0" u="none" strike="noStrike" spc="-11">
                <a:solidFill>
                  <a:srgbClr val="111111"/>
                </a:solidFill>
                <a:effectLst/>
                <a:uFillTx/>
                <a:latin typeface="Arial MT"/>
              </a:rPr>
              <a:t>casse.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0" algn="l">
              <a:lnSpc>
                <a:spcPct val="113000"/>
              </a:lnSpc>
              <a:spcBef>
                <a:spcPts val="60"/>
              </a:spcBef>
              <a:buNone/>
              <a:tabLst>
                <a:tab pos="0" algn="l"/>
              </a:tabLst>
            </a:pP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Économies</a:t>
            </a:r>
            <a:r>
              <a:rPr lang="fr-FR" sz="1400" b="1" u="none" strike="noStrike" spc="-6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0" u="none" strike="noStrike" spc="-119">
                <a:solidFill>
                  <a:srgbClr val="111111"/>
                </a:solidFill>
                <a:effectLst/>
                <a:uFillTx/>
                <a:latin typeface="Arial MT"/>
              </a:rPr>
              <a:t>:</a:t>
            </a:r>
            <a:r>
              <a:rPr lang="fr-FR" sz="1400" b="0" u="none" strike="noStrike" spc="96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6">
                <a:solidFill>
                  <a:srgbClr val="111111"/>
                </a:solidFill>
                <a:effectLst/>
                <a:uFillTx/>
                <a:latin typeface="Arial MT"/>
              </a:rPr>
              <a:t>interventions</a:t>
            </a:r>
            <a:r>
              <a:rPr lang="fr-FR" sz="1400" b="0" u="none" strike="noStrike" spc="-6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planifiées</a:t>
            </a:r>
            <a:r>
              <a:rPr lang="fr-FR" sz="1400" b="0" u="none" strike="noStrike" spc="-54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>
                <a:solidFill>
                  <a:srgbClr val="111111"/>
                </a:solidFill>
                <a:effectLst/>
                <a:uFillTx/>
                <a:latin typeface="Arial MT"/>
              </a:rPr>
              <a:t>plutôt </a:t>
            </a:r>
            <a:r>
              <a:rPr lang="fr-FR" sz="1400" b="0" u="none" strike="noStrike" spc="-45">
                <a:solidFill>
                  <a:srgbClr val="111111"/>
                </a:solidFill>
                <a:effectLst/>
                <a:uFillTx/>
                <a:latin typeface="Arial MT"/>
              </a:rPr>
              <a:t>qu’en</a:t>
            </a:r>
            <a:r>
              <a:rPr lang="fr-FR" sz="1400" b="0" u="none" strike="noStrike" spc="-5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4">
                <a:solidFill>
                  <a:srgbClr val="111111"/>
                </a:solidFill>
                <a:effectLst/>
                <a:uFillTx/>
                <a:latin typeface="Arial MT"/>
              </a:rPr>
              <a:t>urgence,</a:t>
            </a:r>
            <a:r>
              <a:rPr lang="fr-FR" sz="1400" b="0" u="none" strike="noStrike" spc="4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pièces</a:t>
            </a:r>
            <a:r>
              <a:rPr lang="fr-FR" sz="1400" b="0" u="none" strike="noStrike" spc="-9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4">
                <a:solidFill>
                  <a:srgbClr val="111111"/>
                </a:solidFill>
                <a:effectLst/>
                <a:uFillTx/>
                <a:latin typeface="Arial MT"/>
              </a:rPr>
              <a:t>remplacées</a:t>
            </a:r>
            <a:r>
              <a:rPr lang="fr-FR" sz="1400" b="0" u="none" strike="noStrike" spc="-8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0">
                <a:solidFill>
                  <a:srgbClr val="111111"/>
                </a:solidFill>
                <a:effectLst/>
                <a:uFillTx/>
                <a:latin typeface="Arial MT"/>
              </a:rPr>
              <a:t>avant </a:t>
            </a:r>
            <a:r>
              <a:rPr lang="fr-FR" sz="1400" b="0" u="none" strike="noStrike" spc="-34">
                <a:solidFill>
                  <a:srgbClr val="111111"/>
                </a:solidFill>
                <a:effectLst/>
                <a:uFillTx/>
                <a:latin typeface="Arial MT"/>
              </a:rPr>
              <a:t>d’endommager</a:t>
            </a:r>
            <a:r>
              <a:rPr lang="fr-FR" sz="1400" b="0" u="none" strike="noStrike" spc="-113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le</a:t>
            </a:r>
            <a:r>
              <a:rPr lang="fr-FR" sz="1400" b="0" u="none" strike="noStrike" spc="-6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>
                <a:solidFill>
                  <a:srgbClr val="111111"/>
                </a:solidFill>
                <a:effectLst/>
                <a:uFillTx/>
                <a:latin typeface="Arial MT"/>
              </a:rPr>
              <a:t>reste.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0" algn="l">
              <a:lnSpc>
                <a:spcPct val="111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fr-FR" sz="1400" b="1" u="none" strike="noStrike" spc="-65">
                <a:solidFill>
                  <a:srgbClr val="111111"/>
                </a:solidFill>
                <a:effectLst/>
                <a:uFillTx/>
                <a:latin typeface="Arial"/>
              </a:rPr>
              <a:t>Conformité</a:t>
            </a:r>
            <a:r>
              <a:rPr lang="fr-FR" sz="1400" b="1" u="none" strike="noStrike" spc="-96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0" u="none" strike="noStrike" spc="-119">
                <a:solidFill>
                  <a:srgbClr val="111111"/>
                </a:solidFill>
                <a:effectLst/>
                <a:uFillTx/>
                <a:latin typeface="Arial MT"/>
              </a:rPr>
              <a:t>:</a:t>
            </a:r>
            <a:r>
              <a:rPr lang="fr-FR" sz="1400" b="0" u="none" strike="noStrike" spc="54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journal</a:t>
            </a:r>
            <a:r>
              <a:rPr lang="fr-FR" sz="1400" b="0" u="none" strike="noStrike" spc="1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horodaté</a:t>
            </a:r>
            <a:r>
              <a:rPr lang="fr-FR" sz="1400" b="0" u="none" strike="noStrike" spc="-9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des</a:t>
            </a:r>
            <a:r>
              <a:rPr lang="fr-FR" sz="1400" b="0" u="none" strike="noStrike" spc="-8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alertes</a:t>
            </a:r>
            <a:r>
              <a:rPr lang="fr-FR" sz="1400" b="0" u="none" strike="noStrike" spc="-79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6">
                <a:solidFill>
                  <a:srgbClr val="111111"/>
                </a:solidFill>
                <a:effectLst/>
                <a:uFillTx/>
                <a:latin typeface="Arial MT"/>
              </a:rPr>
              <a:t>et </a:t>
            </a:r>
            <a:r>
              <a:rPr lang="fr-FR" sz="1400" b="0" u="none" strike="noStrike" spc="-31">
                <a:solidFill>
                  <a:srgbClr val="111111"/>
                </a:solidFill>
                <a:effectLst/>
                <a:uFillTx/>
                <a:latin typeface="Arial MT"/>
              </a:rPr>
              <a:t>des</a:t>
            </a:r>
            <a:r>
              <a:rPr lang="fr-FR" sz="1400" b="0" u="none" strike="noStrike" spc="-96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6">
                <a:solidFill>
                  <a:srgbClr val="111111"/>
                </a:solidFill>
                <a:effectLst/>
                <a:uFillTx/>
                <a:latin typeface="Arial MT"/>
              </a:rPr>
              <a:t>acquittements,</a:t>
            </a:r>
            <a:r>
              <a:rPr lang="fr-FR" sz="1400" b="0" u="none" strike="noStrike" spc="4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6">
                <a:solidFill>
                  <a:srgbClr val="111111"/>
                </a:solidFill>
                <a:effectLst/>
                <a:uFillTx/>
                <a:latin typeface="Arial MT"/>
              </a:rPr>
              <a:t>exploitable</a:t>
            </a:r>
            <a:r>
              <a:rPr lang="fr-FR" sz="1400" b="0" u="none" strike="noStrike" spc="-99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45">
                <a:solidFill>
                  <a:srgbClr val="111111"/>
                </a:solidFill>
                <a:effectLst/>
                <a:uFillTx/>
                <a:latin typeface="Arial MT"/>
              </a:rPr>
              <a:t>en</a:t>
            </a:r>
            <a:r>
              <a:rPr lang="fr-FR" sz="1400" b="0" u="none" strike="noStrike" spc="-51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>
                <a:solidFill>
                  <a:srgbClr val="111111"/>
                </a:solidFill>
                <a:effectLst/>
                <a:uFillTx/>
                <a:latin typeface="Arial MT"/>
              </a:rPr>
              <a:t>audit.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fr-F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Ingestion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						     Le sensor-simulator envoie du HTTP POST à load-balancer:8000 avec un header X-API-Key, et nginx transmet à une réplique du backend      </a:t>
            </a:r>
          </a:p>
          <a:p>
            <a:pPr indent="0" algn="l">
              <a:buNone/>
            </a:pP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fr-F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Détection (FastAPI)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Pas d'appel réseau, c'est du calcul en mémoire pendant la même requête, avec les seuils de config.py        </a:t>
            </a:r>
          </a:p>
          <a:p>
            <a:pPr indent="0" algn="l">
              <a:buNone/>
            </a:pP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Séries temporelles            	  Le backend écrit et lit en HTTP sur le port 8086 (requêtes Flux). Seul le backend y accède                          </a:t>
            </a:r>
          </a:p>
          <a:p>
            <a:pPr indent="0" algn="l">
              <a:buNone/>
            </a:pP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fr-F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Alertes (PostgreSQL) 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	  Le backend s'y connecte par le protocole Postgres (5432) via un pool de connexions. « Partagé » veut dire que toutes les répliques du  </a:t>
            </a:r>
          </a:p>
          <a:p>
            <a:pPr indent="0" algn="l">
              <a:buNone/>
            </a:pP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fr-F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Temps réel (WebSocket)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Chaîne en 3 étapes, détaillée plus bas                                                                                                   │</a:t>
            </a:r>
          </a:p>
          <a:p>
            <a:pPr indent="0" algn="l">
              <a:buNone/>
            </a:pP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fr-F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Visualisation (Node)  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	 Le navigateur ne parle qu'au serveur Node, qui relaie les appels au backend (/api/machines → GET /machines, etc.) </a:t>
            </a:r>
          </a:p>
          <a:p>
            <a:pPr indent="0" algn="l">
              <a:buNone/>
            </a:pP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fr-F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Répartition (nginx)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			Deux ports : 3000 vers les frontend, 8000 vers les backend. Le DNS Docker (resolver 127.0.0.11) lui fait découvrir automatiquement les   	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609480" y="1390680"/>
            <a:ext cx="10972080" cy="37440"/>
          </a:xfrm>
          <a:custGeom>
            <a:avLst/>
            <a:gdLst>
              <a:gd name="textAreaLeft" fmla="*/ 0 w 10972080"/>
              <a:gd name="textAreaRight" fmla="*/ 10972800 w 109720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14400" y="2126160"/>
            <a:ext cx="10362600" cy="47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fr-FR" sz="34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4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596880" y="6363720"/>
            <a:ext cx="734040" cy="13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r>
              <a: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rPr>
              <a:t>&lt;pied de page&gt;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11307600" y="6363720"/>
            <a:ext cx="288720" cy="13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6336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6336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fld id="{75C7805A-9E62-4783-8B30-9EE67E5B0507}" type="slidenum"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‹N°›</a:t>
            </a:fld>
            <a:r>
              <a:rPr lang="fr-FR" sz="950" b="0" u="none" strike="noStrike" spc="-71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/</a:t>
            </a:r>
            <a:r>
              <a:rPr lang="fr-FR" sz="950" b="0" u="none" strike="noStrike" spc="-85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51">
                <a:solidFill>
                  <a:srgbClr val="6A6A6A"/>
                </a:solidFill>
                <a:effectLst/>
                <a:uFillTx/>
                <a:latin typeface="Arial MT"/>
              </a:rPr>
              <a:t>4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 object 16"/>
          <p:cNvSpPr/>
          <p:nvPr/>
        </p:nvSpPr>
        <p:spPr>
          <a:xfrm>
            <a:off x="609480" y="1390680"/>
            <a:ext cx="10972080" cy="37440"/>
          </a:xfrm>
          <a:custGeom>
            <a:avLst/>
            <a:gdLst>
              <a:gd name="textAreaLeft" fmla="*/ 0 w 10972080"/>
              <a:gd name="textAreaRight" fmla="*/ 10972800 w 109720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96880" y="208080"/>
            <a:ext cx="640692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fr-FR" sz="34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4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71320" y="1715040"/>
            <a:ext cx="11048400" cy="31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2286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ftr" idx="4"/>
          </p:nvPr>
        </p:nvSpPr>
        <p:spPr>
          <a:xfrm>
            <a:off x="596880" y="6363720"/>
            <a:ext cx="734040" cy="13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r>
              <a: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rPr>
              <a:t>&lt;pied de page&gt;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11307600" y="6363720"/>
            <a:ext cx="288720" cy="13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6336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6336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fld id="{52B33134-B296-40CF-8040-5DCA2CF45F9D}" type="slidenum"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‹N°›</a:t>
            </a:fld>
            <a:r>
              <a:rPr lang="fr-FR" sz="950" b="0" u="none" strike="noStrike" spc="-71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/</a:t>
            </a:r>
            <a:r>
              <a:rPr lang="fr-FR" sz="950" b="0" u="none" strike="noStrike" spc="-85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51">
                <a:solidFill>
                  <a:srgbClr val="6A6A6A"/>
                </a:solidFill>
                <a:effectLst/>
                <a:uFillTx/>
                <a:latin typeface="Arial MT"/>
              </a:rPr>
              <a:t>4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 object 16"/>
          <p:cNvSpPr/>
          <p:nvPr/>
        </p:nvSpPr>
        <p:spPr>
          <a:xfrm>
            <a:off x="609480" y="1390680"/>
            <a:ext cx="10972080" cy="37440"/>
          </a:xfrm>
          <a:custGeom>
            <a:avLst/>
            <a:gdLst>
              <a:gd name="textAreaLeft" fmla="*/ 0 w 10972080"/>
              <a:gd name="textAreaRight" fmla="*/ 10972800 w 109720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96880" y="208080"/>
            <a:ext cx="640692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fr-FR" sz="34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4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2800" cy="240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2286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2800" cy="240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2286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ftr" idx="7"/>
          </p:nvPr>
        </p:nvSpPr>
        <p:spPr>
          <a:xfrm>
            <a:off x="596880" y="6363720"/>
            <a:ext cx="734040" cy="13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r>
              <a: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rPr>
              <a:t>&lt;pied de page&gt;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9"/>
          </p:nvPr>
        </p:nvSpPr>
        <p:spPr>
          <a:xfrm>
            <a:off x="11307600" y="6363720"/>
            <a:ext cx="288720" cy="13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6336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6336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fld id="{3AC0E704-23C8-4D6E-8EE8-2E902B238B97}" type="slidenum"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‹N°›</a:t>
            </a:fld>
            <a:r>
              <a:rPr lang="fr-FR" sz="950" b="0" u="none" strike="noStrike" spc="-71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/</a:t>
            </a:r>
            <a:r>
              <a:rPr lang="fr-FR" sz="950" b="0" u="none" strike="noStrike" spc="-85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51">
                <a:solidFill>
                  <a:srgbClr val="6A6A6A"/>
                </a:solidFill>
                <a:effectLst/>
                <a:uFillTx/>
                <a:latin typeface="Arial MT"/>
              </a:rPr>
              <a:t>4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g object 16"/>
          <p:cNvSpPr/>
          <p:nvPr/>
        </p:nvSpPr>
        <p:spPr>
          <a:xfrm>
            <a:off x="609480" y="1390680"/>
            <a:ext cx="10972080" cy="37440"/>
          </a:xfrm>
          <a:custGeom>
            <a:avLst/>
            <a:gdLst>
              <a:gd name="textAreaLeft" fmla="*/ 0 w 10972080"/>
              <a:gd name="textAreaRight" fmla="*/ 10972800 w 109720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96880" y="208080"/>
            <a:ext cx="640692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fr-FR" sz="34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4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ftr" idx="10"/>
          </p:nvPr>
        </p:nvSpPr>
        <p:spPr>
          <a:xfrm>
            <a:off x="596880" y="6363720"/>
            <a:ext cx="734040" cy="13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r>
              <a: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rPr>
              <a:t>&lt;pied de page&gt;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1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11307600" y="6363720"/>
            <a:ext cx="288720" cy="13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6336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6336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fld id="{C52C2E23-AF05-4515-850B-34132228C824}" type="slidenum"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‹N°›</a:t>
            </a:fld>
            <a:r>
              <a:rPr lang="fr-FR" sz="950" b="0" u="none" strike="noStrike" spc="-71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/</a:t>
            </a:r>
            <a:r>
              <a:rPr lang="fr-FR" sz="950" b="0" u="none" strike="noStrike" spc="-85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51">
                <a:solidFill>
                  <a:srgbClr val="6A6A6A"/>
                </a:solidFill>
                <a:effectLst/>
                <a:uFillTx/>
                <a:latin typeface="Arial MT"/>
              </a:rPr>
              <a:t>4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g object 16"/>
          <p:cNvSpPr/>
          <p:nvPr/>
        </p:nvSpPr>
        <p:spPr>
          <a:xfrm>
            <a:off x="609480" y="1390680"/>
            <a:ext cx="10972080" cy="37440"/>
          </a:xfrm>
          <a:custGeom>
            <a:avLst/>
            <a:gdLst>
              <a:gd name="textAreaLeft" fmla="*/ 0 w 10972080"/>
              <a:gd name="textAreaRight" fmla="*/ 10972800 w 109720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ftr" idx="13"/>
          </p:nvPr>
        </p:nvSpPr>
        <p:spPr>
          <a:xfrm>
            <a:off x="596880" y="6363720"/>
            <a:ext cx="734040" cy="13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r>
              <a: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rPr>
              <a:t>&lt;pied de page&gt;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dt" idx="14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5"/>
          </p:nvPr>
        </p:nvSpPr>
        <p:spPr>
          <a:xfrm>
            <a:off x="11307600" y="6363720"/>
            <a:ext cx="288720" cy="13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6336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6336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fld id="{B420B8D2-A83C-4DDE-A9C8-22D76D6D7D85}" type="slidenum"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‹N°›</a:t>
            </a:fld>
            <a:r>
              <a:rPr lang="fr-FR" sz="950" b="0" u="none" strike="noStrike" spc="-71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/</a:t>
            </a:r>
            <a:r>
              <a:rPr lang="fr-FR" sz="950" b="0" u="none" strike="noStrike" spc="-85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51">
                <a:solidFill>
                  <a:srgbClr val="6A6A6A"/>
                </a:solidFill>
                <a:effectLst/>
                <a:uFillTx/>
                <a:latin typeface="Arial MT"/>
              </a:rPr>
              <a:t>4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Velard/FactorySens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/>
          <p:cNvSpPr/>
          <p:nvPr/>
        </p:nvSpPr>
        <p:spPr>
          <a:xfrm>
            <a:off x="596880" y="2894400"/>
            <a:ext cx="6899760" cy="222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4092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2684"/>
              </a:spcBef>
            </a:pPr>
            <a:r>
              <a:rPr lang="fr-FR" sz="7300" b="1" u="none" strike="noStrike" spc="-235">
                <a:solidFill>
                  <a:srgbClr val="111111"/>
                </a:solidFill>
                <a:effectLst/>
                <a:uFillTx/>
                <a:latin typeface="Arial"/>
              </a:rPr>
              <a:t>F</a:t>
            </a:r>
            <a:r>
              <a:rPr lang="fr-FR" sz="7300" b="1" u="none" strike="noStrike" spc="-196">
                <a:solidFill>
                  <a:srgbClr val="111111"/>
                </a:solidFill>
                <a:effectLst/>
                <a:uFillTx/>
                <a:latin typeface="Arial"/>
              </a:rPr>
              <a:t>a</a:t>
            </a:r>
            <a:r>
              <a:rPr lang="fr-FR" sz="7300" b="1" u="none" strike="noStrike" spc="31">
                <a:solidFill>
                  <a:srgbClr val="111111"/>
                </a:solidFill>
                <a:effectLst/>
                <a:uFillTx/>
                <a:latin typeface="Arial"/>
              </a:rPr>
              <a:t>c</a:t>
            </a:r>
            <a:r>
              <a:rPr lang="fr-FR" sz="7300" b="1" u="none" strike="noStrike" spc="99">
                <a:solidFill>
                  <a:srgbClr val="111111"/>
                </a:solidFill>
                <a:effectLst/>
                <a:uFillTx/>
                <a:latin typeface="Arial"/>
              </a:rPr>
              <a:t>t</a:t>
            </a:r>
            <a:r>
              <a:rPr lang="fr-FR" sz="7300" b="1" u="none" strike="noStrike" spc="-31">
                <a:solidFill>
                  <a:srgbClr val="111111"/>
                </a:solidFill>
                <a:effectLst/>
                <a:uFillTx/>
                <a:latin typeface="Arial"/>
              </a:rPr>
              <a:t>o</a:t>
            </a:r>
            <a:r>
              <a:rPr lang="fr-FR" sz="7300" b="1" u="none" strike="noStrike" spc="-65">
                <a:solidFill>
                  <a:srgbClr val="111111"/>
                </a:solidFill>
                <a:effectLst/>
                <a:uFillTx/>
                <a:latin typeface="Arial"/>
              </a:rPr>
              <a:t>r</a:t>
            </a:r>
            <a:r>
              <a:rPr lang="fr-FR" sz="7300" b="1" u="none" strike="noStrike" spc="-235">
                <a:solidFill>
                  <a:srgbClr val="111111"/>
                </a:solidFill>
                <a:effectLst/>
                <a:uFillTx/>
                <a:latin typeface="Arial"/>
              </a:rPr>
              <a:t>y</a:t>
            </a:r>
            <a:r>
              <a:rPr lang="fr-FR" sz="7300" b="1" u="none" strike="noStrike" spc="-40">
                <a:solidFill>
                  <a:srgbClr val="111111"/>
                </a:solidFill>
                <a:effectLst/>
                <a:uFillTx/>
                <a:latin typeface="Arial"/>
              </a:rPr>
              <a:t>S</a:t>
            </a:r>
            <a:r>
              <a:rPr lang="fr-FR" sz="7300" b="1" u="none" strike="noStrike" spc="11">
                <a:solidFill>
                  <a:srgbClr val="111111"/>
                </a:solidFill>
                <a:effectLst/>
                <a:uFillTx/>
                <a:latin typeface="Arial"/>
              </a:rPr>
              <a:t>e</a:t>
            </a:r>
            <a:r>
              <a:rPr lang="fr-FR" sz="7300" b="1" u="none" strike="noStrike" spc="156">
                <a:solidFill>
                  <a:srgbClr val="111111"/>
                </a:solidFill>
                <a:effectLst/>
                <a:uFillTx/>
                <a:latin typeface="Arial"/>
              </a:rPr>
              <a:t>n</a:t>
            </a:r>
            <a:r>
              <a:rPr lang="fr-FR" sz="73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s</a:t>
            </a:r>
            <a:r>
              <a:rPr lang="fr-FR" sz="7300" b="1" u="none" strike="noStrike" spc="380">
                <a:solidFill>
                  <a:srgbClr val="111111"/>
                </a:solidFill>
                <a:effectLst/>
                <a:uFillTx/>
                <a:latin typeface="Arial"/>
              </a:rPr>
              <a:t>e</a:t>
            </a:r>
            <a:endParaRPr lang="fr-FR" sz="7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ts val="2551"/>
              </a:lnSpc>
              <a:spcBef>
                <a:spcPts val="924"/>
              </a:spcBef>
            </a:pPr>
            <a:r>
              <a:rPr lang="fr-FR" sz="2200" b="0" u="none" strike="noStrike" spc="-71">
                <a:solidFill>
                  <a:srgbClr val="4A4A4A"/>
                </a:solidFill>
                <a:effectLst/>
                <a:uFillTx/>
                <a:latin typeface="Arial MT"/>
              </a:rPr>
              <a:t>Surveiller</a:t>
            </a:r>
            <a:r>
              <a:rPr lang="fr-FR" sz="2200" b="0" u="none" strike="noStrike" spc="-255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2200" b="0" u="none" strike="noStrike" spc="-60">
                <a:solidFill>
                  <a:srgbClr val="4A4A4A"/>
                </a:solidFill>
                <a:effectLst/>
                <a:uFillTx/>
                <a:latin typeface="Arial MT"/>
              </a:rPr>
              <a:t>les</a:t>
            </a:r>
            <a:r>
              <a:rPr lang="fr-FR" sz="2200" b="0" u="none" strike="noStrike" spc="-184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2200" b="0" u="none" strike="noStrike" spc="-71">
                <a:solidFill>
                  <a:srgbClr val="4A4A4A"/>
                </a:solidFill>
                <a:effectLst/>
                <a:uFillTx/>
                <a:latin typeface="Arial MT"/>
              </a:rPr>
              <a:t>équipements</a:t>
            </a:r>
            <a:r>
              <a:rPr lang="fr-FR" sz="2200" b="0" u="none" strike="noStrike" spc="-19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2200" b="0" u="none" strike="noStrike" spc="-71">
                <a:solidFill>
                  <a:srgbClr val="4A4A4A"/>
                </a:solidFill>
                <a:effectLst/>
                <a:uFillTx/>
                <a:latin typeface="Arial MT"/>
              </a:rPr>
              <a:t>de</a:t>
            </a:r>
            <a:r>
              <a:rPr lang="fr-FR" sz="2200" b="0" u="none" strike="noStrike" spc="-19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2200" b="0" u="none" strike="noStrike" spc="-65">
                <a:solidFill>
                  <a:srgbClr val="4A4A4A"/>
                </a:solidFill>
                <a:effectLst/>
                <a:uFillTx/>
                <a:latin typeface="Arial MT"/>
              </a:rPr>
              <a:t>production</a:t>
            </a:r>
            <a:r>
              <a:rPr lang="fr-FR" sz="2200" b="0" u="none" strike="noStrike" spc="-136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2200" b="0" u="none" strike="noStrike" spc="-99">
                <a:solidFill>
                  <a:srgbClr val="4A4A4A"/>
                </a:solidFill>
                <a:effectLst/>
                <a:uFillTx/>
                <a:latin typeface="Arial MT"/>
              </a:rPr>
              <a:t>en</a:t>
            </a:r>
            <a:r>
              <a:rPr lang="fr-FR" sz="2200" b="0" u="none" strike="noStrike" spc="-13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2200" b="0" u="none" strike="noStrike" spc="-60">
                <a:solidFill>
                  <a:srgbClr val="4A4A4A"/>
                </a:solidFill>
                <a:effectLst/>
                <a:uFillTx/>
                <a:latin typeface="Arial MT"/>
              </a:rPr>
              <a:t>temps</a:t>
            </a:r>
            <a:r>
              <a:rPr lang="fr-FR" sz="2200" b="0" u="none" strike="noStrike" spc="-19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2200" b="0" u="none" strike="noStrike" spc="-113">
                <a:solidFill>
                  <a:srgbClr val="4A4A4A"/>
                </a:solidFill>
                <a:effectLst/>
                <a:uFillTx/>
                <a:latin typeface="Arial MT"/>
              </a:rPr>
              <a:t>réel</a:t>
            </a:r>
            <a:r>
              <a:rPr lang="fr-FR" sz="2200" b="0" u="none" strike="noStrike" spc="-34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2200" b="0" u="none" strike="noStrike" spc="-20">
                <a:solidFill>
                  <a:srgbClr val="4A4A4A"/>
                </a:solidFill>
                <a:effectLst/>
                <a:uFillTx/>
                <a:latin typeface="Arial MT"/>
              </a:rPr>
              <a:t>pour </a:t>
            </a:r>
            <a:r>
              <a:rPr lang="fr-FR" sz="2200" b="0" u="none" strike="noStrike" spc="-65">
                <a:solidFill>
                  <a:srgbClr val="4A4A4A"/>
                </a:solidFill>
                <a:effectLst/>
                <a:uFillTx/>
                <a:latin typeface="Arial MT"/>
              </a:rPr>
              <a:t>éviter</a:t>
            </a:r>
            <a:r>
              <a:rPr lang="fr-FR" sz="2200" b="0" u="none" strike="noStrike" spc="-255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2200" b="0" u="none" strike="noStrike" spc="-60">
                <a:solidFill>
                  <a:srgbClr val="4A4A4A"/>
                </a:solidFill>
                <a:effectLst/>
                <a:uFillTx/>
                <a:latin typeface="Arial MT"/>
              </a:rPr>
              <a:t>les</a:t>
            </a:r>
            <a:r>
              <a:rPr lang="fr-FR" sz="2200" b="0" u="none" strike="noStrike" spc="-19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2200" b="0" u="none" strike="noStrike" spc="-74">
                <a:solidFill>
                  <a:srgbClr val="4A4A4A"/>
                </a:solidFill>
                <a:effectLst/>
                <a:uFillTx/>
                <a:latin typeface="Arial MT"/>
              </a:rPr>
              <a:t>arrêts</a:t>
            </a:r>
            <a:r>
              <a:rPr lang="fr-FR" sz="2200" b="0" u="none" strike="noStrike" spc="-184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2200" b="0" u="none" strike="noStrike" spc="-11">
                <a:solidFill>
                  <a:srgbClr val="4A4A4A"/>
                </a:solidFill>
                <a:effectLst/>
                <a:uFillTx/>
                <a:latin typeface="Arial MT"/>
              </a:rPr>
              <a:t>coûteux.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object 4"/>
          <p:cNvSpPr/>
          <p:nvPr/>
        </p:nvSpPr>
        <p:spPr>
          <a:xfrm>
            <a:off x="609480" y="5495760"/>
            <a:ext cx="10972080" cy="37440"/>
          </a:xfrm>
          <a:custGeom>
            <a:avLst/>
            <a:gdLst>
              <a:gd name="textAreaLeft" fmla="*/ 0 w 10972080"/>
              <a:gd name="textAreaRight" fmla="*/ 10972800 w 109720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object 5"/>
          <p:cNvSpPr/>
          <p:nvPr/>
        </p:nvSpPr>
        <p:spPr>
          <a:xfrm>
            <a:off x="596880" y="5674680"/>
            <a:ext cx="1383480" cy="25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76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113"/>
              </a:spcBef>
            </a:pPr>
            <a:r>
              <a:rPr lang="fr-FR" sz="15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Amine SLAOUI</a:t>
            </a:r>
          </a:p>
        </p:txBody>
      </p:sp>
      <p:sp>
        <p:nvSpPr>
          <p:cNvPr id="38" name="object 6"/>
          <p:cNvSpPr/>
          <p:nvPr/>
        </p:nvSpPr>
        <p:spPr>
          <a:xfrm>
            <a:off x="2463840" y="5674680"/>
            <a:ext cx="1573920" cy="25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76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113"/>
              </a:spcBef>
            </a:pPr>
            <a:r>
              <a:rPr lang="fr-FR" sz="15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Thomas VELARD</a:t>
            </a:r>
          </a:p>
        </p:txBody>
      </p:sp>
      <p:sp>
        <p:nvSpPr>
          <p:cNvPr id="39" name="object 9"/>
          <p:cNvSpPr/>
          <p:nvPr/>
        </p:nvSpPr>
        <p:spPr>
          <a:xfrm>
            <a:off x="10510920" y="5646600"/>
            <a:ext cx="10850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720" rIns="0" bIns="0" anchor="t">
            <a:spAutoFit/>
          </a:bodyPr>
          <a:lstStyle/>
          <a:p>
            <a:pPr algn="r" defTabSz="914400">
              <a:lnSpc>
                <a:spcPct val="100000"/>
              </a:lnSpc>
              <a:spcBef>
                <a:spcPts val="289"/>
              </a:spcBef>
            </a:pPr>
            <a:r>
              <a:rPr lang="fr-FR" sz="1150" b="0" u="none" strike="noStrike" spc="-31">
                <a:solidFill>
                  <a:srgbClr val="4A4A4A"/>
                </a:solidFill>
                <a:effectLst/>
                <a:uFillTx/>
                <a:latin typeface="Arial MT"/>
              </a:rPr>
              <a:t>Télécom</a:t>
            </a:r>
            <a:r>
              <a:rPr lang="fr-FR" sz="1150" b="0" u="none" strike="noStrike" spc="-6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50" b="0" u="none" strike="noStrike" spc="-20">
                <a:solidFill>
                  <a:srgbClr val="4A4A4A"/>
                </a:solidFill>
                <a:effectLst/>
                <a:uFillTx/>
                <a:latin typeface="Arial MT"/>
              </a:rPr>
              <a:t>Paris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spcBef>
                <a:spcPts val="196"/>
              </a:spcBef>
            </a:pPr>
            <a:r>
              <a:rPr lang="fr-FR" sz="1150" b="0" u="none" strike="noStrike" spc="-20">
                <a:solidFill>
                  <a:srgbClr val="4A4A4A"/>
                </a:solidFill>
                <a:effectLst/>
                <a:uFillTx/>
                <a:latin typeface="Arial MT"/>
              </a:rPr>
              <a:t>Septembre</a:t>
            </a:r>
            <a:r>
              <a:rPr lang="fr-FR" sz="1150" b="0" u="none" strike="noStrike" spc="-31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50" b="0" u="none" strike="noStrike" spc="-20">
                <a:solidFill>
                  <a:srgbClr val="4A4A4A"/>
                </a:solidFill>
                <a:effectLst/>
                <a:uFillTx/>
                <a:latin typeface="Arial MT"/>
              </a:rPr>
              <a:t>2026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10"/>
          <p:cNvPicPr/>
          <p:nvPr/>
        </p:nvPicPr>
        <p:blipFill>
          <a:blip r:embed="rId2"/>
          <a:stretch/>
        </p:blipFill>
        <p:spPr>
          <a:xfrm>
            <a:off x="10591920" y="343080"/>
            <a:ext cx="1271160" cy="1789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619200"/>
            <a:ext cx="4917240" cy="1069200"/>
          </a:xfrm>
          <a:prstGeom prst="rect">
            <a:avLst/>
          </a:prstGeom>
          <a:noFill/>
          <a:ln w="0">
            <a:noFill/>
          </a:ln>
        </p:spPr>
        <p:txBody>
          <a:bodyPr lIns="0" tIns="17280" rIns="0" bIns="0" anchor="t">
            <a:spAutoFit/>
          </a:bodyPr>
          <a:lstStyle/>
          <a:p>
            <a:pPr marL="12600" indent="0" algn="l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lang="fr-FR" sz="3450" b="1" u="none" strike="noStrike" spc="-74">
                <a:solidFill>
                  <a:srgbClr val="111111"/>
                </a:solidFill>
                <a:effectLst/>
                <a:uFillTx/>
                <a:latin typeface="Arial"/>
              </a:rPr>
              <a:t>Besoins</a:t>
            </a:r>
            <a:r>
              <a:rPr lang="fr-FR" sz="3450" b="1" u="none" strike="noStrike" spc="-510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3450" b="1" u="none" strike="noStrike" spc="-11">
                <a:solidFill>
                  <a:srgbClr val="111111"/>
                </a:solidFill>
                <a:effectLst/>
                <a:uFillTx/>
                <a:latin typeface="Arial"/>
              </a:rPr>
              <a:t>métier</a:t>
            </a:r>
            <a:endParaRPr lang="fr-FR" sz="34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object 3"/>
          <p:cNvSpPr/>
          <p:nvPr/>
        </p:nvSpPr>
        <p:spPr>
          <a:xfrm>
            <a:off x="596880" y="1641240"/>
            <a:ext cx="10999440" cy="71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3920" rIns="0" bIns="0" anchor="t">
            <a:spAutoFit/>
          </a:bodyPr>
          <a:lstStyle/>
          <a:p>
            <a:pPr marL="12600" defTabSz="914400">
              <a:lnSpc>
                <a:spcPts val="2631"/>
              </a:lnSpc>
              <a:spcBef>
                <a:spcPts val="346"/>
              </a:spcBef>
            </a:pPr>
            <a:r>
              <a:rPr lang="fr-FR" sz="2400" b="1" u="none" strike="noStrike" spc="-139">
                <a:solidFill>
                  <a:srgbClr val="111111"/>
                </a:solidFill>
                <a:effectLst/>
                <a:uFillTx/>
                <a:latin typeface="Arial"/>
              </a:rPr>
              <a:t>Voir</a:t>
            </a:r>
            <a:r>
              <a:rPr lang="fr-FR" sz="2400" b="1" u="none" strike="noStrike" spc="-32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125">
                <a:solidFill>
                  <a:srgbClr val="111111"/>
                </a:solidFill>
                <a:effectLst/>
                <a:uFillTx/>
                <a:latin typeface="Arial"/>
              </a:rPr>
              <a:t>une</a:t>
            </a:r>
            <a:r>
              <a:rPr lang="fr-FR" sz="2400" b="1" u="none" strike="noStrike" spc="-26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136">
                <a:solidFill>
                  <a:srgbClr val="111111"/>
                </a:solidFill>
                <a:effectLst/>
                <a:uFillTx/>
                <a:latin typeface="Arial"/>
              </a:rPr>
              <a:t>machine</a:t>
            </a:r>
            <a:r>
              <a:rPr lang="fr-FR" sz="2400" b="1" u="none" strike="noStrike" spc="-25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119">
                <a:solidFill>
                  <a:srgbClr val="111111"/>
                </a:solidFill>
                <a:effectLst/>
                <a:uFillTx/>
                <a:latin typeface="Arial"/>
              </a:rPr>
              <a:t>dériver</a:t>
            </a:r>
            <a:r>
              <a:rPr lang="fr-FR" sz="2400" b="1" u="none" strike="noStrike" spc="-32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130">
                <a:solidFill>
                  <a:srgbClr val="111111"/>
                </a:solidFill>
                <a:effectLst/>
                <a:uFillTx/>
                <a:latin typeface="Arial"/>
              </a:rPr>
              <a:t>avant</a:t>
            </a:r>
            <a:r>
              <a:rPr lang="fr-FR" sz="2400" b="1" u="none" strike="noStrike" spc="-24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130">
                <a:solidFill>
                  <a:srgbClr val="111111"/>
                </a:solidFill>
                <a:effectLst/>
                <a:uFillTx/>
                <a:latin typeface="Arial"/>
              </a:rPr>
              <a:t>qu’elle</a:t>
            </a:r>
            <a:r>
              <a:rPr lang="fr-FR" sz="2400" b="1" u="none" strike="noStrike" spc="-25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130">
                <a:solidFill>
                  <a:srgbClr val="111111"/>
                </a:solidFill>
                <a:effectLst/>
                <a:uFillTx/>
                <a:latin typeface="Arial"/>
              </a:rPr>
              <a:t>tombe</a:t>
            </a:r>
            <a:r>
              <a:rPr lang="fr-FR" sz="2400" b="1" u="none" strike="noStrike" spc="-26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125">
                <a:solidFill>
                  <a:srgbClr val="111111"/>
                </a:solidFill>
                <a:effectLst/>
                <a:uFillTx/>
                <a:latin typeface="Arial"/>
              </a:rPr>
              <a:t>en</a:t>
            </a:r>
            <a:r>
              <a:rPr lang="fr-FR" sz="2400" b="1" u="none" strike="noStrike" spc="-196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111">
                <a:solidFill>
                  <a:srgbClr val="111111"/>
                </a:solidFill>
                <a:effectLst/>
                <a:uFillTx/>
                <a:latin typeface="Arial"/>
              </a:rPr>
              <a:t>panne, </a:t>
            </a:r>
            <a:r>
              <a:rPr lang="fr-FR" sz="2400" b="1" u="none" strike="noStrike" spc="-79">
                <a:solidFill>
                  <a:srgbClr val="111111"/>
                </a:solidFill>
                <a:effectLst/>
                <a:uFillTx/>
                <a:latin typeface="Arial"/>
              </a:rPr>
              <a:t>et</a:t>
            </a:r>
            <a:r>
              <a:rPr lang="fr-FR" sz="2400" b="1" u="none" strike="noStrike" spc="-24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139">
                <a:solidFill>
                  <a:srgbClr val="111111"/>
                </a:solidFill>
                <a:effectLst/>
                <a:uFillTx/>
                <a:latin typeface="Arial"/>
              </a:rPr>
              <a:t>prouver</a:t>
            </a:r>
            <a:r>
              <a:rPr lang="fr-FR" sz="2400" b="1" u="none" strike="noStrike" spc="-334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119">
                <a:solidFill>
                  <a:srgbClr val="111111"/>
                </a:solidFill>
                <a:effectLst/>
                <a:uFillTx/>
                <a:latin typeface="Arial"/>
              </a:rPr>
              <a:t>que</a:t>
            </a:r>
            <a:r>
              <a:rPr lang="fr-FR" sz="2400" b="1" u="none" strike="noStrike" spc="-264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125">
                <a:solidFill>
                  <a:srgbClr val="111111"/>
                </a:solidFill>
                <a:effectLst/>
                <a:uFillTx/>
                <a:latin typeface="Arial"/>
              </a:rPr>
              <a:t>chaque</a:t>
            </a:r>
            <a:r>
              <a:rPr lang="fr-FR" sz="2400" b="1" u="none" strike="noStrike" spc="-264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105">
                <a:solidFill>
                  <a:srgbClr val="111111"/>
                </a:solidFill>
                <a:effectLst/>
                <a:uFillTx/>
                <a:latin typeface="Arial"/>
              </a:rPr>
              <a:t>alerte</a:t>
            </a:r>
            <a:r>
              <a:rPr lang="fr-FR" sz="2400" b="1" u="none" strike="noStrike" spc="-264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a</a:t>
            </a:r>
            <a:r>
              <a:rPr lang="fr-FR" sz="2400" b="1" u="none" strike="noStrike" spc="-360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85">
                <a:solidFill>
                  <a:srgbClr val="111111"/>
                </a:solidFill>
                <a:effectLst/>
                <a:uFillTx/>
                <a:latin typeface="Arial"/>
              </a:rPr>
              <a:t>été</a:t>
            </a:r>
            <a:r>
              <a:rPr lang="fr-FR" sz="2400" b="1" u="none" strike="noStrike" spc="-264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119">
                <a:solidFill>
                  <a:srgbClr val="111111"/>
                </a:solidFill>
                <a:effectLst/>
                <a:uFillTx/>
                <a:latin typeface="Arial"/>
              </a:rPr>
              <a:t>prise</a:t>
            </a:r>
            <a:r>
              <a:rPr lang="fr-FR" sz="2400" b="1" u="none" strike="noStrike" spc="-264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125">
                <a:solidFill>
                  <a:srgbClr val="111111"/>
                </a:solidFill>
                <a:effectLst/>
                <a:uFillTx/>
                <a:latin typeface="Arial"/>
              </a:rPr>
              <a:t>en</a:t>
            </a:r>
            <a:r>
              <a:rPr lang="fr-FR" sz="2400" b="1" u="none" strike="noStrike" spc="-204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 spc="-11">
                <a:solidFill>
                  <a:srgbClr val="111111"/>
                </a:solidFill>
                <a:effectLst/>
                <a:uFillTx/>
                <a:latin typeface="Arial"/>
              </a:rPr>
              <a:t>charge.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object 17"/>
          <p:cNvSpPr/>
          <p:nvPr/>
        </p:nvSpPr>
        <p:spPr>
          <a:xfrm>
            <a:off x="8064360" y="2674440"/>
            <a:ext cx="2069280" cy="2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52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91"/>
              </a:spcBef>
            </a:pPr>
            <a:r>
              <a:rPr lang="fr-FR" sz="16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Bénéfices</a:t>
            </a:r>
            <a:r>
              <a:rPr lang="fr-FR" sz="1600" b="1" u="none" strike="noStrike" spc="-34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r>
              <a:rPr lang="fr-FR" sz="1600" b="1" u="none" strike="noStrike" spc="-11">
                <a:solidFill>
                  <a:srgbClr val="C00000"/>
                </a:solidFill>
                <a:effectLst/>
                <a:uFillTx/>
                <a:latin typeface="Arial"/>
              </a:rPr>
              <a:t>attendus :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object 6"/>
          <p:cNvSpPr/>
          <p:nvPr/>
        </p:nvSpPr>
        <p:spPr>
          <a:xfrm>
            <a:off x="596880" y="3195000"/>
            <a:ext cx="3449880" cy="24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 defTabSz="914400">
              <a:lnSpc>
                <a:spcPct val="111000"/>
              </a:lnSpc>
              <a:spcBef>
                <a:spcPts val="96"/>
              </a:spcBef>
            </a:pPr>
            <a:r>
              <a:rPr lang="fr-FR" sz="1400" b="1" u="none" strike="noStrike" spc="-85">
                <a:solidFill>
                  <a:srgbClr val="111111"/>
                </a:solidFill>
                <a:effectLst/>
                <a:uFillTx/>
                <a:latin typeface="Arial"/>
              </a:rPr>
              <a:t>L’état</a:t>
            </a:r>
            <a:r>
              <a:rPr lang="fr-FR" sz="1400" b="1" u="none" strike="noStrike" spc="-11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91">
                <a:solidFill>
                  <a:srgbClr val="111111"/>
                </a:solidFill>
                <a:effectLst/>
                <a:uFillTx/>
                <a:latin typeface="Arial"/>
              </a:rPr>
              <a:t>du</a:t>
            </a:r>
            <a:r>
              <a:rPr lang="fr-FR" sz="1400" b="1" u="none" strike="noStrike" spc="-7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parc</a:t>
            </a:r>
            <a:r>
              <a:rPr lang="fr-FR" sz="1400" b="1" u="none" strike="noStrike" spc="-113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71">
                <a:solidFill>
                  <a:srgbClr val="111111"/>
                </a:solidFill>
                <a:effectLst/>
                <a:uFillTx/>
                <a:latin typeface="Arial"/>
              </a:rPr>
              <a:t>en</a:t>
            </a:r>
            <a:r>
              <a:rPr lang="fr-FR" sz="1400" b="1" u="none" strike="noStrike" spc="-7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96">
                <a:solidFill>
                  <a:srgbClr val="111111"/>
                </a:solidFill>
                <a:effectLst/>
                <a:uFillTx/>
                <a:latin typeface="Arial"/>
              </a:rPr>
              <a:t>un</a:t>
            </a:r>
            <a:r>
              <a:rPr lang="fr-FR" sz="1400" b="1" u="none" strike="noStrike" spc="-74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65">
                <a:solidFill>
                  <a:srgbClr val="111111"/>
                </a:solidFill>
                <a:effectLst/>
                <a:uFillTx/>
                <a:latin typeface="Arial"/>
              </a:rPr>
              <a:t>instant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object 11"/>
          <p:cNvSpPr/>
          <p:nvPr/>
        </p:nvSpPr>
        <p:spPr>
          <a:xfrm>
            <a:off x="4407120" y="3185640"/>
            <a:ext cx="3350160" cy="24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 defTabSz="914400">
              <a:lnSpc>
                <a:spcPct val="111000"/>
              </a:lnSpc>
              <a:spcBef>
                <a:spcPts val="96"/>
              </a:spcBef>
            </a:pPr>
            <a:r>
              <a:rPr lang="fr-FR" sz="1400" b="1" u="none" strike="noStrike" spc="-51">
                <a:solidFill>
                  <a:srgbClr val="111111"/>
                </a:solidFill>
                <a:effectLst/>
                <a:uFillTx/>
                <a:latin typeface="Arial"/>
              </a:rPr>
              <a:t>Une</a:t>
            </a:r>
            <a:r>
              <a:rPr lang="fr-FR" sz="1400" b="1" u="none" strike="noStrike" spc="-12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40">
                <a:solidFill>
                  <a:srgbClr val="111111"/>
                </a:solidFill>
                <a:effectLst/>
                <a:uFillTx/>
                <a:latin typeface="Arial"/>
              </a:rPr>
              <a:t>alerte</a:t>
            </a:r>
            <a:r>
              <a:rPr lang="fr-FR" sz="1400" b="1" u="none" strike="noStrike" spc="-12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71">
                <a:solidFill>
                  <a:srgbClr val="111111"/>
                </a:solidFill>
                <a:effectLst/>
                <a:uFillTx/>
                <a:latin typeface="Arial"/>
              </a:rPr>
              <a:t>en</a:t>
            </a:r>
            <a:r>
              <a:rPr lang="fr-FR" sz="1400" b="1" u="none" strike="noStrike" spc="-9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65">
                <a:solidFill>
                  <a:srgbClr val="111111"/>
                </a:solidFill>
                <a:effectLst/>
                <a:uFillTx/>
                <a:latin typeface="Arial"/>
              </a:rPr>
              <a:t>temps</a:t>
            </a:r>
            <a:r>
              <a:rPr lang="fr-FR" sz="1400" b="1" u="none" strike="noStrike" spc="-12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65">
                <a:solidFill>
                  <a:srgbClr val="111111"/>
                </a:solidFill>
                <a:effectLst/>
                <a:uFillTx/>
                <a:latin typeface="Arial"/>
              </a:rPr>
              <a:t>réel</a:t>
            </a:r>
            <a:r>
              <a:rPr lang="fr-FR" sz="1400" b="1" u="none" strike="noStrike" spc="-20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object 18"/>
          <p:cNvSpPr/>
          <p:nvPr/>
        </p:nvSpPr>
        <p:spPr>
          <a:xfrm>
            <a:off x="8064360" y="3195000"/>
            <a:ext cx="3474000" cy="24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 defTabSz="914400">
              <a:lnSpc>
                <a:spcPct val="111000"/>
              </a:lnSpc>
              <a:spcBef>
                <a:spcPts val="96"/>
              </a:spcBef>
            </a:pP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Moins</a:t>
            </a:r>
            <a:r>
              <a:rPr lang="fr-FR" sz="1400" b="1" u="none" strike="noStrike" spc="-9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54">
                <a:solidFill>
                  <a:srgbClr val="111111"/>
                </a:solidFill>
                <a:effectLst/>
                <a:uFillTx/>
                <a:latin typeface="Arial"/>
              </a:rPr>
              <a:t>d’arrêts</a:t>
            </a:r>
            <a:r>
              <a:rPr lang="fr-FR" sz="1400" b="1" u="none" strike="noStrike" spc="-9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79">
                <a:solidFill>
                  <a:srgbClr val="111111"/>
                </a:solidFill>
                <a:effectLst/>
                <a:uFillTx/>
                <a:latin typeface="Arial"/>
              </a:rPr>
              <a:t>non</a:t>
            </a: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 planifiés</a:t>
            </a:r>
            <a:r>
              <a:rPr lang="fr-FR" sz="1400" b="1" u="none" strike="noStrike" spc="-7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object 7"/>
          <p:cNvSpPr/>
          <p:nvPr/>
        </p:nvSpPr>
        <p:spPr>
          <a:xfrm>
            <a:off x="596880" y="3530520"/>
            <a:ext cx="3570480" cy="24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 defTabSz="914400">
              <a:lnSpc>
                <a:spcPct val="111000"/>
              </a:lnSpc>
              <a:spcBef>
                <a:spcPts val="96"/>
              </a:spcBef>
            </a:pP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Les</a:t>
            </a:r>
            <a:r>
              <a:rPr lang="fr-FR" sz="1400" b="1" u="none" strike="noStrike" spc="-9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54">
                <a:solidFill>
                  <a:srgbClr val="111111"/>
                </a:solidFill>
                <a:effectLst/>
                <a:uFillTx/>
                <a:latin typeface="Arial"/>
              </a:rPr>
              <a:t>tendances</a:t>
            </a:r>
            <a:r>
              <a:rPr lang="fr-FR" sz="1400" b="1" u="none" strike="noStrike" spc="-9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historiques des machines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object 12"/>
          <p:cNvSpPr/>
          <p:nvPr/>
        </p:nvSpPr>
        <p:spPr>
          <a:xfrm>
            <a:off x="4396320" y="3521160"/>
            <a:ext cx="3237120" cy="24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 defTabSz="914400">
              <a:lnSpc>
                <a:spcPct val="111000"/>
              </a:lnSpc>
              <a:spcBef>
                <a:spcPts val="96"/>
              </a:spcBef>
            </a:pPr>
            <a:r>
              <a:rPr lang="fr-FR" sz="1400" b="1" u="none" strike="noStrike" spc="-54">
                <a:solidFill>
                  <a:srgbClr val="111111"/>
                </a:solidFill>
                <a:effectLst/>
                <a:uFillTx/>
                <a:latin typeface="Arial"/>
              </a:rPr>
              <a:t>Prioriser les interventions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object 13"/>
          <p:cNvSpPr/>
          <p:nvPr/>
        </p:nvSpPr>
        <p:spPr>
          <a:xfrm>
            <a:off x="4396320" y="3870720"/>
            <a:ext cx="3357720" cy="25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 defTabSz="914400">
              <a:lnSpc>
                <a:spcPct val="116000"/>
              </a:lnSpc>
              <a:spcBef>
                <a:spcPts val="96"/>
              </a:spcBef>
            </a:pP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Acquitter</a:t>
            </a:r>
            <a:r>
              <a:rPr lang="fr-FR" sz="1400" b="1" u="none" strike="noStrike" spc="-10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26">
                <a:solidFill>
                  <a:srgbClr val="111111"/>
                </a:solidFill>
                <a:effectLst/>
                <a:uFillTx/>
                <a:latin typeface="Arial MT"/>
              </a:rPr>
              <a:t>l’alerte</a:t>
            </a:r>
            <a:r>
              <a:rPr lang="fr-FR" sz="1400" b="0" u="none" strike="noStrike" spc="-85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object 19"/>
          <p:cNvSpPr/>
          <p:nvPr/>
        </p:nvSpPr>
        <p:spPr>
          <a:xfrm>
            <a:off x="8084160" y="3530880"/>
            <a:ext cx="3255480" cy="24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60" rIns="0" bIns="0" anchor="t">
            <a:spAutoFit/>
          </a:bodyPr>
          <a:lstStyle/>
          <a:p>
            <a:pPr marL="12600" defTabSz="914400">
              <a:lnSpc>
                <a:spcPct val="113000"/>
              </a:lnSpc>
              <a:spcBef>
                <a:spcPts val="60"/>
              </a:spcBef>
            </a:pP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Économies</a:t>
            </a:r>
            <a:r>
              <a:rPr lang="fr-FR" sz="1400" b="1" u="none" strike="noStrike" spc="-6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object 20"/>
          <p:cNvSpPr/>
          <p:nvPr/>
        </p:nvSpPr>
        <p:spPr>
          <a:xfrm>
            <a:off x="8083440" y="3890520"/>
            <a:ext cx="3313440" cy="24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 defTabSz="914400">
              <a:lnSpc>
                <a:spcPct val="111000"/>
              </a:lnSpc>
              <a:spcBef>
                <a:spcPts val="96"/>
              </a:spcBef>
            </a:pPr>
            <a:r>
              <a:rPr lang="fr-FR" sz="1400" b="1" u="none" strike="noStrike" spc="-65">
                <a:solidFill>
                  <a:srgbClr val="111111"/>
                </a:solidFill>
                <a:effectLst/>
                <a:uFillTx/>
                <a:latin typeface="Arial"/>
              </a:rPr>
              <a:t>Conformité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object 21"/>
          <p:cNvSpPr/>
          <p:nvPr/>
        </p:nvSpPr>
        <p:spPr>
          <a:xfrm>
            <a:off x="609480" y="6229440"/>
            <a:ext cx="10972080" cy="8640"/>
          </a:xfrm>
          <a:custGeom>
            <a:avLst/>
            <a:gdLst>
              <a:gd name="textAreaLeft" fmla="*/ 0 w 10972080"/>
              <a:gd name="textAreaRight" fmla="*/ 10972800 w 10972080"/>
              <a:gd name="textAreaTop" fmla="*/ 0 h 8640"/>
              <a:gd name="textAreaBottom" fmla="*/ 9360 h 8640"/>
            </a:gdLst>
            <a:ahLst/>
            <a:cxnLst/>
            <a:rect l="textAreaLeft" t="textAreaTop" r="textAreaRight" b="textAreaBottom"/>
            <a:pathLst>
              <a:path w="10972800" h="9525">
                <a:moveTo>
                  <a:pt x="10972799" y="9524"/>
                </a:moveTo>
                <a:lnTo>
                  <a:pt x="0" y="9524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9524"/>
                </a:lnTo>
                <a:close/>
              </a:path>
            </a:pathLst>
          </a:custGeom>
          <a:solidFill>
            <a:srgbClr val="D5D5D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19"/>
          </p:nvPr>
        </p:nvSpPr>
        <p:spPr>
          <a:xfrm>
            <a:off x="596880" y="6363720"/>
            <a:ext cx="734040" cy="1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r>
              <a: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rPr>
              <a:t>FactorySense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0"/>
          </p:nvPr>
        </p:nvSpPr>
        <p:spPr>
          <a:xfrm>
            <a:off x="11307600" y="6363720"/>
            <a:ext cx="288720" cy="1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6336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6336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r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1</a:t>
            </a:r>
            <a:r>
              <a:rPr lang="fr-FR" sz="950" b="0" u="none" strike="noStrike" spc="-71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/</a:t>
            </a:r>
            <a:r>
              <a:rPr lang="fr-FR" sz="950" b="0" u="none" strike="noStrike" spc="-85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51">
                <a:solidFill>
                  <a:srgbClr val="6A6A6A"/>
                </a:solidFill>
                <a:effectLst/>
                <a:uFillTx/>
                <a:latin typeface="Arial MT"/>
              </a:rPr>
              <a:t>4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5" name="Image 23"/>
          <p:cNvPicPr/>
          <p:nvPr/>
        </p:nvPicPr>
        <p:blipFill>
          <a:blip r:embed="rId3"/>
          <a:stretch/>
        </p:blipFill>
        <p:spPr>
          <a:xfrm>
            <a:off x="11288880" y="103680"/>
            <a:ext cx="81144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ZoneTexte 27"/>
          <p:cNvSpPr/>
          <p:nvPr/>
        </p:nvSpPr>
        <p:spPr>
          <a:xfrm>
            <a:off x="501840" y="3850920"/>
            <a:ext cx="3669480" cy="26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2600" defTabSz="914400">
              <a:lnSpc>
                <a:spcPts val="1414"/>
              </a:lnSpc>
              <a:tabLst>
                <a:tab pos="3557880" algn="l"/>
              </a:tabLst>
            </a:pPr>
            <a:r>
              <a:rPr lang="fr-FR" sz="1400" b="1" u="none" strike="noStrike" spc="-40">
                <a:solidFill>
                  <a:srgbClr val="111111"/>
                </a:solidFill>
                <a:effectLst/>
                <a:uFillTx/>
                <a:latin typeface="Arial"/>
              </a:rPr>
              <a:t>Des</a:t>
            </a:r>
            <a:r>
              <a:rPr lang="fr-FR" sz="1400" b="1" u="none" strike="noStrike" spc="-9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seuils</a:t>
            </a:r>
            <a:r>
              <a:rPr lang="fr-FR" sz="1400" b="1" u="none" strike="noStrike" spc="-9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1" u="none" strike="noStrike" spc="-54">
                <a:solidFill>
                  <a:srgbClr val="111111"/>
                </a:solidFill>
                <a:effectLst/>
                <a:uFillTx/>
                <a:latin typeface="Arial"/>
              </a:rPr>
              <a:t>explicites</a:t>
            </a:r>
            <a:r>
              <a:rPr lang="fr-FR" sz="1400" b="1" u="none" strike="noStrike" spc="-7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ZoneTexte 29"/>
          <p:cNvSpPr/>
          <p:nvPr/>
        </p:nvSpPr>
        <p:spPr>
          <a:xfrm>
            <a:off x="506160" y="2648160"/>
            <a:ext cx="2769480" cy="33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6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Ingénieurs</a:t>
            </a:r>
            <a:r>
              <a:rPr lang="fr-FR" sz="1600" b="1" u="none" strike="noStrike" spc="-125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r>
              <a:rPr lang="fr-FR" sz="16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de</a:t>
            </a:r>
            <a:r>
              <a:rPr lang="fr-FR" sz="1600" b="1" u="none" strike="noStrike" spc="-125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r>
              <a:rPr lang="fr-FR" sz="1600" b="1" u="none" strike="noStrike" spc="-11">
                <a:solidFill>
                  <a:srgbClr val="C00000"/>
                </a:solidFill>
                <a:effectLst/>
                <a:uFillTx/>
                <a:latin typeface="Arial"/>
              </a:rPr>
              <a:t>production :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ZoneTexte 31"/>
          <p:cNvSpPr/>
          <p:nvPr/>
        </p:nvSpPr>
        <p:spPr>
          <a:xfrm>
            <a:off x="4308120" y="2648160"/>
            <a:ext cx="2769480" cy="33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600" b="1" u="none" strike="noStrike" spc="-11">
                <a:solidFill>
                  <a:srgbClr val="C00000"/>
                </a:solidFill>
                <a:effectLst/>
                <a:uFillTx/>
                <a:latin typeface="Arial"/>
              </a:rPr>
              <a:t>Équipes</a:t>
            </a:r>
            <a:r>
              <a:rPr lang="fr-FR" sz="1600" b="1" u="none" strike="noStrike" spc="-119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r>
              <a:rPr lang="fr-FR" sz="16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de</a:t>
            </a:r>
            <a:r>
              <a:rPr lang="fr-FR" sz="1600" b="1" u="none" strike="noStrike" spc="-119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r>
              <a:rPr lang="fr-FR" sz="1600" b="1" u="none" strike="noStrike" spc="-11">
                <a:solidFill>
                  <a:srgbClr val="C00000"/>
                </a:solidFill>
                <a:effectLst/>
                <a:uFillTx/>
                <a:latin typeface="Arial"/>
              </a:rPr>
              <a:t>maintenance :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96880" y="610560"/>
            <a:ext cx="5862960" cy="548640"/>
          </a:xfrm>
          <a:prstGeom prst="rect">
            <a:avLst/>
          </a:prstGeom>
          <a:noFill/>
          <a:ln w="0">
            <a:noFill/>
          </a:ln>
        </p:spPr>
        <p:txBody>
          <a:bodyPr lIns="0" tIns="17280" rIns="0" bIns="0" anchor="t">
            <a:spAutoFit/>
          </a:bodyPr>
          <a:lstStyle/>
          <a:p>
            <a:pPr marL="12600" indent="0" algn="l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lang="fr-FR" sz="3450" b="1" u="none" strike="noStrike" spc="-74">
                <a:solidFill>
                  <a:srgbClr val="111111"/>
                </a:solidFill>
                <a:effectLst/>
                <a:uFillTx/>
                <a:latin typeface="Arial"/>
              </a:rPr>
              <a:t>Besoins</a:t>
            </a:r>
            <a:r>
              <a:rPr lang="fr-FR" sz="3450" b="1" u="none" strike="noStrike" spc="-510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3450" b="1" u="none" strike="noStrike" spc="-31">
                <a:solidFill>
                  <a:srgbClr val="111111"/>
                </a:solidFill>
                <a:effectLst/>
                <a:uFillTx/>
                <a:latin typeface="Arial"/>
              </a:rPr>
              <a:t>techniques</a:t>
            </a:r>
            <a:endParaRPr lang="fr-FR" sz="34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0" name="object 5"/>
          <p:cNvSpPr/>
          <p:nvPr/>
        </p:nvSpPr>
        <p:spPr>
          <a:xfrm>
            <a:off x="596880" y="1738800"/>
            <a:ext cx="2029320" cy="2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52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91"/>
              </a:spcBef>
            </a:pPr>
            <a:r>
              <a:rPr lang="fr-FR" sz="15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Services</a:t>
            </a:r>
            <a:r>
              <a:rPr lang="fr-FR" sz="1500" b="1" u="none" strike="noStrike" spc="-125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r>
              <a:rPr lang="fr-FR" sz="1500" b="1" u="none" strike="noStrike" spc="113">
                <a:solidFill>
                  <a:srgbClr val="C00000"/>
                </a:solidFill>
                <a:effectLst/>
                <a:uFillTx/>
                <a:latin typeface="Arial"/>
              </a:rPr>
              <a:t>à</a:t>
            </a:r>
            <a:r>
              <a:rPr lang="fr-FR" sz="1500" b="1" u="none" strike="noStrike" spc="-190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r>
              <a:rPr lang="fr-FR" sz="1500" b="1" u="none" strike="noStrike" spc="-11">
                <a:solidFill>
                  <a:srgbClr val="C00000"/>
                </a:solidFill>
                <a:effectLst/>
                <a:uFillTx/>
                <a:latin typeface="Arial"/>
              </a:rPr>
              <a:t>développer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object 8"/>
          <p:cNvSpPr/>
          <p:nvPr/>
        </p:nvSpPr>
        <p:spPr>
          <a:xfrm>
            <a:off x="6197760" y="1738800"/>
            <a:ext cx="3341880" cy="23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52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91"/>
              </a:spcBef>
            </a:pPr>
            <a:r>
              <a:rPr lang="fr-FR" sz="15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Données</a:t>
            </a:r>
            <a:r>
              <a:rPr lang="fr-FR" sz="1500" b="1" u="none" strike="noStrike" spc="-130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r>
              <a:rPr lang="fr-FR" sz="1500" b="1" u="none" strike="noStrike" spc="113">
                <a:solidFill>
                  <a:srgbClr val="C00000"/>
                </a:solidFill>
                <a:effectLst/>
                <a:uFillTx/>
                <a:latin typeface="Arial"/>
              </a:rPr>
              <a:t>à</a:t>
            </a:r>
            <a:r>
              <a:rPr lang="fr-FR" sz="1500" b="1" u="none" strike="noStrike" spc="-196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r>
              <a:rPr lang="fr-FR" sz="15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stocker</a:t>
            </a:r>
            <a:r>
              <a:rPr lang="fr-FR" sz="1500" b="1" u="none" strike="noStrike" spc="-184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r>
              <a:rPr lang="fr-FR" sz="1500" b="1" u="none" strike="noStrike" spc="51">
                <a:solidFill>
                  <a:srgbClr val="C00000"/>
                </a:solidFill>
                <a:effectLst/>
                <a:uFillTx/>
                <a:latin typeface="Arial"/>
              </a:rPr>
              <a:t>et</a:t>
            </a:r>
            <a:r>
              <a:rPr lang="fr-FR" sz="1500" b="1" u="none" strike="noStrike" spc="-111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r>
              <a:rPr lang="fr-FR" sz="1500" b="1" u="none" strike="noStrike" spc="-11">
                <a:solidFill>
                  <a:srgbClr val="C00000"/>
                </a:solidFill>
                <a:effectLst/>
                <a:uFillTx/>
                <a:latin typeface="Arial"/>
              </a:rPr>
              <a:t>sécuriser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2" name="object 4"/>
          <p:cNvGraphicFramePr/>
          <p:nvPr/>
        </p:nvGraphicFramePr>
        <p:xfrm>
          <a:off x="687240" y="2340000"/>
          <a:ext cx="5370840" cy="2892240"/>
        </p:xfrm>
        <a:graphic>
          <a:graphicData uri="http://schemas.openxmlformats.org/drawingml/2006/table">
            <a:tbl>
              <a:tblPr/>
              <a:tblGrid>
                <a:gridCol w="146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040">
                <a:tc>
                  <a:txBody>
                    <a:bodyPr/>
                    <a:lstStyle/>
                    <a:p>
                      <a:pPr defTabSz="914400">
                        <a:lnSpc>
                          <a:spcPts val="1125"/>
                        </a:lnSpc>
                      </a:pPr>
                      <a:r>
                        <a:rPr lang="fr-FR" sz="115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Service</a:t>
                      </a:r>
                      <a:endParaRPr lang="fr-F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760" defTabSz="914400">
                        <a:lnSpc>
                          <a:spcPts val="1125"/>
                        </a:lnSpc>
                      </a:pPr>
                      <a:r>
                        <a:rPr lang="fr-FR" sz="1150" b="1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Rôle</a:t>
                      </a:r>
                      <a:endParaRPr lang="fr-F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640" defTabSz="914400">
                        <a:lnSpc>
                          <a:spcPts val="1125"/>
                        </a:lnSpc>
                      </a:pPr>
                      <a:r>
                        <a:rPr lang="fr-FR" sz="115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Brique</a:t>
                      </a:r>
                      <a:endParaRPr lang="fr-F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Ingestion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111111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76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3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Télémétrie</a:t>
                      </a:r>
                      <a:r>
                        <a:rPr lang="fr-FR" sz="1300" b="0" u="none" strike="noStrike" spc="-6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de</a:t>
                      </a:r>
                      <a:r>
                        <a:rPr lang="fr-FR" sz="1300" b="0" u="none" strike="noStrike" spc="-5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capteurs</a:t>
                      </a:r>
                      <a:r>
                        <a:rPr lang="fr-FR" sz="1300" b="0" u="none" strike="noStrike" spc="-4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authentifiés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111111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64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FastAPI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111111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2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Détection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76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Seuils</a:t>
                      </a:r>
                      <a:r>
                        <a:rPr lang="fr-FR" sz="1300" b="0" u="none" strike="noStrike" spc="-9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:</a:t>
                      </a:r>
                      <a:r>
                        <a:rPr lang="fr-FR" sz="1300" b="0" u="none" strike="noStrike" spc="3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3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une</a:t>
                      </a:r>
                      <a:r>
                        <a:rPr lang="fr-FR" sz="1300" b="0" u="none" strike="noStrike" spc="-9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alerte</a:t>
                      </a:r>
                      <a:r>
                        <a:rPr lang="fr-FR" sz="1300" b="0" u="none" strike="noStrike" spc="-9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par</a:t>
                      </a:r>
                      <a:r>
                        <a:rPr lang="fr-FR" sz="1300" b="0" u="none" strike="noStrike" spc="-13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franchissement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64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FastAPI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40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Séries</a:t>
                      </a:r>
                      <a:r>
                        <a:rPr lang="fr-FR" sz="1300" b="1" u="none" strike="noStrike" spc="-79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temporelles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76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Historique</a:t>
                      </a:r>
                      <a:r>
                        <a:rPr lang="fr-FR" sz="1300" b="0" u="none" strike="noStrike" spc="-8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des</a:t>
                      </a:r>
                      <a:r>
                        <a:rPr lang="fr-FR" sz="1300" b="0" u="none" strike="noStrike" spc="-7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mesures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64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InfluxDB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Alertes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76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État</a:t>
                      </a:r>
                      <a:r>
                        <a:rPr lang="fr-FR" sz="1300" b="0" u="none" strike="noStrike" spc="-8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actif</a:t>
                      </a:r>
                      <a:r>
                        <a:rPr lang="fr-FR" sz="1300" b="0" u="none" strike="noStrike" spc="-12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25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Microsoft Sans Serif"/>
                        </a:rPr>
                        <a:t>→</a:t>
                      </a:r>
                      <a:r>
                        <a:rPr lang="fr-FR" sz="1250" b="0" u="none" strike="noStrike" spc="-54">
                          <a:solidFill>
                            <a:srgbClr val="111111"/>
                          </a:solidFill>
                          <a:effectLst/>
                          <a:uFillTx/>
                          <a:latin typeface="Microsoft Sans Serif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acquitté,</a:t>
                      </a:r>
                      <a:r>
                        <a:rPr lang="fr-FR" sz="1300" b="0" u="none" strike="noStrike" spc="1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partagé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64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PostgreSQL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65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Temps</a:t>
                      </a:r>
                      <a:r>
                        <a:rPr lang="fr-FR" sz="1300" b="1" u="none" strike="noStrike" spc="-74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fr-FR" sz="1300" b="1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réel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76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Pousser</a:t>
                      </a:r>
                      <a:r>
                        <a:rPr lang="fr-FR" sz="1300" b="0" u="none" strike="noStrike" spc="-11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les</a:t>
                      </a:r>
                      <a:r>
                        <a:rPr lang="fr-FR" sz="1300" b="0" u="none" strike="noStrike" spc="-7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alertes</a:t>
                      </a:r>
                      <a:r>
                        <a:rPr lang="fr-FR" sz="1300" b="0" u="none" strike="noStrike" spc="-7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5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au</a:t>
                      </a:r>
                      <a:r>
                        <a:rPr lang="fr-FR" sz="1300" b="0" u="none" strike="noStrike" spc="-3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navigateur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64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WebSocket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Visualisation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76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4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Tableau</a:t>
                      </a:r>
                      <a:r>
                        <a:rPr lang="fr-FR" sz="1300" b="0" u="none" strike="noStrike" spc="-6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de</a:t>
                      </a:r>
                      <a:r>
                        <a:rPr lang="fr-FR" sz="1300" b="0" u="none" strike="noStrike" spc="-10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bord,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courbes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64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Node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1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Répartition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76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3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Charge</a:t>
                      </a:r>
                      <a:r>
                        <a:rPr lang="fr-FR" sz="1300" b="0" u="none" strike="noStrike" spc="-5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répartie</a:t>
                      </a:r>
                      <a:r>
                        <a:rPr lang="fr-FR" sz="1300" b="0" u="none" strike="noStrike" spc="-4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entre</a:t>
                      </a:r>
                      <a:r>
                        <a:rPr lang="fr-FR" sz="1300" b="0" u="none" strike="noStrike" spc="-5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répliques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64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nginx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3" name="object 7"/>
          <p:cNvGraphicFramePr/>
          <p:nvPr>
            <p:extLst>
              <p:ext uri="{D42A27DB-BD31-4B8C-83A1-F6EECF244321}">
                <p14:modId xmlns:p14="http://schemas.microsoft.com/office/powerpoint/2010/main" val="158846064"/>
              </p:ext>
            </p:extLst>
          </p:nvPr>
        </p:nvGraphicFramePr>
        <p:xfrm>
          <a:off x="6210360" y="2315160"/>
          <a:ext cx="5372280" cy="2904960"/>
        </p:xfrm>
        <a:graphic>
          <a:graphicData uri="http://schemas.openxmlformats.org/drawingml/2006/table">
            <a:tbl>
              <a:tblPr/>
              <a:tblGrid>
                <a:gridCol w="104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2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defTabSz="914400">
                        <a:lnSpc>
                          <a:spcPts val="1125"/>
                        </a:lnSpc>
                      </a:pPr>
                      <a:r>
                        <a:rPr lang="fr-FR" sz="115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Donnée</a:t>
                      </a:r>
                      <a:endParaRPr lang="fr-F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63800" defTabSz="914400">
                        <a:lnSpc>
                          <a:spcPts val="1125"/>
                        </a:lnSpc>
                      </a:pPr>
                      <a:r>
                        <a:rPr lang="fr-FR" sz="115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Enjeu</a:t>
                      </a:r>
                      <a:endParaRPr lang="fr-F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4880" defTabSz="914400">
                        <a:lnSpc>
                          <a:spcPts val="1125"/>
                        </a:lnSpc>
                      </a:pPr>
                      <a:r>
                        <a:rPr lang="fr-FR" sz="115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Protection</a:t>
                      </a:r>
                      <a:endParaRPr lang="fr-F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Télémétrie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111111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63800" defTabSz="914400">
                        <a:lnSpc>
                          <a:spcPct val="105000"/>
                        </a:lnSpc>
                        <a:spcBef>
                          <a:spcPts val="371"/>
                        </a:spcBef>
                      </a:pP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Intégrité</a:t>
                      </a:r>
                      <a:r>
                        <a:rPr lang="fr-FR" sz="1300" b="0" u="none" strike="noStrike" spc="-9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:</a:t>
                      </a:r>
                      <a:r>
                        <a:rPr lang="fr-FR" sz="1300" b="0" u="none" strike="noStrike" spc="3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3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une</a:t>
                      </a:r>
                      <a:r>
                        <a:rPr lang="fr-FR" sz="1300" b="0" u="none" strike="noStrike" spc="-9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mesure</a:t>
                      </a:r>
                      <a:r>
                        <a:rPr lang="fr-FR" sz="1300" b="0" u="none" strike="noStrike" spc="-9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falsifiée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masque</a:t>
                      </a:r>
                      <a:r>
                        <a:rPr lang="fr-FR" sz="1300" b="0" u="none" strike="noStrike" spc="-6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3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une</a:t>
                      </a:r>
                      <a:r>
                        <a:rPr lang="fr-FR" sz="1300" b="0" u="none" strike="noStrike" spc="-6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panne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4680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111111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488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Capteurs</a:t>
                      </a:r>
                      <a:r>
                        <a:rPr lang="fr-FR" sz="1300" b="0" u="none" strike="noStrike" spc="-5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authentifiés,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74880" defTabSz="914400">
                        <a:lnSpc>
                          <a:spcPct val="100000"/>
                        </a:lnSpc>
                        <a:spcBef>
                          <a:spcPts val="91"/>
                        </a:spcBef>
                      </a:pP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entrées</a:t>
                      </a:r>
                      <a:r>
                        <a:rPr lang="fr-FR" sz="1300" b="0" u="none" strike="noStrike" spc="-5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validées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111111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329">
                <a:tc>
                  <a:txBody>
                    <a:bodyPr/>
                    <a:lstStyle/>
                    <a:p>
                      <a:pPr defTabSz="914400">
                        <a:lnSpc>
                          <a:spcPts val="1539"/>
                        </a:lnSpc>
                      </a:pPr>
                      <a:r>
                        <a:rPr lang="fr-FR" sz="1300" b="1" u="none" strike="noStrike" spc="-54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  <a:ea typeface="Noto Sans CJK SC"/>
                        </a:rPr>
                        <a:t>Journal</a:t>
                      </a:r>
                      <a:r>
                        <a:rPr lang="fr-FR" sz="1300" b="1" u="none" strike="noStrike" spc="20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  <a:ea typeface="Noto Sans CJK SC"/>
                        </a:rPr>
                        <a:t> </a:t>
                      </a:r>
                      <a:r>
                        <a:rPr lang="fr-FR" sz="1300" b="1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  <a:ea typeface="Noto Sans CJK SC"/>
                        </a:rPr>
                        <a:t>des </a:t>
                      </a: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alertes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63800" defTabSz="914400">
                        <a:lnSpc>
                          <a:spcPts val="1539"/>
                        </a:lnSpc>
                      </a:pP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  <a:ea typeface="Noto Sans CJK SC"/>
                        </a:rPr>
                        <a:t>Registre</a:t>
                      </a:r>
                      <a:r>
                        <a:rPr lang="fr-FR" sz="1300" b="0" u="none" strike="noStrike" spc="-6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  <a:ea typeface="Noto Sans CJK SC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  <a:ea typeface="Noto Sans CJK SC"/>
                        </a:rPr>
                        <a:t>de</a:t>
                      </a:r>
                      <a:r>
                        <a:rPr lang="fr-FR" sz="1300" b="0" u="none" strike="noStrike" spc="-5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  <a:ea typeface="Noto Sans CJK SC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  <a:ea typeface="Noto Sans CJK SC"/>
                        </a:rPr>
                        <a:t>maintenance, </a:t>
                      </a:r>
                      <a:r>
                        <a:rPr lang="fr-FR" sz="1300" b="0" u="none" strike="noStrike" spc="-3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preuve</a:t>
                      </a:r>
                      <a:r>
                        <a:rPr lang="fr-FR" sz="1300" b="0" u="none" strike="noStrike" spc="-7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4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en</a:t>
                      </a:r>
                      <a:r>
                        <a:rPr lang="fr-FR" sz="1300" b="0" u="none" strike="noStrike" spc="-3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audit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4880" defTabSz="914400">
                        <a:lnSpc>
                          <a:spcPts val="1539"/>
                        </a:lnSpc>
                      </a:pP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  <a:ea typeface="Noto Sans CJK SC"/>
                        </a:rPr>
                        <a:t>Base</a:t>
                      </a:r>
                      <a:r>
                        <a:rPr lang="fr-FR" sz="1300" b="0" u="none" strike="noStrike" spc="-10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  <a:ea typeface="Noto Sans CJK SC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  <a:ea typeface="Noto Sans CJK SC"/>
                        </a:rPr>
                        <a:t>interne,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  <a:ea typeface="Noto Sans CJK SC"/>
                        </a:rPr>
                        <a:t> non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exposée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Secrets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63800" defTabSz="914400">
                        <a:lnSpc>
                          <a:spcPct val="105000"/>
                        </a:lnSpc>
                        <a:spcBef>
                          <a:spcPts val="371"/>
                        </a:spcBef>
                      </a:pPr>
                      <a:r>
                        <a:rPr lang="fr-FR" sz="1300" b="0" u="none" strike="noStrike" spc="-4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Tokens,</a:t>
                      </a:r>
                      <a:r>
                        <a:rPr lang="fr-FR" sz="1300" b="0" u="none" strike="noStrike" spc="-3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mots</a:t>
                      </a:r>
                      <a:r>
                        <a:rPr lang="fr-FR" sz="1300" b="0" u="none" strike="noStrike" spc="-9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de</a:t>
                      </a:r>
                      <a:r>
                        <a:rPr lang="fr-FR" sz="1300" b="0" u="none" strike="noStrike" spc="-10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passe,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clé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des</a:t>
                      </a:r>
                      <a:r>
                        <a:rPr lang="fr-FR" sz="1300" b="0" u="none" strike="noStrike" spc="-8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capteurs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4680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488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200" b="0" u="none" strike="noStrike" spc="-289">
                          <a:solidFill>
                            <a:srgbClr val="111111"/>
                          </a:solidFill>
                          <a:effectLst/>
                          <a:uFillTx/>
                          <a:latin typeface="Lucida Console"/>
                        </a:rPr>
                        <a:t>.</a:t>
                      </a:r>
                      <a:r>
                        <a:rPr lang="fr-FR" sz="1200" b="0" u="none" strike="noStrike" spc="-510">
                          <a:solidFill>
                            <a:srgbClr val="111111"/>
                          </a:solidFill>
                          <a:effectLst/>
                          <a:uFillTx/>
                          <a:latin typeface="Lucida Console"/>
                        </a:rPr>
                        <a:t> </a:t>
                      </a:r>
                      <a:r>
                        <a:rPr lang="fr-FR" sz="1200" b="0" u="none" strike="noStrike" spc="-91">
                          <a:solidFill>
                            <a:srgbClr val="111111"/>
                          </a:solidFill>
                          <a:effectLst/>
                          <a:uFillTx/>
                          <a:latin typeface="Lucida Console"/>
                        </a:rPr>
                        <a:t>env</a:t>
                      </a:r>
                      <a:r>
                        <a:rPr lang="fr-FR" sz="1200" b="0" u="none" strike="noStrike" spc="-456">
                          <a:solidFill>
                            <a:srgbClr val="111111"/>
                          </a:solidFill>
                          <a:effectLst/>
                          <a:uFillTx/>
                          <a:latin typeface="Lucida Console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hors</a:t>
                      </a:r>
                      <a:r>
                        <a:rPr lang="fr-FR" sz="1300" b="0" u="none" strike="noStrike" spc="-9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3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du</a:t>
                      </a:r>
                      <a:r>
                        <a:rPr lang="fr-FR" sz="1300" b="0" u="none" strike="noStrike" spc="-5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dépôt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0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Seuils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63800" defTabSz="914400">
                        <a:lnSpc>
                          <a:spcPct val="105000"/>
                        </a:lnSpc>
                        <a:spcBef>
                          <a:spcPts val="371"/>
                        </a:spcBef>
                      </a:pPr>
                      <a:r>
                        <a:rPr lang="fr-FR" sz="1300" b="0" u="none" strike="noStrike" spc="-3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Un</a:t>
                      </a:r>
                      <a:r>
                        <a:rPr lang="fr-FR" sz="1300" b="0" u="none" strike="noStrike" spc="-6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seuil</a:t>
                      </a:r>
                      <a:r>
                        <a:rPr lang="fr-FR" sz="1300" b="0" u="none" strike="noStrike" spc="-1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erroné</a:t>
                      </a:r>
                      <a:r>
                        <a:rPr lang="fr-FR" sz="1300" b="0" u="none" strike="noStrike" spc="-9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3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rend</a:t>
                      </a:r>
                      <a:r>
                        <a:rPr lang="fr-FR" sz="1300" b="0" u="none" strike="noStrike" spc="-6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l’alerte muette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4680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488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31" dirty="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Versionnés</a:t>
                      </a:r>
                      <a:r>
                        <a:rPr lang="fr-FR" sz="1300" b="0" u="none" strike="noStrike" spc="-65" dirty="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 dirty="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avec</a:t>
                      </a:r>
                      <a:r>
                        <a:rPr lang="fr-FR" sz="1300" b="0" u="none" strike="noStrike" spc="-71" dirty="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 dirty="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le</a:t>
                      </a:r>
                      <a:r>
                        <a:rPr lang="fr-FR" sz="1300" b="0" u="none" strike="noStrike" spc="-71" dirty="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 dirty="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code</a:t>
                      </a:r>
                      <a:endParaRPr lang="fr-FR" sz="13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" name="object 9"/>
          <p:cNvSpPr/>
          <p:nvPr/>
        </p:nvSpPr>
        <p:spPr>
          <a:xfrm>
            <a:off x="3506760" y="5580000"/>
            <a:ext cx="517788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 algn="ctr" defTabSz="914400">
              <a:lnSpc>
                <a:spcPct val="111000"/>
              </a:lnSpc>
              <a:spcBef>
                <a:spcPts val="96"/>
              </a:spcBef>
            </a:pPr>
            <a:r>
              <a:rPr lang="fr-FR" sz="1400" b="0" u="none" strike="noStrike" spc="-31">
                <a:solidFill>
                  <a:srgbClr val="4A4A4A"/>
                </a:solidFill>
                <a:effectLst/>
                <a:uFillTx/>
                <a:latin typeface="Arial MT"/>
              </a:rPr>
              <a:t>Exigences</a:t>
            </a:r>
            <a:r>
              <a:rPr lang="fr-FR" sz="1400" b="0" u="none" strike="noStrike" spc="-85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4">
                <a:solidFill>
                  <a:srgbClr val="4A4A4A"/>
                </a:solidFill>
                <a:effectLst/>
                <a:uFillTx/>
                <a:latin typeface="Arial MT"/>
              </a:rPr>
              <a:t>transverses</a:t>
            </a:r>
            <a:r>
              <a:rPr lang="fr-FR" sz="1400" b="0" u="none" strike="noStrike" spc="-85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9">
                <a:solidFill>
                  <a:srgbClr val="4A4A4A"/>
                </a:solidFill>
                <a:effectLst/>
                <a:uFillTx/>
                <a:latin typeface="Arial MT"/>
              </a:rPr>
              <a:t>:</a:t>
            </a:r>
            <a:r>
              <a:rPr lang="fr-FR" sz="1400" b="0" u="none" strike="noStrike" spc="54">
                <a:solidFill>
                  <a:srgbClr val="4A4A4A"/>
                </a:solidFill>
                <a:effectLst/>
                <a:uFillTx/>
                <a:latin typeface="Arial MT"/>
              </a:rPr>
              <a:t> scalable</a:t>
            </a:r>
            <a:r>
              <a:rPr lang="fr-FR" sz="1400" b="0" u="none" strike="noStrike" spc="-31">
                <a:solidFill>
                  <a:srgbClr val="4A4A4A"/>
                </a:solidFill>
                <a:effectLst/>
                <a:uFillTx/>
                <a:latin typeface="Arial MT"/>
              </a:rPr>
              <a:t>,</a:t>
            </a:r>
            <a:r>
              <a:rPr lang="fr-FR" sz="1400" b="0" u="none" strike="noStrike" spc="45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>
                <a:solidFill>
                  <a:srgbClr val="4A4A4A"/>
                </a:solidFill>
                <a:effectLst/>
                <a:uFillTx/>
                <a:latin typeface="Arial MT"/>
              </a:rPr>
              <a:t>redémarrage </a:t>
            </a:r>
            <a:r>
              <a:rPr lang="fr-FR" sz="1400" b="0" u="none" strike="noStrike" spc="-31">
                <a:solidFill>
                  <a:srgbClr val="4A4A4A"/>
                </a:solidFill>
                <a:effectLst/>
                <a:uFillTx/>
                <a:latin typeface="Arial MT"/>
              </a:rPr>
              <a:t>automatique,</a:t>
            </a:r>
            <a:r>
              <a:rPr lang="fr-FR" sz="1400" b="0" u="none" strike="noStrike" spc="31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40">
                <a:solidFill>
                  <a:srgbClr val="4A4A4A"/>
                </a:solidFill>
                <a:effectLst/>
                <a:uFillTx/>
                <a:latin typeface="Arial MT"/>
              </a:rPr>
              <a:t>démarrage</a:t>
            </a:r>
            <a:r>
              <a:rPr lang="fr-FR" sz="1400" b="0" u="none" strike="noStrike" spc="-96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45">
                <a:solidFill>
                  <a:srgbClr val="4A4A4A"/>
                </a:solidFill>
                <a:effectLst/>
                <a:uFillTx/>
                <a:latin typeface="Arial MT"/>
              </a:rPr>
              <a:t>en</a:t>
            </a:r>
            <a:r>
              <a:rPr lang="fr-FR" sz="1400" b="0" u="none" strike="noStrike" spc="-54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4">
                <a:solidFill>
                  <a:srgbClr val="4A4A4A"/>
                </a:solidFill>
                <a:effectLst/>
                <a:uFillTx/>
                <a:latin typeface="Arial MT"/>
              </a:rPr>
              <a:t>une</a:t>
            </a:r>
            <a:r>
              <a:rPr lang="fr-FR" sz="1400" b="0" u="none" strike="noStrike" spc="-99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>
                <a:solidFill>
                  <a:srgbClr val="4A4A4A"/>
                </a:solidFill>
                <a:effectLst/>
                <a:uFillTx/>
                <a:latin typeface="Arial MT"/>
              </a:rPr>
              <a:t>commande.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object 10"/>
          <p:cNvSpPr/>
          <p:nvPr/>
        </p:nvSpPr>
        <p:spPr>
          <a:xfrm>
            <a:off x="609480" y="6229440"/>
            <a:ext cx="10972080" cy="8640"/>
          </a:xfrm>
          <a:custGeom>
            <a:avLst/>
            <a:gdLst>
              <a:gd name="textAreaLeft" fmla="*/ 0 w 10972080"/>
              <a:gd name="textAreaRight" fmla="*/ 10972800 w 10972080"/>
              <a:gd name="textAreaTop" fmla="*/ 0 h 8640"/>
              <a:gd name="textAreaBottom" fmla="*/ 9360 h 8640"/>
            </a:gdLst>
            <a:ahLst/>
            <a:cxnLst/>
            <a:rect l="textAreaLeft" t="textAreaTop" r="textAreaRight" b="textAreaBottom"/>
            <a:pathLst>
              <a:path w="10972800" h="9525">
                <a:moveTo>
                  <a:pt x="10972799" y="9524"/>
                </a:moveTo>
                <a:lnTo>
                  <a:pt x="0" y="9524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9524"/>
                </a:lnTo>
                <a:close/>
              </a:path>
            </a:pathLst>
          </a:custGeom>
          <a:solidFill>
            <a:srgbClr val="D5D5D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ftr" idx="21"/>
          </p:nvPr>
        </p:nvSpPr>
        <p:spPr>
          <a:xfrm>
            <a:off x="596880" y="6363720"/>
            <a:ext cx="734040" cy="1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r>
              <a: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rPr>
              <a:t>FactorySense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22"/>
          </p:nvPr>
        </p:nvSpPr>
        <p:spPr>
          <a:xfrm>
            <a:off x="11307600" y="6363720"/>
            <a:ext cx="288720" cy="1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6336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6336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r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2</a:t>
            </a:r>
            <a:r>
              <a:rPr lang="fr-FR" sz="950" b="0" u="none" strike="noStrike" spc="-71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/</a:t>
            </a:r>
            <a:r>
              <a:rPr lang="fr-FR" sz="950" b="0" u="none" strike="noStrike" spc="-85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51">
                <a:solidFill>
                  <a:srgbClr val="6A6A6A"/>
                </a:solidFill>
                <a:effectLst/>
                <a:uFillTx/>
                <a:latin typeface="Arial MT"/>
              </a:rPr>
              <a:t>4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" name="Image 12"/>
          <p:cNvPicPr/>
          <p:nvPr/>
        </p:nvPicPr>
        <p:blipFill>
          <a:blip r:embed="rId3"/>
          <a:stretch/>
        </p:blipFill>
        <p:spPr>
          <a:xfrm>
            <a:off x="11288880" y="103680"/>
            <a:ext cx="811440" cy="1143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object 62"/>
          <p:cNvSpPr/>
          <p:nvPr/>
        </p:nvSpPr>
        <p:spPr>
          <a:xfrm>
            <a:off x="963900" y="5392800"/>
            <a:ext cx="5179680" cy="67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344960" defTabSz="914400">
              <a:lnSpc>
                <a:spcPct val="100000"/>
              </a:lnSpc>
              <a:spcBef>
                <a:spcPts val="111"/>
              </a:spcBef>
            </a:pP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40"/>
              </a:spcBef>
            </a:pPr>
            <a:endParaRPr lang="fr-FR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100000"/>
              </a:lnSpc>
              <a:tabLst>
                <a:tab pos="2863080" algn="l"/>
              </a:tabLst>
            </a:pPr>
            <a:r>
              <a:rPr lang="fr-FR" sz="1150" b="0" u="none" strike="noStrike" spc="-20" dirty="0">
                <a:solidFill>
                  <a:srgbClr val="4A4A4A"/>
                </a:solidFill>
                <a:effectLst/>
                <a:uFillTx/>
                <a:latin typeface="Arial MT"/>
              </a:rPr>
              <a:t>sans</a:t>
            </a:r>
            <a:r>
              <a:rPr lang="fr-FR" sz="1150" b="0" u="none" strike="noStrike" spc="-71" dirty="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50" b="0" u="none" strike="noStrike" spc="-11" dirty="0">
                <a:solidFill>
                  <a:srgbClr val="4A4A4A"/>
                </a:solidFill>
                <a:effectLst/>
                <a:uFillTx/>
                <a:latin typeface="Arial MT"/>
              </a:rPr>
              <a:t>état</a:t>
            </a:r>
            <a:r>
              <a:rPr lang="fr-FR" sz="1150" b="0" u="none" strike="noStrike" spc="-65" dirty="0">
                <a:solidFill>
                  <a:srgbClr val="4A4A4A"/>
                </a:solidFill>
                <a:effectLst/>
                <a:uFillTx/>
                <a:latin typeface="Arial MT"/>
              </a:rPr>
              <a:t>, </a:t>
            </a:r>
            <a:r>
              <a:rPr lang="fr-FR" sz="1150" b="0" u="none" strike="noStrike" spc="-20" dirty="0">
                <a:solidFill>
                  <a:srgbClr val="4A4A4A"/>
                </a:solidFill>
                <a:effectLst/>
                <a:uFillTx/>
                <a:latin typeface="Arial MT"/>
              </a:rPr>
              <a:t>se</a:t>
            </a:r>
            <a:r>
              <a:rPr lang="fr-FR" sz="1150" b="0" u="none" strike="noStrike" spc="-71" dirty="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50" b="0" u="none" strike="noStrike" spc="-20" dirty="0">
                <a:solidFill>
                  <a:srgbClr val="4A4A4A"/>
                </a:solidFill>
                <a:effectLst/>
                <a:uFillTx/>
                <a:latin typeface="Arial MT"/>
              </a:rPr>
              <a:t>réplique</a:t>
            </a:r>
            <a:r>
              <a:rPr lang="fr-FR" sz="1150" b="0" u="none" strike="noStrike" spc="-74" dirty="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50" b="0" u="none" strike="noStrike" spc="-26" dirty="0">
                <a:solidFill>
                  <a:srgbClr val="4A4A4A"/>
                </a:solidFill>
                <a:effectLst/>
                <a:uFillTx/>
                <a:latin typeface="Arial MT"/>
              </a:rPr>
              <a:t>avec</a:t>
            </a:r>
            <a:r>
              <a:rPr lang="fr-FR" sz="1150" b="0" u="none" strike="noStrike" spc="-74" dirty="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579" b="0" u="none" strike="noStrike" spc="-128" baseline="2000" dirty="0">
                <a:solidFill>
                  <a:srgbClr val="4A4A4A"/>
                </a:solidFill>
                <a:effectLst/>
                <a:uFillTx/>
                <a:latin typeface="Lucida Console"/>
              </a:rPr>
              <a:t>-</a:t>
            </a:r>
            <a:r>
              <a:rPr lang="fr-FR" sz="1579" b="0" u="none" strike="noStrike" spc="-261" baseline="2000" dirty="0">
                <a:solidFill>
                  <a:srgbClr val="4A4A4A"/>
                </a:solidFill>
                <a:effectLst/>
                <a:uFillTx/>
                <a:latin typeface="Lucida Console"/>
              </a:rPr>
              <a:t>-</a:t>
            </a:r>
            <a:r>
              <a:rPr lang="fr-FR" sz="1579" b="0" u="none" strike="noStrike" spc="-794" baseline="2000" dirty="0">
                <a:solidFill>
                  <a:srgbClr val="4A4A4A"/>
                </a:solidFill>
                <a:effectLst/>
                <a:uFillTx/>
                <a:latin typeface="Lucida Console"/>
              </a:rPr>
              <a:t> </a:t>
            </a:r>
            <a:r>
              <a:rPr lang="fr-FR" sz="1579" b="0" u="none" strike="noStrike" spc="-31" baseline="2000" dirty="0" err="1">
                <a:solidFill>
                  <a:srgbClr val="4A4A4A"/>
                </a:solidFill>
                <a:effectLst/>
                <a:uFillTx/>
                <a:latin typeface="Lucida Console"/>
              </a:rPr>
              <a:t>scale</a:t>
            </a:r>
            <a:r>
              <a:rPr lang="fr-FR" sz="1579" b="0" u="none" strike="noStrike" baseline="2000" dirty="0">
                <a:solidFill>
                  <a:srgbClr val="4A4A4A"/>
                </a:solidFill>
                <a:effectLst/>
                <a:uFillTx/>
                <a:latin typeface="Lucida Console"/>
              </a:rPr>
              <a:t>	</a:t>
            </a:r>
            <a:r>
              <a:rPr lang="fr-FR" sz="1150" b="0" u="none" strike="noStrike" spc="-26" dirty="0">
                <a:solidFill>
                  <a:srgbClr val="4A4A4A"/>
                </a:solidFill>
                <a:effectLst/>
                <a:uFillTx/>
                <a:latin typeface="Arial MT"/>
              </a:rPr>
              <a:t>avec</a:t>
            </a:r>
            <a:r>
              <a:rPr lang="fr-FR" sz="1150" b="0" u="none" strike="noStrike" spc="-85" dirty="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50" b="0" u="none" strike="noStrike" spc="-11" dirty="0">
                <a:solidFill>
                  <a:srgbClr val="4A4A4A"/>
                </a:solidFill>
                <a:effectLst/>
                <a:uFillTx/>
                <a:latin typeface="Arial MT"/>
              </a:rPr>
              <a:t>état</a:t>
            </a:r>
            <a:r>
              <a:rPr lang="fr-FR" sz="1150" b="0" u="none" strike="noStrike" spc="-74" dirty="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50" b="0" u="none" strike="noStrike" spc="-130" dirty="0">
                <a:solidFill>
                  <a:srgbClr val="4A4A4A"/>
                </a:solidFill>
                <a:effectLst/>
                <a:uFillTx/>
                <a:latin typeface="Arial MT"/>
              </a:rPr>
              <a:t> -  </a:t>
            </a:r>
            <a:r>
              <a:rPr lang="fr-FR" sz="1150" b="0" u="none" strike="noStrike" spc="-11" dirty="0">
                <a:solidFill>
                  <a:srgbClr val="4A4A4A"/>
                </a:solidFill>
                <a:effectLst/>
                <a:uFillTx/>
                <a:latin typeface="Arial MT"/>
              </a:rPr>
              <a:t>volume</a:t>
            </a:r>
            <a:r>
              <a:rPr lang="fr-FR" sz="1150" b="0" u="none" strike="noStrike" spc="-79" dirty="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50" b="0" u="none" strike="noStrike" spc="-11" dirty="0">
                <a:solidFill>
                  <a:srgbClr val="4A4A4A"/>
                </a:solidFill>
                <a:effectLst/>
                <a:uFillTx/>
                <a:latin typeface="Arial MT"/>
              </a:rPr>
              <a:t>persistant</a:t>
            </a:r>
            <a:endParaRPr lang="fr-FR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96880" y="620640"/>
            <a:ext cx="6406920" cy="548640"/>
          </a:xfrm>
          <a:prstGeom prst="rect">
            <a:avLst/>
          </a:prstGeom>
          <a:noFill/>
          <a:ln w="0">
            <a:noFill/>
          </a:ln>
        </p:spPr>
        <p:txBody>
          <a:bodyPr lIns="0" tIns="17280" rIns="0" bIns="0" anchor="t">
            <a:spAutoFit/>
          </a:bodyPr>
          <a:lstStyle/>
          <a:p>
            <a:pPr marL="12600" indent="0" algn="l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lang="fr-FR" sz="3450" b="1" u="none" strike="noStrike" spc="-45">
                <a:solidFill>
                  <a:srgbClr val="111111"/>
                </a:solidFill>
                <a:effectLst/>
                <a:uFillTx/>
                <a:latin typeface="Arial"/>
              </a:rPr>
              <a:t>Architecture</a:t>
            </a:r>
            <a:r>
              <a:rPr lang="fr-FR" sz="3450" b="1" u="none" strike="noStrike" spc="-47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3450" b="1" u="none" strike="noStrike" spc="-31">
                <a:solidFill>
                  <a:srgbClr val="111111"/>
                </a:solidFill>
                <a:effectLst/>
                <a:uFillTx/>
                <a:latin typeface="Arial"/>
              </a:rPr>
              <a:t>proposée</a:t>
            </a:r>
            <a:endParaRPr lang="fr-FR" sz="34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1" name="object 3"/>
          <p:cNvSpPr/>
          <p:nvPr/>
        </p:nvSpPr>
        <p:spPr>
          <a:xfrm>
            <a:off x="2172600" y="1708920"/>
            <a:ext cx="4710960" cy="3269520"/>
          </a:xfrm>
          <a:custGeom>
            <a:avLst/>
            <a:gdLst>
              <a:gd name="textAreaLeft" fmla="*/ 0 w 4710960"/>
              <a:gd name="textAreaRight" fmla="*/ 4711680 w 4710960"/>
              <a:gd name="textAreaTop" fmla="*/ 0 h 3269520"/>
              <a:gd name="textAreaBottom" fmla="*/ 3270240 h 3269520"/>
            </a:gdLst>
            <a:ahLst/>
            <a:cxnLst/>
            <a:rect l="textAreaLeft" t="textAreaTop" r="textAreaRight" b="textAreaBottom"/>
            <a:pathLst>
              <a:path w="4711700" h="3270250">
                <a:moveTo>
                  <a:pt x="94581" y="9007"/>
                </a:moveTo>
                <a:lnTo>
                  <a:pt x="67558" y="9007"/>
                </a:lnTo>
                <a:lnTo>
                  <a:pt x="67558" y="0"/>
                </a:lnTo>
                <a:lnTo>
                  <a:pt x="94581" y="0"/>
                </a:lnTo>
                <a:lnTo>
                  <a:pt x="94581" y="9007"/>
                </a:lnTo>
                <a:close/>
              </a:path>
              <a:path w="4711700" h="3270250">
                <a:moveTo>
                  <a:pt x="157636" y="9007"/>
                </a:moveTo>
                <a:lnTo>
                  <a:pt x="130612" y="9007"/>
                </a:lnTo>
                <a:lnTo>
                  <a:pt x="130612" y="0"/>
                </a:lnTo>
                <a:lnTo>
                  <a:pt x="157636" y="0"/>
                </a:lnTo>
                <a:lnTo>
                  <a:pt x="157636" y="9007"/>
                </a:lnTo>
                <a:close/>
              </a:path>
              <a:path w="4711700" h="3270250">
                <a:moveTo>
                  <a:pt x="220690" y="9007"/>
                </a:moveTo>
                <a:lnTo>
                  <a:pt x="193667" y="9007"/>
                </a:lnTo>
                <a:lnTo>
                  <a:pt x="193667" y="0"/>
                </a:lnTo>
                <a:lnTo>
                  <a:pt x="220690" y="0"/>
                </a:lnTo>
                <a:lnTo>
                  <a:pt x="220690" y="9007"/>
                </a:lnTo>
                <a:close/>
              </a:path>
              <a:path w="4711700" h="3270250">
                <a:moveTo>
                  <a:pt x="283745" y="9007"/>
                </a:moveTo>
                <a:lnTo>
                  <a:pt x="256721" y="9007"/>
                </a:lnTo>
                <a:lnTo>
                  <a:pt x="256721" y="0"/>
                </a:lnTo>
                <a:lnTo>
                  <a:pt x="283745" y="0"/>
                </a:lnTo>
                <a:lnTo>
                  <a:pt x="283745" y="9007"/>
                </a:lnTo>
                <a:close/>
              </a:path>
              <a:path w="4711700" h="3270250">
                <a:moveTo>
                  <a:pt x="346799" y="9007"/>
                </a:moveTo>
                <a:lnTo>
                  <a:pt x="319776" y="9007"/>
                </a:lnTo>
                <a:lnTo>
                  <a:pt x="319776" y="0"/>
                </a:lnTo>
                <a:lnTo>
                  <a:pt x="346799" y="0"/>
                </a:lnTo>
                <a:lnTo>
                  <a:pt x="346799" y="9007"/>
                </a:lnTo>
                <a:close/>
              </a:path>
              <a:path w="4711700" h="3270250">
                <a:moveTo>
                  <a:pt x="409854" y="9007"/>
                </a:moveTo>
                <a:lnTo>
                  <a:pt x="382831" y="9007"/>
                </a:lnTo>
                <a:lnTo>
                  <a:pt x="382831" y="0"/>
                </a:lnTo>
                <a:lnTo>
                  <a:pt x="409854" y="0"/>
                </a:lnTo>
                <a:lnTo>
                  <a:pt x="409854" y="9007"/>
                </a:lnTo>
                <a:close/>
              </a:path>
              <a:path w="4711700" h="3270250">
                <a:moveTo>
                  <a:pt x="472908" y="9007"/>
                </a:moveTo>
                <a:lnTo>
                  <a:pt x="445885" y="9007"/>
                </a:lnTo>
                <a:lnTo>
                  <a:pt x="445885" y="0"/>
                </a:lnTo>
                <a:lnTo>
                  <a:pt x="472908" y="0"/>
                </a:lnTo>
                <a:lnTo>
                  <a:pt x="472908" y="9007"/>
                </a:lnTo>
                <a:close/>
              </a:path>
              <a:path w="4711700" h="3270250">
                <a:moveTo>
                  <a:pt x="535963" y="9007"/>
                </a:moveTo>
                <a:lnTo>
                  <a:pt x="508940" y="9007"/>
                </a:lnTo>
                <a:lnTo>
                  <a:pt x="508940" y="0"/>
                </a:lnTo>
                <a:lnTo>
                  <a:pt x="535963" y="0"/>
                </a:lnTo>
                <a:lnTo>
                  <a:pt x="535963" y="9007"/>
                </a:lnTo>
                <a:close/>
              </a:path>
              <a:path w="4711700" h="3270250">
                <a:moveTo>
                  <a:pt x="599017" y="9007"/>
                </a:moveTo>
                <a:lnTo>
                  <a:pt x="571994" y="9007"/>
                </a:lnTo>
                <a:lnTo>
                  <a:pt x="571994" y="0"/>
                </a:lnTo>
                <a:lnTo>
                  <a:pt x="599017" y="0"/>
                </a:lnTo>
                <a:lnTo>
                  <a:pt x="599017" y="9007"/>
                </a:lnTo>
                <a:close/>
              </a:path>
              <a:path w="4711700" h="3270250">
                <a:moveTo>
                  <a:pt x="662072" y="9007"/>
                </a:moveTo>
                <a:lnTo>
                  <a:pt x="635049" y="9007"/>
                </a:lnTo>
                <a:lnTo>
                  <a:pt x="635049" y="0"/>
                </a:lnTo>
                <a:lnTo>
                  <a:pt x="662072" y="0"/>
                </a:lnTo>
                <a:lnTo>
                  <a:pt x="662072" y="9007"/>
                </a:lnTo>
                <a:close/>
              </a:path>
              <a:path w="4711700" h="3270250">
                <a:moveTo>
                  <a:pt x="725127" y="9007"/>
                </a:moveTo>
                <a:lnTo>
                  <a:pt x="698103" y="9007"/>
                </a:lnTo>
                <a:lnTo>
                  <a:pt x="698103" y="0"/>
                </a:lnTo>
                <a:lnTo>
                  <a:pt x="725127" y="0"/>
                </a:lnTo>
                <a:lnTo>
                  <a:pt x="725127" y="9007"/>
                </a:lnTo>
                <a:close/>
              </a:path>
              <a:path w="4711700" h="3270250">
                <a:moveTo>
                  <a:pt x="788181" y="9007"/>
                </a:moveTo>
                <a:lnTo>
                  <a:pt x="761158" y="9007"/>
                </a:lnTo>
                <a:lnTo>
                  <a:pt x="761158" y="0"/>
                </a:lnTo>
                <a:lnTo>
                  <a:pt x="788181" y="0"/>
                </a:lnTo>
                <a:lnTo>
                  <a:pt x="788181" y="9007"/>
                </a:lnTo>
                <a:close/>
              </a:path>
              <a:path w="4711700" h="3270250">
                <a:moveTo>
                  <a:pt x="851236" y="9007"/>
                </a:moveTo>
                <a:lnTo>
                  <a:pt x="824212" y="9007"/>
                </a:lnTo>
                <a:lnTo>
                  <a:pt x="824212" y="0"/>
                </a:lnTo>
                <a:lnTo>
                  <a:pt x="851236" y="0"/>
                </a:lnTo>
                <a:lnTo>
                  <a:pt x="851236" y="9007"/>
                </a:lnTo>
                <a:close/>
              </a:path>
              <a:path w="4711700" h="3270250">
                <a:moveTo>
                  <a:pt x="914290" y="9007"/>
                </a:moveTo>
                <a:lnTo>
                  <a:pt x="887267" y="9007"/>
                </a:lnTo>
                <a:lnTo>
                  <a:pt x="887267" y="0"/>
                </a:lnTo>
                <a:lnTo>
                  <a:pt x="914290" y="0"/>
                </a:lnTo>
                <a:lnTo>
                  <a:pt x="914290" y="9007"/>
                </a:lnTo>
                <a:close/>
              </a:path>
              <a:path w="4711700" h="3270250">
                <a:moveTo>
                  <a:pt x="977345" y="9007"/>
                </a:moveTo>
                <a:lnTo>
                  <a:pt x="950321" y="9007"/>
                </a:lnTo>
                <a:lnTo>
                  <a:pt x="950321" y="0"/>
                </a:lnTo>
                <a:lnTo>
                  <a:pt x="977345" y="0"/>
                </a:lnTo>
                <a:lnTo>
                  <a:pt x="977345" y="9007"/>
                </a:lnTo>
                <a:close/>
              </a:path>
              <a:path w="4711700" h="3270250">
                <a:moveTo>
                  <a:pt x="1040399" y="9007"/>
                </a:moveTo>
                <a:lnTo>
                  <a:pt x="1013376" y="9007"/>
                </a:lnTo>
                <a:lnTo>
                  <a:pt x="1013376" y="0"/>
                </a:lnTo>
                <a:lnTo>
                  <a:pt x="1040399" y="0"/>
                </a:lnTo>
                <a:lnTo>
                  <a:pt x="1040399" y="9007"/>
                </a:lnTo>
                <a:close/>
              </a:path>
              <a:path w="4711700" h="3270250">
                <a:moveTo>
                  <a:pt x="1103454" y="9007"/>
                </a:moveTo>
                <a:lnTo>
                  <a:pt x="1076430" y="9007"/>
                </a:lnTo>
                <a:lnTo>
                  <a:pt x="1076430" y="0"/>
                </a:lnTo>
                <a:lnTo>
                  <a:pt x="1103454" y="0"/>
                </a:lnTo>
                <a:lnTo>
                  <a:pt x="1103454" y="9007"/>
                </a:lnTo>
                <a:close/>
              </a:path>
              <a:path w="4711700" h="3270250">
                <a:moveTo>
                  <a:pt x="1166508" y="9007"/>
                </a:moveTo>
                <a:lnTo>
                  <a:pt x="1139485" y="9007"/>
                </a:lnTo>
                <a:lnTo>
                  <a:pt x="1139485" y="0"/>
                </a:lnTo>
                <a:lnTo>
                  <a:pt x="1166508" y="0"/>
                </a:lnTo>
                <a:lnTo>
                  <a:pt x="1166508" y="9007"/>
                </a:lnTo>
                <a:close/>
              </a:path>
              <a:path w="4711700" h="3270250">
                <a:moveTo>
                  <a:pt x="1229563" y="9007"/>
                </a:moveTo>
                <a:lnTo>
                  <a:pt x="1202539" y="9007"/>
                </a:lnTo>
                <a:lnTo>
                  <a:pt x="1202539" y="0"/>
                </a:lnTo>
                <a:lnTo>
                  <a:pt x="1229563" y="0"/>
                </a:lnTo>
                <a:lnTo>
                  <a:pt x="1229563" y="9007"/>
                </a:lnTo>
                <a:close/>
              </a:path>
              <a:path w="4711700" h="3270250">
                <a:moveTo>
                  <a:pt x="1292617" y="9007"/>
                </a:moveTo>
                <a:lnTo>
                  <a:pt x="1265594" y="9007"/>
                </a:lnTo>
                <a:lnTo>
                  <a:pt x="1265594" y="0"/>
                </a:lnTo>
                <a:lnTo>
                  <a:pt x="1292617" y="0"/>
                </a:lnTo>
                <a:lnTo>
                  <a:pt x="1292617" y="9007"/>
                </a:lnTo>
                <a:close/>
              </a:path>
              <a:path w="4711700" h="3270250">
                <a:moveTo>
                  <a:pt x="1355672" y="9007"/>
                </a:moveTo>
                <a:lnTo>
                  <a:pt x="1328648" y="9007"/>
                </a:lnTo>
                <a:lnTo>
                  <a:pt x="1328648" y="0"/>
                </a:lnTo>
                <a:lnTo>
                  <a:pt x="1355672" y="0"/>
                </a:lnTo>
                <a:lnTo>
                  <a:pt x="1355672" y="9007"/>
                </a:lnTo>
                <a:close/>
              </a:path>
              <a:path w="4711700" h="3270250">
                <a:moveTo>
                  <a:pt x="1418726" y="9007"/>
                </a:moveTo>
                <a:lnTo>
                  <a:pt x="1391703" y="9007"/>
                </a:lnTo>
                <a:lnTo>
                  <a:pt x="1391703" y="0"/>
                </a:lnTo>
                <a:lnTo>
                  <a:pt x="1418726" y="0"/>
                </a:lnTo>
                <a:lnTo>
                  <a:pt x="1418726" y="9007"/>
                </a:lnTo>
                <a:close/>
              </a:path>
              <a:path w="4711700" h="3270250">
                <a:moveTo>
                  <a:pt x="1481781" y="9007"/>
                </a:moveTo>
                <a:lnTo>
                  <a:pt x="1454757" y="9007"/>
                </a:lnTo>
                <a:lnTo>
                  <a:pt x="1454757" y="0"/>
                </a:lnTo>
                <a:lnTo>
                  <a:pt x="1481781" y="0"/>
                </a:lnTo>
                <a:lnTo>
                  <a:pt x="1481781" y="9007"/>
                </a:lnTo>
                <a:close/>
              </a:path>
              <a:path w="4711700" h="3270250">
                <a:moveTo>
                  <a:pt x="1544835" y="9007"/>
                </a:moveTo>
                <a:lnTo>
                  <a:pt x="1517812" y="9007"/>
                </a:lnTo>
                <a:lnTo>
                  <a:pt x="1517812" y="0"/>
                </a:lnTo>
                <a:lnTo>
                  <a:pt x="1544835" y="0"/>
                </a:lnTo>
                <a:lnTo>
                  <a:pt x="1544835" y="9007"/>
                </a:lnTo>
                <a:close/>
              </a:path>
              <a:path w="4711700" h="3270250">
                <a:moveTo>
                  <a:pt x="1607890" y="9007"/>
                </a:moveTo>
                <a:lnTo>
                  <a:pt x="1580866" y="9007"/>
                </a:lnTo>
                <a:lnTo>
                  <a:pt x="1580866" y="0"/>
                </a:lnTo>
                <a:lnTo>
                  <a:pt x="1607890" y="0"/>
                </a:lnTo>
                <a:lnTo>
                  <a:pt x="1607890" y="9007"/>
                </a:lnTo>
                <a:close/>
              </a:path>
              <a:path w="4711700" h="3270250">
                <a:moveTo>
                  <a:pt x="1670944" y="9007"/>
                </a:moveTo>
                <a:lnTo>
                  <a:pt x="1643921" y="9007"/>
                </a:lnTo>
                <a:lnTo>
                  <a:pt x="1643921" y="0"/>
                </a:lnTo>
                <a:lnTo>
                  <a:pt x="1670944" y="0"/>
                </a:lnTo>
                <a:lnTo>
                  <a:pt x="1670944" y="9007"/>
                </a:lnTo>
                <a:close/>
              </a:path>
              <a:path w="4711700" h="3270250">
                <a:moveTo>
                  <a:pt x="1733999" y="9007"/>
                </a:moveTo>
                <a:lnTo>
                  <a:pt x="1706976" y="9007"/>
                </a:lnTo>
                <a:lnTo>
                  <a:pt x="1706976" y="0"/>
                </a:lnTo>
                <a:lnTo>
                  <a:pt x="1733999" y="0"/>
                </a:lnTo>
                <a:lnTo>
                  <a:pt x="1733999" y="9007"/>
                </a:lnTo>
                <a:close/>
              </a:path>
              <a:path w="4711700" h="3270250">
                <a:moveTo>
                  <a:pt x="1797053" y="9007"/>
                </a:moveTo>
                <a:lnTo>
                  <a:pt x="1770030" y="9007"/>
                </a:lnTo>
                <a:lnTo>
                  <a:pt x="1770030" y="0"/>
                </a:lnTo>
                <a:lnTo>
                  <a:pt x="1797053" y="0"/>
                </a:lnTo>
                <a:lnTo>
                  <a:pt x="1797053" y="9007"/>
                </a:lnTo>
                <a:close/>
              </a:path>
              <a:path w="4711700" h="3270250">
                <a:moveTo>
                  <a:pt x="1860108" y="9007"/>
                </a:moveTo>
                <a:lnTo>
                  <a:pt x="1833085" y="9007"/>
                </a:lnTo>
                <a:lnTo>
                  <a:pt x="1833085" y="0"/>
                </a:lnTo>
                <a:lnTo>
                  <a:pt x="1860108" y="0"/>
                </a:lnTo>
                <a:lnTo>
                  <a:pt x="1860108" y="9007"/>
                </a:lnTo>
                <a:close/>
              </a:path>
              <a:path w="4711700" h="3270250">
                <a:moveTo>
                  <a:pt x="1923162" y="9007"/>
                </a:moveTo>
                <a:lnTo>
                  <a:pt x="1896139" y="9007"/>
                </a:lnTo>
                <a:lnTo>
                  <a:pt x="1896139" y="0"/>
                </a:lnTo>
                <a:lnTo>
                  <a:pt x="1923162" y="0"/>
                </a:lnTo>
                <a:lnTo>
                  <a:pt x="1923162" y="9007"/>
                </a:lnTo>
                <a:close/>
              </a:path>
              <a:path w="4711700" h="3270250">
                <a:moveTo>
                  <a:pt x="1986217" y="9007"/>
                </a:moveTo>
                <a:lnTo>
                  <a:pt x="1959194" y="9007"/>
                </a:lnTo>
                <a:lnTo>
                  <a:pt x="1959194" y="0"/>
                </a:lnTo>
                <a:lnTo>
                  <a:pt x="1986217" y="0"/>
                </a:lnTo>
                <a:lnTo>
                  <a:pt x="1986217" y="9007"/>
                </a:lnTo>
                <a:close/>
              </a:path>
              <a:path w="4711700" h="3270250">
                <a:moveTo>
                  <a:pt x="2049272" y="9007"/>
                </a:moveTo>
                <a:lnTo>
                  <a:pt x="2022248" y="9007"/>
                </a:lnTo>
                <a:lnTo>
                  <a:pt x="2022248" y="0"/>
                </a:lnTo>
                <a:lnTo>
                  <a:pt x="2049272" y="0"/>
                </a:lnTo>
                <a:lnTo>
                  <a:pt x="2049272" y="9007"/>
                </a:lnTo>
                <a:close/>
              </a:path>
              <a:path w="4711700" h="3270250">
                <a:moveTo>
                  <a:pt x="2112326" y="9007"/>
                </a:moveTo>
                <a:lnTo>
                  <a:pt x="2085303" y="9007"/>
                </a:lnTo>
                <a:lnTo>
                  <a:pt x="2085303" y="0"/>
                </a:lnTo>
                <a:lnTo>
                  <a:pt x="2112326" y="0"/>
                </a:lnTo>
                <a:lnTo>
                  <a:pt x="2112326" y="9007"/>
                </a:lnTo>
                <a:close/>
              </a:path>
              <a:path w="4711700" h="3270250">
                <a:moveTo>
                  <a:pt x="2175381" y="9007"/>
                </a:moveTo>
                <a:lnTo>
                  <a:pt x="2148357" y="9007"/>
                </a:lnTo>
                <a:lnTo>
                  <a:pt x="2148357" y="0"/>
                </a:lnTo>
                <a:lnTo>
                  <a:pt x="2175381" y="0"/>
                </a:lnTo>
                <a:lnTo>
                  <a:pt x="2175381" y="9007"/>
                </a:lnTo>
                <a:close/>
              </a:path>
              <a:path w="4711700" h="3270250">
                <a:moveTo>
                  <a:pt x="2238435" y="9007"/>
                </a:moveTo>
                <a:lnTo>
                  <a:pt x="2211412" y="9007"/>
                </a:lnTo>
                <a:lnTo>
                  <a:pt x="2211412" y="0"/>
                </a:lnTo>
                <a:lnTo>
                  <a:pt x="2238435" y="0"/>
                </a:lnTo>
                <a:lnTo>
                  <a:pt x="2238435" y="9007"/>
                </a:lnTo>
                <a:close/>
              </a:path>
              <a:path w="4711700" h="3270250">
                <a:moveTo>
                  <a:pt x="2301490" y="9007"/>
                </a:moveTo>
                <a:lnTo>
                  <a:pt x="2274466" y="9007"/>
                </a:lnTo>
                <a:lnTo>
                  <a:pt x="2274466" y="0"/>
                </a:lnTo>
                <a:lnTo>
                  <a:pt x="2301490" y="0"/>
                </a:lnTo>
                <a:lnTo>
                  <a:pt x="2301490" y="9007"/>
                </a:lnTo>
                <a:close/>
              </a:path>
              <a:path w="4711700" h="3270250">
                <a:moveTo>
                  <a:pt x="2364544" y="9007"/>
                </a:moveTo>
                <a:lnTo>
                  <a:pt x="2337521" y="9007"/>
                </a:lnTo>
                <a:lnTo>
                  <a:pt x="2337521" y="0"/>
                </a:lnTo>
                <a:lnTo>
                  <a:pt x="2364544" y="0"/>
                </a:lnTo>
                <a:lnTo>
                  <a:pt x="2364544" y="9007"/>
                </a:lnTo>
                <a:close/>
              </a:path>
              <a:path w="4711700" h="3270250">
                <a:moveTo>
                  <a:pt x="2427599" y="9007"/>
                </a:moveTo>
                <a:lnTo>
                  <a:pt x="2400575" y="9007"/>
                </a:lnTo>
                <a:lnTo>
                  <a:pt x="2400575" y="0"/>
                </a:lnTo>
                <a:lnTo>
                  <a:pt x="2427599" y="0"/>
                </a:lnTo>
                <a:lnTo>
                  <a:pt x="2427599" y="9007"/>
                </a:lnTo>
                <a:close/>
              </a:path>
              <a:path w="4711700" h="3270250">
                <a:moveTo>
                  <a:pt x="2490653" y="9007"/>
                </a:moveTo>
                <a:lnTo>
                  <a:pt x="2463630" y="9007"/>
                </a:lnTo>
                <a:lnTo>
                  <a:pt x="2463630" y="0"/>
                </a:lnTo>
                <a:lnTo>
                  <a:pt x="2490653" y="0"/>
                </a:lnTo>
                <a:lnTo>
                  <a:pt x="2490653" y="9007"/>
                </a:lnTo>
                <a:close/>
              </a:path>
              <a:path w="4711700" h="3270250">
                <a:moveTo>
                  <a:pt x="2553708" y="9007"/>
                </a:moveTo>
                <a:lnTo>
                  <a:pt x="2526684" y="9007"/>
                </a:lnTo>
                <a:lnTo>
                  <a:pt x="2526684" y="0"/>
                </a:lnTo>
                <a:lnTo>
                  <a:pt x="2553708" y="0"/>
                </a:lnTo>
                <a:lnTo>
                  <a:pt x="2553708" y="9007"/>
                </a:lnTo>
                <a:close/>
              </a:path>
              <a:path w="4711700" h="3270250">
                <a:moveTo>
                  <a:pt x="2616762" y="9007"/>
                </a:moveTo>
                <a:lnTo>
                  <a:pt x="2589739" y="9007"/>
                </a:lnTo>
                <a:lnTo>
                  <a:pt x="2589739" y="0"/>
                </a:lnTo>
                <a:lnTo>
                  <a:pt x="2616762" y="0"/>
                </a:lnTo>
                <a:lnTo>
                  <a:pt x="2616762" y="9007"/>
                </a:lnTo>
                <a:close/>
              </a:path>
              <a:path w="4711700" h="3270250">
                <a:moveTo>
                  <a:pt x="2679817" y="9007"/>
                </a:moveTo>
                <a:lnTo>
                  <a:pt x="2652793" y="9007"/>
                </a:lnTo>
                <a:lnTo>
                  <a:pt x="2652793" y="0"/>
                </a:lnTo>
                <a:lnTo>
                  <a:pt x="2679817" y="0"/>
                </a:lnTo>
                <a:lnTo>
                  <a:pt x="2679817" y="9007"/>
                </a:lnTo>
                <a:close/>
              </a:path>
              <a:path w="4711700" h="3270250">
                <a:moveTo>
                  <a:pt x="2742871" y="9007"/>
                </a:moveTo>
                <a:lnTo>
                  <a:pt x="2715848" y="9007"/>
                </a:lnTo>
                <a:lnTo>
                  <a:pt x="2715848" y="0"/>
                </a:lnTo>
                <a:lnTo>
                  <a:pt x="2742871" y="0"/>
                </a:lnTo>
                <a:lnTo>
                  <a:pt x="2742871" y="9007"/>
                </a:lnTo>
                <a:close/>
              </a:path>
              <a:path w="4711700" h="3270250">
                <a:moveTo>
                  <a:pt x="2805926" y="9007"/>
                </a:moveTo>
                <a:lnTo>
                  <a:pt x="2778902" y="9007"/>
                </a:lnTo>
                <a:lnTo>
                  <a:pt x="2778902" y="0"/>
                </a:lnTo>
                <a:lnTo>
                  <a:pt x="2805926" y="0"/>
                </a:lnTo>
                <a:lnTo>
                  <a:pt x="2805926" y="9007"/>
                </a:lnTo>
                <a:close/>
              </a:path>
              <a:path w="4711700" h="3270250">
                <a:moveTo>
                  <a:pt x="2868980" y="9007"/>
                </a:moveTo>
                <a:lnTo>
                  <a:pt x="2841957" y="9007"/>
                </a:lnTo>
                <a:lnTo>
                  <a:pt x="2841957" y="0"/>
                </a:lnTo>
                <a:lnTo>
                  <a:pt x="2868980" y="0"/>
                </a:lnTo>
                <a:lnTo>
                  <a:pt x="2868980" y="9007"/>
                </a:lnTo>
                <a:close/>
              </a:path>
              <a:path w="4711700" h="3270250">
                <a:moveTo>
                  <a:pt x="2932035" y="9007"/>
                </a:moveTo>
                <a:lnTo>
                  <a:pt x="2905011" y="9007"/>
                </a:lnTo>
                <a:lnTo>
                  <a:pt x="2905011" y="0"/>
                </a:lnTo>
                <a:lnTo>
                  <a:pt x="2932035" y="0"/>
                </a:lnTo>
                <a:lnTo>
                  <a:pt x="2932035" y="9007"/>
                </a:lnTo>
                <a:close/>
              </a:path>
              <a:path w="4711700" h="3270250">
                <a:moveTo>
                  <a:pt x="2995089" y="9007"/>
                </a:moveTo>
                <a:lnTo>
                  <a:pt x="2968066" y="9007"/>
                </a:lnTo>
                <a:lnTo>
                  <a:pt x="2968066" y="0"/>
                </a:lnTo>
                <a:lnTo>
                  <a:pt x="2995089" y="0"/>
                </a:lnTo>
                <a:lnTo>
                  <a:pt x="2995089" y="9007"/>
                </a:lnTo>
                <a:close/>
              </a:path>
              <a:path w="4711700" h="3270250">
                <a:moveTo>
                  <a:pt x="3058144" y="9007"/>
                </a:moveTo>
                <a:lnTo>
                  <a:pt x="3031121" y="9007"/>
                </a:lnTo>
                <a:lnTo>
                  <a:pt x="3031121" y="0"/>
                </a:lnTo>
                <a:lnTo>
                  <a:pt x="3058144" y="0"/>
                </a:lnTo>
                <a:lnTo>
                  <a:pt x="3058144" y="9007"/>
                </a:lnTo>
                <a:close/>
              </a:path>
              <a:path w="4711700" h="3270250">
                <a:moveTo>
                  <a:pt x="3121198" y="9007"/>
                </a:moveTo>
                <a:lnTo>
                  <a:pt x="3094175" y="9007"/>
                </a:lnTo>
                <a:lnTo>
                  <a:pt x="3094175" y="0"/>
                </a:lnTo>
                <a:lnTo>
                  <a:pt x="3121198" y="0"/>
                </a:lnTo>
                <a:lnTo>
                  <a:pt x="3121198" y="9007"/>
                </a:lnTo>
                <a:close/>
              </a:path>
              <a:path w="4711700" h="3270250">
                <a:moveTo>
                  <a:pt x="3184253" y="9007"/>
                </a:moveTo>
                <a:lnTo>
                  <a:pt x="3157230" y="9007"/>
                </a:lnTo>
                <a:lnTo>
                  <a:pt x="3157230" y="0"/>
                </a:lnTo>
                <a:lnTo>
                  <a:pt x="3184253" y="0"/>
                </a:lnTo>
                <a:lnTo>
                  <a:pt x="3184253" y="9007"/>
                </a:lnTo>
                <a:close/>
              </a:path>
              <a:path w="4711700" h="3270250">
                <a:moveTo>
                  <a:pt x="3247307" y="9007"/>
                </a:moveTo>
                <a:lnTo>
                  <a:pt x="3220284" y="9007"/>
                </a:lnTo>
                <a:lnTo>
                  <a:pt x="3220284" y="0"/>
                </a:lnTo>
                <a:lnTo>
                  <a:pt x="3247307" y="0"/>
                </a:lnTo>
                <a:lnTo>
                  <a:pt x="3247307" y="9007"/>
                </a:lnTo>
                <a:close/>
              </a:path>
              <a:path w="4711700" h="3270250">
                <a:moveTo>
                  <a:pt x="3310362" y="9007"/>
                </a:moveTo>
                <a:lnTo>
                  <a:pt x="3283339" y="9007"/>
                </a:lnTo>
                <a:lnTo>
                  <a:pt x="3283339" y="0"/>
                </a:lnTo>
                <a:lnTo>
                  <a:pt x="3310362" y="0"/>
                </a:lnTo>
                <a:lnTo>
                  <a:pt x="3310362" y="9007"/>
                </a:lnTo>
                <a:close/>
              </a:path>
              <a:path w="4711700" h="3270250">
                <a:moveTo>
                  <a:pt x="3373417" y="9007"/>
                </a:moveTo>
                <a:lnTo>
                  <a:pt x="3346393" y="9007"/>
                </a:lnTo>
                <a:lnTo>
                  <a:pt x="3346393" y="0"/>
                </a:lnTo>
                <a:lnTo>
                  <a:pt x="3373417" y="0"/>
                </a:lnTo>
                <a:lnTo>
                  <a:pt x="3373417" y="9007"/>
                </a:lnTo>
                <a:close/>
              </a:path>
              <a:path w="4711700" h="3270250">
                <a:moveTo>
                  <a:pt x="3436471" y="9007"/>
                </a:moveTo>
                <a:lnTo>
                  <a:pt x="3409448" y="9007"/>
                </a:lnTo>
                <a:lnTo>
                  <a:pt x="3409448" y="0"/>
                </a:lnTo>
                <a:lnTo>
                  <a:pt x="3436471" y="0"/>
                </a:lnTo>
                <a:lnTo>
                  <a:pt x="3436471" y="9007"/>
                </a:lnTo>
                <a:close/>
              </a:path>
              <a:path w="4711700" h="3270250">
                <a:moveTo>
                  <a:pt x="3499526" y="9007"/>
                </a:moveTo>
                <a:lnTo>
                  <a:pt x="3472502" y="9007"/>
                </a:lnTo>
                <a:lnTo>
                  <a:pt x="3472502" y="0"/>
                </a:lnTo>
                <a:lnTo>
                  <a:pt x="3499526" y="0"/>
                </a:lnTo>
                <a:lnTo>
                  <a:pt x="3499526" y="9007"/>
                </a:lnTo>
                <a:close/>
              </a:path>
              <a:path w="4711700" h="3270250">
                <a:moveTo>
                  <a:pt x="3562580" y="9007"/>
                </a:moveTo>
                <a:lnTo>
                  <a:pt x="3535557" y="9007"/>
                </a:lnTo>
                <a:lnTo>
                  <a:pt x="3535557" y="0"/>
                </a:lnTo>
                <a:lnTo>
                  <a:pt x="3562580" y="0"/>
                </a:lnTo>
                <a:lnTo>
                  <a:pt x="3562580" y="9007"/>
                </a:lnTo>
                <a:close/>
              </a:path>
              <a:path w="4711700" h="3270250">
                <a:moveTo>
                  <a:pt x="3625635" y="9007"/>
                </a:moveTo>
                <a:lnTo>
                  <a:pt x="3598611" y="9007"/>
                </a:lnTo>
                <a:lnTo>
                  <a:pt x="3598611" y="0"/>
                </a:lnTo>
                <a:lnTo>
                  <a:pt x="3625635" y="0"/>
                </a:lnTo>
                <a:lnTo>
                  <a:pt x="3625635" y="9007"/>
                </a:lnTo>
                <a:close/>
              </a:path>
              <a:path w="4711700" h="3270250">
                <a:moveTo>
                  <a:pt x="3688689" y="9007"/>
                </a:moveTo>
                <a:lnTo>
                  <a:pt x="3661666" y="9007"/>
                </a:lnTo>
                <a:lnTo>
                  <a:pt x="3661666" y="0"/>
                </a:lnTo>
                <a:lnTo>
                  <a:pt x="3688689" y="0"/>
                </a:lnTo>
                <a:lnTo>
                  <a:pt x="3688689" y="9007"/>
                </a:lnTo>
                <a:close/>
              </a:path>
              <a:path w="4711700" h="3270250">
                <a:moveTo>
                  <a:pt x="3751744" y="9007"/>
                </a:moveTo>
                <a:lnTo>
                  <a:pt x="3724720" y="9007"/>
                </a:lnTo>
                <a:lnTo>
                  <a:pt x="3724720" y="0"/>
                </a:lnTo>
                <a:lnTo>
                  <a:pt x="3751744" y="0"/>
                </a:lnTo>
                <a:lnTo>
                  <a:pt x="3751744" y="9007"/>
                </a:lnTo>
                <a:close/>
              </a:path>
              <a:path w="4711700" h="3270250">
                <a:moveTo>
                  <a:pt x="3814798" y="9007"/>
                </a:moveTo>
                <a:lnTo>
                  <a:pt x="3787775" y="9007"/>
                </a:lnTo>
                <a:lnTo>
                  <a:pt x="3787775" y="0"/>
                </a:lnTo>
                <a:lnTo>
                  <a:pt x="3814798" y="0"/>
                </a:lnTo>
                <a:lnTo>
                  <a:pt x="3814798" y="9007"/>
                </a:lnTo>
                <a:close/>
              </a:path>
              <a:path w="4711700" h="3270250">
                <a:moveTo>
                  <a:pt x="3877853" y="9007"/>
                </a:moveTo>
                <a:lnTo>
                  <a:pt x="3850829" y="9007"/>
                </a:lnTo>
                <a:lnTo>
                  <a:pt x="3850829" y="0"/>
                </a:lnTo>
                <a:lnTo>
                  <a:pt x="3877853" y="0"/>
                </a:lnTo>
                <a:lnTo>
                  <a:pt x="3877853" y="9007"/>
                </a:lnTo>
                <a:close/>
              </a:path>
              <a:path w="4711700" h="3270250">
                <a:moveTo>
                  <a:pt x="3940907" y="9007"/>
                </a:moveTo>
                <a:lnTo>
                  <a:pt x="3913884" y="9007"/>
                </a:lnTo>
                <a:lnTo>
                  <a:pt x="3913884" y="0"/>
                </a:lnTo>
                <a:lnTo>
                  <a:pt x="3940907" y="0"/>
                </a:lnTo>
                <a:lnTo>
                  <a:pt x="3940907" y="9007"/>
                </a:lnTo>
                <a:close/>
              </a:path>
              <a:path w="4711700" h="3270250">
                <a:moveTo>
                  <a:pt x="4003962" y="9007"/>
                </a:moveTo>
                <a:lnTo>
                  <a:pt x="3976938" y="9007"/>
                </a:lnTo>
                <a:lnTo>
                  <a:pt x="3976938" y="0"/>
                </a:lnTo>
                <a:lnTo>
                  <a:pt x="4003962" y="0"/>
                </a:lnTo>
                <a:lnTo>
                  <a:pt x="4003962" y="9007"/>
                </a:lnTo>
                <a:close/>
              </a:path>
              <a:path w="4711700" h="3270250">
                <a:moveTo>
                  <a:pt x="4067016" y="9007"/>
                </a:moveTo>
                <a:lnTo>
                  <a:pt x="4039993" y="9007"/>
                </a:lnTo>
                <a:lnTo>
                  <a:pt x="4039993" y="0"/>
                </a:lnTo>
                <a:lnTo>
                  <a:pt x="4067016" y="0"/>
                </a:lnTo>
                <a:lnTo>
                  <a:pt x="4067016" y="9007"/>
                </a:lnTo>
                <a:close/>
              </a:path>
              <a:path w="4711700" h="3270250">
                <a:moveTo>
                  <a:pt x="4130071" y="9007"/>
                </a:moveTo>
                <a:lnTo>
                  <a:pt x="4103047" y="9007"/>
                </a:lnTo>
                <a:lnTo>
                  <a:pt x="4103047" y="0"/>
                </a:lnTo>
                <a:lnTo>
                  <a:pt x="4130071" y="0"/>
                </a:lnTo>
                <a:lnTo>
                  <a:pt x="4130071" y="9007"/>
                </a:lnTo>
                <a:close/>
              </a:path>
              <a:path w="4711700" h="3270250">
                <a:moveTo>
                  <a:pt x="4193125" y="9007"/>
                </a:moveTo>
                <a:lnTo>
                  <a:pt x="4166102" y="9007"/>
                </a:lnTo>
                <a:lnTo>
                  <a:pt x="4166102" y="0"/>
                </a:lnTo>
                <a:lnTo>
                  <a:pt x="4193125" y="0"/>
                </a:lnTo>
                <a:lnTo>
                  <a:pt x="4193125" y="9007"/>
                </a:lnTo>
                <a:close/>
              </a:path>
              <a:path w="4711700" h="3270250">
                <a:moveTo>
                  <a:pt x="4256180" y="9007"/>
                </a:moveTo>
                <a:lnTo>
                  <a:pt x="4229156" y="9007"/>
                </a:lnTo>
                <a:lnTo>
                  <a:pt x="4229156" y="0"/>
                </a:lnTo>
                <a:lnTo>
                  <a:pt x="4256180" y="0"/>
                </a:lnTo>
                <a:lnTo>
                  <a:pt x="4256180" y="9007"/>
                </a:lnTo>
                <a:close/>
              </a:path>
              <a:path w="4711700" h="3270250">
                <a:moveTo>
                  <a:pt x="4319234" y="9007"/>
                </a:moveTo>
                <a:lnTo>
                  <a:pt x="4292211" y="9007"/>
                </a:lnTo>
                <a:lnTo>
                  <a:pt x="4292211" y="0"/>
                </a:lnTo>
                <a:lnTo>
                  <a:pt x="4319234" y="0"/>
                </a:lnTo>
                <a:lnTo>
                  <a:pt x="4319234" y="9007"/>
                </a:lnTo>
                <a:close/>
              </a:path>
              <a:path w="4711700" h="3270250">
                <a:moveTo>
                  <a:pt x="4382289" y="9007"/>
                </a:moveTo>
                <a:lnTo>
                  <a:pt x="4355266" y="9007"/>
                </a:lnTo>
                <a:lnTo>
                  <a:pt x="4355266" y="0"/>
                </a:lnTo>
                <a:lnTo>
                  <a:pt x="4382289" y="0"/>
                </a:lnTo>
                <a:lnTo>
                  <a:pt x="4382289" y="9007"/>
                </a:lnTo>
                <a:close/>
              </a:path>
              <a:path w="4711700" h="3270250">
                <a:moveTo>
                  <a:pt x="4445343" y="9007"/>
                </a:moveTo>
                <a:lnTo>
                  <a:pt x="4418320" y="9007"/>
                </a:lnTo>
                <a:lnTo>
                  <a:pt x="4418320" y="0"/>
                </a:lnTo>
                <a:lnTo>
                  <a:pt x="4445343" y="0"/>
                </a:lnTo>
                <a:lnTo>
                  <a:pt x="4445343" y="9007"/>
                </a:lnTo>
                <a:close/>
              </a:path>
              <a:path w="4711700" h="3270250">
                <a:moveTo>
                  <a:pt x="4508398" y="9007"/>
                </a:moveTo>
                <a:lnTo>
                  <a:pt x="4481375" y="9007"/>
                </a:lnTo>
                <a:lnTo>
                  <a:pt x="4481375" y="0"/>
                </a:lnTo>
                <a:lnTo>
                  <a:pt x="4508398" y="0"/>
                </a:lnTo>
                <a:lnTo>
                  <a:pt x="4508398" y="9007"/>
                </a:lnTo>
                <a:close/>
              </a:path>
              <a:path w="4711700" h="3270250">
                <a:moveTo>
                  <a:pt x="4571452" y="9007"/>
                </a:moveTo>
                <a:lnTo>
                  <a:pt x="4544429" y="9007"/>
                </a:lnTo>
                <a:lnTo>
                  <a:pt x="4544429" y="0"/>
                </a:lnTo>
                <a:lnTo>
                  <a:pt x="4571452" y="0"/>
                </a:lnTo>
                <a:lnTo>
                  <a:pt x="4571452" y="9007"/>
                </a:lnTo>
                <a:close/>
              </a:path>
              <a:path w="4711700" h="3270250">
                <a:moveTo>
                  <a:pt x="4634507" y="9007"/>
                </a:moveTo>
                <a:lnTo>
                  <a:pt x="4607484" y="9007"/>
                </a:lnTo>
                <a:lnTo>
                  <a:pt x="4607484" y="0"/>
                </a:lnTo>
                <a:lnTo>
                  <a:pt x="4634507" y="0"/>
                </a:lnTo>
                <a:lnTo>
                  <a:pt x="4634507" y="9007"/>
                </a:lnTo>
                <a:close/>
              </a:path>
              <a:path w="4711700" h="3270250">
                <a:moveTo>
                  <a:pt x="4697562" y="9007"/>
                </a:moveTo>
                <a:lnTo>
                  <a:pt x="4670538" y="9007"/>
                </a:lnTo>
                <a:lnTo>
                  <a:pt x="4670538" y="0"/>
                </a:lnTo>
                <a:lnTo>
                  <a:pt x="4697562" y="0"/>
                </a:lnTo>
                <a:lnTo>
                  <a:pt x="4697562" y="9007"/>
                </a:lnTo>
                <a:close/>
              </a:path>
              <a:path w="4711700" h="3270250">
                <a:moveTo>
                  <a:pt x="4711073" y="58550"/>
                </a:moveTo>
                <a:lnTo>
                  <a:pt x="4702065" y="58550"/>
                </a:lnTo>
                <a:lnTo>
                  <a:pt x="4702065" y="31527"/>
                </a:lnTo>
                <a:lnTo>
                  <a:pt x="4711073" y="31527"/>
                </a:lnTo>
                <a:lnTo>
                  <a:pt x="4711073" y="58550"/>
                </a:lnTo>
                <a:close/>
              </a:path>
              <a:path w="4711700" h="3270250">
                <a:moveTo>
                  <a:pt x="4711073" y="121605"/>
                </a:moveTo>
                <a:lnTo>
                  <a:pt x="4702065" y="121605"/>
                </a:lnTo>
                <a:lnTo>
                  <a:pt x="4702065" y="94581"/>
                </a:lnTo>
                <a:lnTo>
                  <a:pt x="4711073" y="94581"/>
                </a:lnTo>
                <a:lnTo>
                  <a:pt x="4711073" y="121605"/>
                </a:lnTo>
                <a:close/>
              </a:path>
              <a:path w="4711700" h="3270250">
                <a:moveTo>
                  <a:pt x="4711073" y="184659"/>
                </a:moveTo>
                <a:lnTo>
                  <a:pt x="4702065" y="184659"/>
                </a:lnTo>
                <a:lnTo>
                  <a:pt x="4702065" y="157636"/>
                </a:lnTo>
                <a:lnTo>
                  <a:pt x="4711073" y="157636"/>
                </a:lnTo>
                <a:lnTo>
                  <a:pt x="4711073" y="184659"/>
                </a:lnTo>
                <a:close/>
              </a:path>
              <a:path w="4711700" h="3270250">
                <a:moveTo>
                  <a:pt x="4711073" y="247714"/>
                </a:moveTo>
                <a:lnTo>
                  <a:pt x="4702065" y="247714"/>
                </a:lnTo>
                <a:lnTo>
                  <a:pt x="4702065" y="220690"/>
                </a:lnTo>
                <a:lnTo>
                  <a:pt x="4711073" y="220690"/>
                </a:lnTo>
                <a:lnTo>
                  <a:pt x="4711073" y="247714"/>
                </a:lnTo>
                <a:close/>
              </a:path>
              <a:path w="4711700" h="3270250">
                <a:moveTo>
                  <a:pt x="4711073" y="310768"/>
                </a:moveTo>
                <a:lnTo>
                  <a:pt x="4702065" y="310768"/>
                </a:lnTo>
                <a:lnTo>
                  <a:pt x="4702065" y="283745"/>
                </a:lnTo>
                <a:lnTo>
                  <a:pt x="4711073" y="283745"/>
                </a:lnTo>
                <a:lnTo>
                  <a:pt x="4711073" y="310768"/>
                </a:lnTo>
                <a:close/>
              </a:path>
              <a:path w="4711700" h="3270250">
                <a:moveTo>
                  <a:pt x="4711073" y="373823"/>
                </a:moveTo>
                <a:lnTo>
                  <a:pt x="4702065" y="373823"/>
                </a:lnTo>
                <a:lnTo>
                  <a:pt x="4702065" y="346799"/>
                </a:lnTo>
                <a:lnTo>
                  <a:pt x="4711073" y="346799"/>
                </a:lnTo>
                <a:lnTo>
                  <a:pt x="4711073" y="373823"/>
                </a:lnTo>
                <a:close/>
              </a:path>
              <a:path w="4711700" h="3270250">
                <a:moveTo>
                  <a:pt x="4711073" y="436877"/>
                </a:moveTo>
                <a:lnTo>
                  <a:pt x="4702065" y="436877"/>
                </a:lnTo>
                <a:lnTo>
                  <a:pt x="4702065" y="409854"/>
                </a:lnTo>
                <a:lnTo>
                  <a:pt x="4711073" y="409854"/>
                </a:lnTo>
                <a:lnTo>
                  <a:pt x="4711073" y="436877"/>
                </a:lnTo>
                <a:close/>
              </a:path>
              <a:path w="4711700" h="3270250">
                <a:moveTo>
                  <a:pt x="4711073" y="499932"/>
                </a:moveTo>
                <a:lnTo>
                  <a:pt x="4702065" y="499932"/>
                </a:lnTo>
                <a:lnTo>
                  <a:pt x="4702065" y="472908"/>
                </a:lnTo>
                <a:lnTo>
                  <a:pt x="4711073" y="472908"/>
                </a:lnTo>
                <a:lnTo>
                  <a:pt x="4711073" y="499932"/>
                </a:lnTo>
                <a:close/>
              </a:path>
              <a:path w="4711700" h="3270250">
                <a:moveTo>
                  <a:pt x="4711073" y="562986"/>
                </a:moveTo>
                <a:lnTo>
                  <a:pt x="4702065" y="562986"/>
                </a:lnTo>
                <a:lnTo>
                  <a:pt x="4702065" y="535963"/>
                </a:lnTo>
                <a:lnTo>
                  <a:pt x="4711073" y="535963"/>
                </a:lnTo>
                <a:lnTo>
                  <a:pt x="4711073" y="562986"/>
                </a:lnTo>
                <a:close/>
              </a:path>
              <a:path w="4711700" h="3270250">
                <a:moveTo>
                  <a:pt x="4711073" y="626041"/>
                </a:moveTo>
                <a:lnTo>
                  <a:pt x="4702065" y="626041"/>
                </a:lnTo>
                <a:lnTo>
                  <a:pt x="4702065" y="599017"/>
                </a:lnTo>
                <a:lnTo>
                  <a:pt x="4711073" y="599017"/>
                </a:lnTo>
                <a:lnTo>
                  <a:pt x="4711073" y="626041"/>
                </a:lnTo>
                <a:close/>
              </a:path>
              <a:path w="4711700" h="3270250">
                <a:moveTo>
                  <a:pt x="4711073" y="689095"/>
                </a:moveTo>
                <a:lnTo>
                  <a:pt x="4702065" y="689095"/>
                </a:lnTo>
                <a:lnTo>
                  <a:pt x="4702065" y="662072"/>
                </a:lnTo>
                <a:lnTo>
                  <a:pt x="4711073" y="662072"/>
                </a:lnTo>
                <a:lnTo>
                  <a:pt x="4711073" y="689095"/>
                </a:lnTo>
                <a:close/>
              </a:path>
              <a:path w="4711700" h="3270250">
                <a:moveTo>
                  <a:pt x="4711073" y="752150"/>
                </a:moveTo>
                <a:lnTo>
                  <a:pt x="4702065" y="752150"/>
                </a:lnTo>
                <a:lnTo>
                  <a:pt x="4702065" y="725127"/>
                </a:lnTo>
                <a:lnTo>
                  <a:pt x="4711073" y="725127"/>
                </a:lnTo>
                <a:lnTo>
                  <a:pt x="4711073" y="752150"/>
                </a:lnTo>
                <a:close/>
              </a:path>
              <a:path w="4711700" h="3270250">
                <a:moveTo>
                  <a:pt x="4711073" y="815204"/>
                </a:moveTo>
                <a:lnTo>
                  <a:pt x="4702065" y="815204"/>
                </a:lnTo>
                <a:lnTo>
                  <a:pt x="4702065" y="788181"/>
                </a:lnTo>
                <a:lnTo>
                  <a:pt x="4711073" y="788181"/>
                </a:lnTo>
                <a:lnTo>
                  <a:pt x="4711073" y="815204"/>
                </a:lnTo>
                <a:close/>
              </a:path>
              <a:path w="4711700" h="3270250">
                <a:moveTo>
                  <a:pt x="4711073" y="878259"/>
                </a:moveTo>
                <a:lnTo>
                  <a:pt x="4702065" y="878259"/>
                </a:lnTo>
                <a:lnTo>
                  <a:pt x="4702065" y="851236"/>
                </a:lnTo>
                <a:lnTo>
                  <a:pt x="4711073" y="851236"/>
                </a:lnTo>
                <a:lnTo>
                  <a:pt x="4711073" y="878259"/>
                </a:lnTo>
                <a:close/>
              </a:path>
              <a:path w="4711700" h="3270250">
                <a:moveTo>
                  <a:pt x="4711073" y="941313"/>
                </a:moveTo>
                <a:lnTo>
                  <a:pt x="4702065" y="941313"/>
                </a:lnTo>
                <a:lnTo>
                  <a:pt x="4702065" y="914290"/>
                </a:lnTo>
                <a:lnTo>
                  <a:pt x="4711073" y="914290"/>
                </a:lnTo>
                <a:lnTo>
                  <a:pt x="4711073" y="941313"/>
                </a:lnTo>
                <a:close/>
              </a:path>
              <a:path w="4711700" h="3270250">
                <a:moveTo>
                  <a:pt x="4711073" y="1004368"/>
                </a:moveTo>
                <a:lnTo>
                  <a:pt x="4702065" y="1004368"/>
                </a:lnTo>
                <a:lnTo>
                  <a:pt x="4702065" y="977345"/>
                </a:lnTo>
                <a:lnTo>
                  <a:pt x="4711073" y="977345"/>
                </a:lnTo>
                <a:lnTo>
                  <a:pt x="4711073" y="1004368"/>
                </a:lnTo>
                <a:close/>
              </a:path>
              <a:path w="4711700" h="3270250">
                <a:moveTo>
                  <a:pt x="4711073" y="1067423"/>
                </a:moveTo>
                <a:lnTo>
                  <a:pt x="4702065" y="1067423"/>
                </a:lnTo>
                <a:lnTo>
                  <a:pt x="4702065" y="1040399"/>
                </a:lnTo>
                <a:lnTo>
                  <a:pt x="4711073" y="1040399"/>
                </a:lnTo>
                <a:lnTo>
                  <a:pt x="4711073" y="1067423"/>
                </a:lnTo>
                <a:close/>
              </a:path>
              <a:path w="4711700" h="3270250">
                <a:moveTo>
                  <a:pt x="4711073" y="1130477"/>
                </a:moveTo>
                <a:lnTo>
                  <a:pt x="4702065" y="1130477"/>
                </a:lnTo>
                <a:lnTo>
                  <a:pt x="4702065" y="1103454"/>
                </a:lnTo>
                <a:lnTo>
                  <a:pt x="4711073" y="1103454"/>
                </a:lnTo>
                <a:lnTo>
                  <a:pt x="4711073" y="1130477"/>
                </a:lnTo>
                <a:close/>
              </a:path>
              <a:path w="4711700" h="3270250">
                <a:moveTo>
                  <a:pt x="4711073" y="1193532"/>
                </a:moveTo>
                <a:lnTo>
                  <a:pt x="4702065" y="1193532"/>
                </a:lnTo>
                <a:lnTo>
                  <a:pt x="4702065" y="1166508"/>
                </a:lnTo>
                <a:lnTo>
                  <a:pt x="4711073" y="1166508"/>
                </a:lnTo>
                <a:lnTo>
                  <a:pt x="4711073" y="1193532"/>
                </a:lnTo>
                <a:close/>
              </a:path>
              <a:path w="4711700" h="3270250">
                <a:moveTo>
                  <a:pt x="4711073" y="1256586"/>
                </a:moveTo>
                <a:lnTo>
                  <a:pt x="4702065" y="1256586"/>
                </a:lnTo>
                <a:lnTo>
                  <a:pt x="4702065" y="1229563"/>
                </a:lnTo>
                <a:lnTo>
                  <a:pt x="4711073" y="1229563"/>
                </a:lnTo>
                <a:lnTo>
                  <a:pt x="4711073" y="1256586"/>
                </a:lnTo>
                <a:close/>
              </a:path>
              <a:path w="4711700" h="3270250">
                <a:moveTo>
                  <a:pt x="4711073" y="1319641"/>
                </a:moveTo>
                <a:lnTo>
                  <a:pt x="4702065" y="1319641"/>
                </a:lnTo>
                <a:lnTo>
                  <a:pt x="4702065" y="1292617"/>
                </a:lnTo>
                <a:lnTo>
                  <a:pt x="4711073" y="1292617"/>
                </a:lnTo>
                <a:lnTo>
                  <a:pt x="4711073" y="1319641"/>
                </a:lnTo>
                <a:close/>
              </a:path>
              <a:path w="4711700" h="3270250">
                <a:moveTo>
                  <a:pt x="4711073" y="1382695"/>
                </a:moveTo>
                <a:lnTo>
                  <a:pt x="4702065" y="1382695"/>
                </a:lnTo>
                <a:lnTo>
                  <a:pt x="4702065" y="1355672"/>
                </a:lnTo>
                <a:lnTo>
                  <a:pt x="4711073" y="1355672"/>
                </a:lnTo>
                <a:lnTo>
                  <a:pt x="4711073" y="1382695"/>
                </a:lnTo>
                <a:close/>
              </a:path>
              <a:path w="4711700" h="3270250">
                <a:moveTo>
                  <a:pt x="4711073" y="1445750"/>
                </a:moveTo>
                <a:lnTo>
                  <a:pt x="4702065" y="1445750"/>
                </a:lnTo>
                <a:lnTo>
                  <a:pt x="4702065" y="1418726"/>
                </a:lnTo>
                <a:lnTo>
                  <a:pt x="4711073" y="1418726"/>
                </a:lnTo>
                <a:lnTo>
                  <a:pt x="4711073" y="1445750"/>
                </a:lnTo>
                <a:close/>
              </a:path>
              <a:path w="4711700" h="3270250">
                <a:moveTo>
                  <a:pt x="4711073" y="1508804"/>
                </a:moveTo>
                <a:lnTo>
                  <a:pt x="4702065" y="1508804"/>
                </a:lnTo>
                <a:lnTo>
                  <a:pt x="4702065" y="1481781"/>
                </a:lnTo>
                <a:lnTo>
                  <a:pt x="4711073" y="1481781"/>
                </a:lnTo>
                <a:lnTo>
                  <a:pt x="4711073" y="1508804"/>
                </a:lnTo>
                <a:close/>
              </a:path>
              <a:path w="4711700" h="3270250">
                <a:moveTo>
                  <a:pt x="4711073" y="1571859"/>
                </a:moveTo>
                <a:lnTo>
                  <a:pt x="4702065" y="1571859"/>
                </a:lnTo>
                <a:lnTo>
                  <a:pt x="4702065" y="1544835"/>
                </a:lnTo>
                <a:lnTo>
                  <a:pt x="4711073" y="1544835"/>
                </a:lnTo>
                <a:lnTo>
                  <a:pt x="4711073" y="1571859"/>
                </a:lnTo>
                <a:close/>
              </a:path>
              <a:path w="4711700" h="3270250">
                <a:moveTo>
                  <a:pt x="4711073" y="1634913"/>
                </a:moveTo>
                <a:lnTo>
                  <a:pt x="4702065" y="1634913"/>
                </a:lnTo>
                <a:lnTo>
                  <a:pt x="4702065" y="1607890"/>
                </a:lnTo>
                <a:lnTo>
                  <a:pt x="4711073" y="1607890"/>
                </a:lnTo>
                <a:lnTo>
                  <a:pt x="4711073" y="1634913"/>
                </a:lnTo>
                <a:close/>
              </a:path>
              <a:path w="4711700" h="3270250">
                <a:moveTo>
                  <a:pt x="4711073" y="1697968"/>
                </a:moveTo>
                <a:lnTo>
                  <a:pt x="4702065" y="1697968"/>
                </a:lnTo>
                <a:lnTo>
                  <a:pt x="4702065" y="1670945"/>
                </a:lnTo>
                <a:lnTo>
                  <a:pt x="4711073" y="1670945"/>
                </a:lnTo>
                <a:lnTo>
                  <a:pt x="4711073" y="1697968"/>
                </a:lnTo>
                <a:close/>
              </a:path>
              <a:path w="4711700" h="3270250">
                <a:moveTo>
                  <a:pt x="4711073" y="1761022"/>
                </a:moveTo>
                <a:lnTo>
                  <a:pt x="4702065" y="1761022"/>
                </a:lnTo>
                <a:lnTo>
                  <a:pt x="4702065" y="1733999"/>
                </a:lnTo>
                <a:lnTo>
                  <a:pt x="4711073" y="1733999"/>
                </a:lnTo>
                <a:lnTo>
                  <a:pt x="4711073" y="1761022"/>
                </a:lnTo>
                <a:close/>
              </a:path>
              <a:path w="4711700" h="3270250">
                <a:moveTo>
                  <a:pt x="4711073" y="1824077"/>
                </a:moveTo>
                <a:lnTo>
                  <a:pt x="4702065" y="1824077"/>
                </a:lnTo>
                <a:lnTo>
                  <a:pt x="4702065" y="1797053"/>
                </a:lnTo>
                <a:lnTo>
                  <a:pt x="4711073" y="1797053"/>
                </a:lnTo>
                <a:lnTo>
                  <a:pt x="4711073" y="1824077"/>
                </a:lnTo>
                <a:close/>
              </a:path>
              <a:path w="4711700" h="3270250">
                <a:moveTo>
                  <a:pt x="4711073" y="1887131"/>
                </a:moveTo>
                <a:lnTo>
                  <a:pt x="4702065" y="1887131"/>
                </a:lnTo>
                <a:lnTo>
                  <a:pt x="4702065" y="1860108"/>
                </a:lnTo>
                <a:lnTo>
                  <a:pt x="4711073" y="1860108"/>
                </a:lnTo>
                <a:lnTo>
                  <a:pt x="4711073" y="1887131"/>
                </a:lnTo>
                <a:close/>
              </a:path>
              <a:path w="4711700" h="3270250">
                <a:moveTo>
                  <a:pt x="4711073" y="1950186"/>
                </a:moveTo>
                <a:lnTo>
                  <a:pt x="4702065" y="1950186"/>
                </a:lnTo>
                <a:lnTo>
                  <a:pt x="4702065" y="1923162"/>
                </a:lnTo>
                <a:lnTo>
                  <a:pt x="4711073" y="1923162"/>
                </a:lnTo>
                <a:lnTo>
                  <a:pt x="4711073" y="1950186"/>
                </a:lnTo>
                <a:close/>
              </a:path>
              <a:path w="4711700" h="3270250">
                <a:moveTo>
                  <a:pt x="4711073" y="2013240"/>
                </a:moveTo>
                <a:lnTo>
                  <a:pt x="4702065" y="2013240"/>
                </a:lnTo>
                <a:lnTo>
                  <a:pt x="4702065" y="1986217"/>
                </a:lnTo>
                <a:lnTo>
                  <a:pt x="4711073" y="1986217"/>
                </a:lnTo>
                <a:lnTo>
                  <a:pt x="4711073" y="2013240"/>
                </a:lnTo>
                <a:close/>
              </a:path>
              <a:path w="4711700" h="3270250">
                <a:moveTo>
                  <a:pt x="4711073" y="2076295"/>
                </a:moveTo>
                <a:lnTo>
                  <a:pt x="4702065" y="2076295"/>
                </a:lnTo>
                <a:lnTo>
                  <a:pt x="4702065" y="2049271"/>
                </a:lnTo>
                <a:lnTo>
                  <a:pt x="4711073" y="2049271"/>
                </a:lnTo>
                <a:lnTo>
                  <a:pt x="4711073" y="2076295"/>
                </a:lnTo>
                <a:close/>
              </a:path>
              <a:path w="4711700" h="3270250">
                <a:moveTo>
                  <a:pt x="4711073" y="2139349"/>
                </a:moveTo>
                <a:lnTo>
                  <a:pt x="4702065" y="2139349"/>
                </a:lnTo>
                <a:lnTo>
                  <a:pt x="4702065" y="2112326"/>
                </a:lnTo>
                <a:lnTo>
                  <a:pt x="4711073" y="2112326"/>
                </a:lnTo>
                <a:lnTo>
                  <a:pt x="4711073" y="2139349"/>
                </a:lnTo>
                <a:close/>
              </a:path>
              <a:path w="4711700" h="3270250">
                <a:moveTo>
                  <a:pt x="4711073" y="2202404"/>
                </a:moveTo>
                <a:lnTo>
                  <a:pt x="4702065" y="2202404"/>
                </a:lnTo>
                <a:lnTo>
                  <a:pt x="4702065" y="2175381"/>
                </a:lnTo>
                <a:lnTo>
                  <a:pt x="4711073" y="2175381"/>
                </a:lnTo>
                <a:lnTo>
                  <a:pt x="4711073" y="2202404"/>
                </a:lnTo>
                <a:close/>
              </a:path>
              <a:path w="4711700" h="3270250">
                <a:moveTo>
                  <a:pt x="4711073" y="2265458"/>
                </a:moveTo>
                <a:lnTo>
                  <a:pt x="4702065" y="2265458"/>
                </a:lnTo>
                <a:lnTo>
                  <a:pt x="4702065" y="2238435"/>
                </a:lnTo>
                <a:lnTo>
                  <a:pt x="4711073" y="2238435"/>
                </a:lnTo>
                <a:lnTo>
                  <a:pt x="4711073" y="2265458"/>
                </a:lnTo>
                <a:close/>
              </a:path>
              <a:path w="4711700" h="3270250">
                <a:moveTo>
                  <a:pt x="4711073" y="2328513"/>
                </a:moveTo>
                <a:lnTo>
                  <a:pt x="4702065" y="2328513"/>
                </a:lnTo>
                <a:lnTo>
                  <a:pt x="4702065" y="2301490"/>
                </a:lnTo>
                <a:lnTo>
                  <a:pt x="4711073" y="2301490"/>
                </a:lnTo>
                <a:lnTo>
                  <a:pt x="4711073" y="2328513"/>
                </a:lnTo>
                <a:close/>
              </a:path>
              <a:path w="4711700" h="3270250">
                <a:moveTo>
                  <a:pt x="4711073" y="2391568"/>
                </a:moveTo>
                <a:lnTo>
                  <a:pt x="4702065" y="2391568"/>
                </a:lnTo>
                <a:lnTo>
                  <a:pt x="4702065" y="2364544"/>
                </a:lnTo>
                <a:lnTo>
                  <a:pt x="4711073" y="2364544"/>
                </a:lnTo>
                <a:lnTo>
                  <a:pt x="4711073" y="2391568"/>
                </a:lnTo>
                <a:close/>
              </a:path>
              <a:path w="4711700" h="3270250">
                <a:moveTo>
                  <a:pt x="4711073" y="2454622"/>
                </a:moveTo>
                <a:lnTo>
                  <a:pt x="4702065" y="2454622"/>
                </a:lnTo>
                <a:lnTo>
                  <a:pt x="4702065" y="2427599"/>
                </a:lnTo>
                <a:lnTo>
                  <a:pt x="4711073" y="2427599"/>
                </a:lnTo>
                <a:lnTo>
                  <a:pt x="4711073" y="2454622"/>
                </a:lnTo>
                <a:close/>
              </a:path>
              <a:path w="4711700" h="3270250">
                <a:moveTo>
                  <a:pt x="4711073" y="2517677"/>
                </a:moveTo>
                <a:lnTo>
                  <a:pt x="4702065" y="2517677"/>
                </a:lnTo>
                <a:lnTo>
                  <a:pt x="4702065" y="2490653"/>
                </a:lnTo>
                <a:lnTo>
                  <a:pt x="4711073" y="2490653"/>
                </a:lnTo>
                <a:lnTo>
                  <a:pt x="4711073" y="2517677"/>
                </a:lnTo>
                <a:close/>
              </a:path>
              <a:path w="4711700" h="3270250">
                <a:moveTo>
                  <a:pt x="4711073" y="2580731"/>
                </a:moveTo>
                <a:lnTo>
                  <a:pt x="4702065" y="2580731"/>
                </a:lnTo>
                <a:lnTo>
                  <a:pt x="4702065" y="2553708"/>
                </a:lnTo>
                <a:lnTo>
                  <a:pt x="4711073" y="2553708"/>
                </a:lnTo>
                <a:lnTo>
                  <a:pt x="4711073" y="2580731"/>
                </a:lnTo>
                <a:close/>
              </a:path>
              <a:path w="4711700" h="3270250">
                <a:moveTo>
                  <a:pt x="4711073" y="2643786"/>
                </a:moveTo>
                <a:lnTo>
                  <a:pt x="4702065" y="2643786"/>
                </a:lnTo>
                <a:lnTo>
                  <a:pt x="4702065" y="2616762"/>
                </a:lnTo>
                <a:lnTo>
                  <a:pt x="4711073" y="2616762"/>
                </a:lnTo>
                <a:lnTo>
                  <a:pt x="4711073" y="2643786"/>
                </a:lnTo>
                <a:close/>
              </a:path>
              <a:path w="4711700" h="3270250">
                <a:moveTo>
                  <a:pt x="4711073" y="2706840"/>
                </a:moveTo>
                <a:lnTo>
                  <a:pt x="4702065" y="2706840"/>
                </a:lnTo>
                <a:lnTo>
                  <a:pt x="4702065" y="2679817"/>
                </a:lnTo>
                <a:lnTo>
                  <a:pt x="4711073" y="2679817"/>
                </a:lnTo>
                <a:lnTo>
                  <a:pt x="4711073" y="2706840"/>
                </a:lnTo>
                <a:close/>
              </a:path>
              <a:path w="4711700" h="3270250">
                <a:moveTo>
                  <a:pt x="4711073" y="2769895"/>
                </a:moveTo>
                <a:lnTo>
                  <a:pt x="4702065" y="2769895"/>
                </a:lnTo>
                <a:lnTo>
                  <a:pt x="4702065" y="2742871"/>
                </a:lnTo>
                <a:lnTo>
                  <a:pt x="4711073" y="2742871"/>
                </a:lnTo>
                <a:lnTo>
                  <a:pt x="4711073" y="2769895"/>
                </a:lnTo>
                <a:close/>
              </a:path>
              <a:path w="4711700" h="3270250">
                <a:moveTo>
                  <a:pt x="4711073" y="2832949"/>
                </a:moveTo>
                <a:lnTo>
                  <a:pt x="4702065" y="2832949"/>
                </a:lnTo>
                <a:lnTo>
                  <a:pt x="4702065" y="2805926"/>
                </a:lnTo>
                <a:lnTo>
                  <a:pt x="4711073" y="2805926"/>
                </a:lnTo>
                <a:lnTo>
                  <a:pt x="4711073" y="2832949"/>
                </a:lnTo>
                <a:close/>
              </a:path>
              <a:path w="4711700" h="3270250">
                <a:moveTo>
                  <a:pt x="4711073" y="2896004"/>
                </a:moveTo>
                <a:lnTo>
                  <a:pt x="4702065" y="2896004"/>
                </a:lnTo>
                <a:lnTo>
                  <a:pt x="4702065" y="2868980"/>
                </a:lnTo>
                <a:lnTo>
                  <a:pt x="4711073" y="2868980"/>
                </a:lnTo>
                <a:lnTo>
                  <a:pt x="4711073" y="2896004"/>
                </a:lnTo>
                <a:close/>
              </a:path>
              <a:path w="4711700" h="3270250">
                <a:moveTo>
                  <a:pt x="4711073" y="2959058"/>
                </a:moveTo>
                <a:lnTo>
                  <a:pt x="4702065" y="2959058"/>
                </a:lnTo>
                <a:lnTo>
                  <a:pt x="4702065" y="2932035"/>
                </a:lnTo>
                <a:lnTo>
                  <a:pt x="4711073" y="2932035"/>
                </a:lnTo>
                <a:lnTo>
                  <a:pt x="4711073" y="2959058"/>
                </a:lnTo>
                <a:close/>
              </a:path>
              <a:path w="4711700" h="3270250">
                <a:moveTo>
                  <a:pt x="4711073" y="3022113"/>
                </a:moveTo>
                <a:lnTo>
                  <a:pt x="4702065" y="3022113"/>
                </a:lnTo>
                <a:lnTo>
                  <a:pt x="4702065" y="2995089"/>
                </a:lnTo>
                <a:lnTo>
                  <a:pt x="4711073" y="2995089"/>
                </a:lnTo>
                <a:lnTo>
                  <a:pt x="4711073" y="3022113"/>
                </a:lnTo>
                <a:close/>
              </a:path>
              <a:path w="4711700" h="3270250">
                <a:moveTo>
                  <a:pt x="4711073" y="3085167"/>
                </a:moveTo>
                <a:lnTo>
                  <a:pt x="4702065" y="3085167"/>
                </a:lnTo>
                <a:lnTo>
                  <a:pt x="4702065" y="3058144"/>
                </a:lnTo>
                <a:lnTo>
                  <a:pt x="4711073" y="3058144"/>
                </a:lnTo>
                <a:lnTo>
                  <a:pt x="4711073" y="3085167"/>
                </a:lnTo>
                <a:close/>
              </a:path>
              <a:path w="4711700" h="3270250">
                <a:moveTo>
                  <a:pt x="4711073" y="3148222"/>
                </a:moveTo>
                <a:lnTo>
                  <a:pt x="4702065" y="3148222"/>
                </a:lnTo>
                <a:lnTo>
                  <a:pt x="4702065" y="3121198"/>
                </a:lnTo>
                <a:lnTo>
                  <a:pt x="4711073" y="3121198"/>
                </a:lnTo>
                <a:lnTo>
                  <a:pt x="4711073" y="3148222"/>
                </a:lnTo>
                <a:close/>
              </a:path>
              <a:path w="4711700" h="3270250">
                <a:moveTo>
                  <a:pt x="4711073" y="3211276"/>
                </a:moveTo>
                <a:lnTo>
                  <a:pt x="4702065" y="3211276"/>
                </a:lnTo>
                <a:lnTo>
                  <a:pt x="4702065" y="3184253"/>
                </a:lnTo>
                <a:lnTo>
                  <a:pt x="4711073" y="3184253"/>
                </a:lnTo>
                <a:lnTo>
                  <a:pt x="4711073" y="3211276"/>
                </a:lnTo>
                <a:close/>
              </a:path>
              <a:path w="4711700" h="3270250">
                <a:moveTo>
                  <a:pt x="4706569" y="3265323"/>
                </a:moveTo>
                <a:lnTo>
                  <a:pt x="4702065" y="3265323"/>
                </a:lnTo>
                <a:lnTo>
                  <a:pt x="4702065" y="3247307"/>
                </a:lnTo>
                <a:lnTo>
                  <a:pt x="4711073" y="3247307"/>
                </a:lnTo>
                <a:lnTo>
                  <a:pt x="4711073" y="3260819"/>
                </a:lnTo>
                <a:lnTo>
                  <a:pt x="4706569" y="3260819"/>
                </a:lnTo>
                <a:lnTo>
                  <a:pt x="4706569" y="3265323"/>
                </a:lnTo>
                <a:close/>
              </a:path>
              <a:path w="4711700" h="3270250">
                <a:moveTo>
                  <a:pt x="4711073" y="3269827"/>
                </a:moveTo>
                <a:lnTo>
                  <a:pt x="4697562" y="3269827"/>
                </a:lnTo>
                <a:lnTo>
                  <a:pt x="4697562" y="3260819"/>
                </a:lnTo>
                <a:lnTo>
                  <a:pt x="4702065" y="3260819"/>
                </a:lnTo>
                <a:lnTo>
                  <a:pt x="4702065" y="3265323"/>
                </a:lnTo>
                <a:lnTo>
                  <a:pt x="4711073" y="3265323"/>
                </a:lnTo>
                <a:lnTo>
                  <a:pt x="4711073" y="3269827"/>
                </a:lnTo>
                <a:close/>
              </a:path>
              <a:path w="4711700" h="3270250">
                <a:moveTo>
                  <a:pt x="4711073" y="3265323"/>
                </a:moveTo>
                <a:lnTo>
                  <a:pt x="4706569" y="3265323"/>
                </a:lnTo>
                <a:lnTo>
                  <a:pt x="4706569" y="3260819"/>
                </a:lnTo>
                <a:lnTo>
                  <a:pt x="4711073" y="3260819"/>
                </a:lnTo>
                <a:lnTo>
                  <a:pt x="4711073" y="3265323"/>
                </a:lnTo>
                <a:close/>
              </a:path>
              <a:path w="4711700" h="3270250">
                <a:moveTo>
                  <a:pt x="4661530" y="3269827"/>
                </a:moveTo>
                <a:lnTo>
                  <a:pt x="4634507" y="3269827"/>
                </a:lnTo>
                <a:lnTo>
                  <a:pt x="4634507" y="3260819"/>
                </a:lnTo>
                <a:lnTo>
                  <a:pt x="4661530" y="3260819"/>
                </a:lnTo>
                <a:lnTo>
                  <a:pt x="4661530" y="3269827"/>
                </a:lnTo>
                <a:close/>
              </a:path>
              <a:path w="4711700" h="3270250">
                <a:moveTo>
                  <a:pt x="4598476" y="3269827"/>
                </a:moveTo>
                <a:lnTo>
                  <a:pt x="4571452" y="3269827"/>
                </a:lnTo>
                <a:lnTo>
                  <a:pt x="4571452" y="3260819"/>
                </a:lnTo>
                <a:lnTo>
                  <a:pt x="4598476" y="3260819"/>
                </a:lnTo>
                <a:lnTo>
                  <a:pt x="4598476" y="3269827"/>
                </a:lnTo>
                <a:close/>
              </a:path>
              <a:path w="4711700" h="3270250">
                <a:moveTo>
                  <a:pt x="4535421" y="3269827"/>
                </a:moveTo>
                <a:lnTo>
                  <a:pt x="4508398" y="3269827"/>
                </a:lnTo>
                <a:lnTo>
                  <a:pt x="4508398" y="3260819"/>
                </a:lnTo>
                <a:lnTo>
                  <a:pt x="4535421" y="3260819"/>
                </a:lnTo>
                <a:lnTo>
                  <a:pt x="4535421" y="3269827"/>
                </a:lnTo>
                <a:close/>
              </a:path>
              <a:path w="4711700" h="3270250">
                <a:moveTo>
                  <a:pt x="4472367" y="3269827"/>
                </a:moveTo>
                <a:lnTo>
                  <a:pt x="4445343" y="3269827"/>
                </a:lnTo>
                <a:lnTo>
                  <a:pt x="4445343" y="3260819"/>
                </a:lnTo>
                <a:lnTo>
                  <a:pt x="4472367" y="3260819"/>
                </a:lnTo>
                <a:lnTo>
                  <a:pt x="4472367" y="3269827"/>
                </a:lnTo>
                <a:close/>
              </a:path>
              <a:path w="4711700" h="3270250">
                <a:moveTo>
                  <a:pt x="4409312" y="3269827"/>
                </a:moveTo>
                <a:lnTo>
                  <a:pt x="4382289" y="3269827"/>
                </a:lnTo>
                <a:lnTo>
                  <a:pt x="4382289" y="3260819"/>
                </a:lnTo>
                <a:lnTo>
                  <a:pt x="4409312" y="3260819"/>
                </a:lnTo>
                <a:lnTo>
                  <a:pt x="4409312" y="3269827"/>
                </a:lnTo>
                <a:close/>
              </a:path>
              <a:path w="4711700" h="3270250">
                <a:moveTo>
                  <a:pt x="4346258" y="3269827"/>
                </a:moveTo>
                <a:lnTo>
                  <a:pt x="4319234" y="3269827"/>
                </a:lnTo>
                <a:lnTo>
                  <a:pt x="4319234" y="3260819"/>
                </a:lnTo>
                <a:lnTo>
                  <a:pt x="4346258" y="3260819"/>
                </a:lnTo>
                <a:lnTo>
                  <a:pt x="4346258" y="3269827"/>
                </a:lnTo>
                <a:close/>
              </a:path>
              <a:path w="4711700" h="3270250">
                <a:moveTo>
                  <a:pt x="4283203" y="3269827"/>
                </a:moveTo>
                <a:lnTo>
                  <a:pt x="4256180" y="3269827"/>
                </a:lnTo>
                <a:lnTo>
                  <a:pt x="4256180" y="3260819"/>
                </a:lnTo>
                <a:lnTo>
                  <a:pt x="4283203" y="3260819"/>
                </a:lnTo>
                <a:lnTo>
                  <a:pt x="4283203" y="3269827"/>
                </a:lnTo>
                <a:close/>
              </a:path>
              <a:path w="4711700" h="3270250">
                <a:moveTo>
                  <a:pt x="4220149" y="3269827"/>
                </a:moveTo>
                <a:lnTo>
                  <a:pt x="4193125" y="3269827"/>
                </a:lnTo>
                <a:lnTo>
                  <a:pt x="4193125" y="3260819"/>
                </a:lnTo>
                <a:lnTo>
                  <a:pt x="4220149" y="3260819"/>
                </a:lnTo>
                <a:lnTo>
                  <a:pt x="4220149" y="3269827"/>
                </a:lnTo>
                <a:close/>
              </a:path>
              <a:path w="4711700" h="3270250">
                <a:moveTo>
                  <a:pt x="4157094" y="3269827"/>
                </a:moveTo>
                <a:lnTo>
                  <a:pt x="4130071" y="3269827"/>
                </a:lnTo>
                <a:lnTo>
                  <a:pt x="4130071" y="3260819"/>
                </a:lnTo>
                <a:lnTo>
                  <a:pt x="4157094" y="3260819"/>
                </a:lnTo>
                <a:lnTo>
                  <a:pt x="4157094" y="3269827"/>
                </a:lnTo>
                <a:close/>
              </a:path>
              <a:path w="4711700" h="3270250">
                <a:moveTo>
                  <a:pt x="4094040" y="3269827"/>
                </a:moveTo>
                <a:lnTo>
                  <a:pt x="4067016" y="3269827"/>
                </a:lnTo>
                <a:lnTo>
                  <a:pt x="4067016" y="3260819"/>
                </a:lnTo>
                <a:lnTo>
                  <a:pt x="4094040" y="3260819"/>
                </a:lnTo>
                <a:lnTo>
                  <a:pt x="4094040" y="3269827"/>
                </a:lnTo>
                <a:close/>
              </a:path>
              <a:path w="4711700" h="3270250">
                <a:moveTo>
                  <a:pt x="4030985" y="3269827"/>
                </a:moveTo>
                <a:lnTo>
                  <a:pt x="4003962" y="3269827"/>
                </a:lnTo>
                <a:lnTo>
                  <a:pt x="4003962" y="3260819"/>
                </a:lnTo>
                <a:lnTo>
                  <a:pt x="4030985" y="3260819"/>
                </a:lnTo>
                <a:lnTo>
                  <a:pt x="4030985" y="3269827"/>
                </a:lnTo>
                <a:close/>
              </a:path>
              <a:path w="4711700" h="3270250">
                <a:moveTo>
                  <a:pt x="3967931" y="3269827"/>
                </a:moveTo>
                <a:lnTo>
                  <a:pt x="3940907" y="3269827"/>
                </a:lnTo>
                <a:lnTo>
                  <a:pt x="3940907" y="3260819"/>
                </a:lnTo>
                <a:lnTo>
                  <a:pt x="3967931" y="3260819"/>
                </a:lnTo>
                <a:lnTo>
                  <a:pt x="3967931" y="3269827"/>
                </a:lnTo>
                <a:close/>
              </a:path>
              <a:path w="4711700" h="3270250">
                <a:moveTo>
                  <a:pt x="3904876" y="3269827"/>
                </a:moveTo>
                <a:lnTo>
                  <a:pt x="3877853" y="3269827"/>
                </a:lnTo>
                <a:lnTo>
                  <a:pt x="3877853" y="3260819"/>
                </a:lnTo>
                <a:lnTo>
                  <a:pt x="3904876" y="3260819"/>
                </a:lnTo>
                <a:lnTo>
                  <a:pt x="3904876" y="3269827"/>
                </a:lnTo>
                <a:close/>
              </a:path>
              <a:path w="4711700" h="3270250">
                <a:moveTo>
                  <a:pt x="3841822" y="3269827"/>
                </a:moveTo>
                <a:lnTo>
                  <a:pt x="3814798" y="3269827"/>
                </a:lnTo>
                <a:lnTo>
                  <a:pt x="3814798" y="3260819"/>
                </a:lnTo>
                <a:lnTo>
                  <a:pt x="3841822" y="3260819"/>
                </a:lnTo>
                <a:lnTo>
                  <a:pt x="3841822" y="3269827"/>
                </a:lnTo>
                <a:close/>
              </a:path>
              <a:path w="4711700" h="3270250">
                <a:moveTo>
                  <a:pt x="3778767" y="3269827"/>
                </a:moveTo>
                <a:lnTo>
                  <a:pt x="3751744" y="3269827"/>
                </a:lnTo>
                <a:lnTo>
                  <a:pt x="3751744" y="3260819"/>
                </a:lnTo>
                <a:lnTo>
                  <a:pt x="3778767" y="3260819"/>
                </a:lnTo>
                <a:lnTo>
                  <a:pt x="3778767" y="3269827"/>
                </a:lnTo>
                <a:close/>
              </a:path>
              <a:path w="4711700" h="3270250">
                <a:moveTo>
                  <a:pt x="3715713" y="3269827"/>
                </a:moveTo>
                <a:lnTo>
                  <a:pt x="3688689" y="3269827"/>
                </a:lnTo>
                <a:lnTo>
                  <a:pt x="3688689" y="3260819"/>
                </a:lnTo>
                <a:lnTo>
                  <a:pt x="3715713" y="3260819"/>
                </a:lnTo>
                <a:lnTo>
                  <a:pt x="3715713" y="3269827"/>
                </a:lnTo>
                <a:close/>
              </a:path>
              <a:path w="4711700" h="3270250">
                <a:moveTo>
                  <a:pt x="3652658" y="3269827"/>
                </a:moveTo>
                <a:lnTo>
                  <a:pt x="3625635" y="3269827"/>
                </a:lnTo>
                <a:lnTo>
                  <a:pt x="3625635" y="3260819"/>
                </a:lnTo>
                <a:lnTo>
                  <a:pt x="3652658" y="3260819"/>
                </a:lnTo>
                <a:lnTo>
                  <a:pt x="3652658" y="3269827"/>
                </a:lnTo>
                <a:close/>
              </a:path>
              <a:path w="4711700" h="3270250">
                <a:moveTo>
                  <a:pt x="3589603" y="3269827"/>
                </a:moveTo>
                <a:lnTo>
                  <a:pt x="3562580" y="3269827"/>
                </a:lnTo>
                <a:lnTo>
                  <a:pt x="3562580" y="3260819"/>
                </a:lnTo>
                <a:lnTo>
                  <a:pt x="3589603" y="3260819"/>
                </a:lnTo>
                <a:lnTo>
                  <a:pt x="3589603" y="3269827"/>
                </a:lnTo>
                <a:close/>
              </a:path>
              <a:path w="4711700" h="3270250">
                <a:moveTo>
                  <a:pt x="3526549" y="3269827"/>
                </a:moveTo>
                <a:lnTo>
                  <a:pt x="3499526" y="3269827"/>
                </a:lnTo>
                <a:lnTo>
                  <a:pt x="3499526" y="3260819"/>
                </a:lnTo>
                <a:lnTo>
                  <a:pt x="3526549" y="3260819"/>
                </a:lnTo>
                <a:lnTo>
                  <a:pt x="3526549" y="3269827"/>
                </a:lnTo>
                <a:close/>
              </a:path>
              <a:path w="4711700" h="3270250">
                <a:moveTo>
                  <a:pt x="3463494" y="3269827"/>
                </a:moveTo>
                <a:lnTo>
                  <a:pt x="3436471" y="3269827"/>
                </a:lnTo>
                <a:lnTo>
                  <a:pt x="3436471" y="3260819"/>
                </a:lnTo>
                <a:lnTo>
                  <a:pt x="3463494" y="3260819"/>
                </a:lnTo>
                <a:lnTo>
                  <a:pt x="3463494" y="3269827"/>
                </a:lnTo>
                <a:close/>
              </a:path>
              <a:path w="4711700" h="3270250">
                <a:moveTo>
                  <a:pt x="3400440" y="3269827"/>
                </a:moveTo>
                <a:lnTo>
                  <a:pt x="3373417" y="3269827"/>
                </a:lnTo>
                <a:lnTo>
                  <a:pt x="3373417" y="3260819"/>
                </a:lnTo>
                <a:lnTo>
                  <a:pt x="3400440" y="3260819"/>
                </a:lnTo>
                <a:lnTo>
                  <a:pt x="3400440" y="3269827"/>
                </a:lnTo>
                <a:close/>
              </a:path>
              <a:path w="4711700" h="3270250">
                <a:moveTo>
                  <a:pt x="3337385" y="3269827"/>
                </a:moveTo>
                <a:lnTo>
                  <a:pt x="3310362" y="3269827"/>
                </a:lnTo>
                <a:lnTo>
                  <a:pt x="3310362" y="3260819"/>
                </a:lnTo>
                <a:lnTo>
                  <a:pt x="3337385" y="3260819"/>
                </a:lnTo>
                <a:lnTo>
                  <a:pt x="3337385" y="3269827"/>
                </a:lnTo>
                <a:close/>
              </a:path>
              <a:path w="4711700" h="3270250">
                <a:moveTo>
                  <a:pt x="3274331" y="3269827"/>
                </a:moveTo>
                <a:lnTo>
                  <a:pt x="3247307" y="3269827"/>
                </a:lnTo>
                <a:lnTo>
                  <a:pt x="3247307" y="3260819"/>
                </a:lnTo>
                <a:lnTo>
                  <a:pt x="3274331" y="3260819"/>
                </a:lnTo>
                <a:lnTo>
                  <a:pt x="3274331" y="3269827"/>
                </a:lnTo>
                <a:close/>
              </a:path>
              <a:path w="4711700" h="3270250">
                <a:moveTo>
                  <a:pt x="3211276" y="3269827"/>
                </a:moveTo>
                <a:lnTo>
                  <a:pt x="3184253" y="3269827"/>
                </a:lnTo>
                <a:lnTo>
                  <a:pt x="3184253" y="3260819"/>
                </a:lnTo>
                <a:lnTo>
                  <a:pt x="3211276" y="3260819"/>
                </a:lnTo>
                <a:lnTo>
                  <a:pt x="3211276" y="3269827"/>
                </a:lnTo>
                <a:close/>
              </a:path>
              <a:path w="4711700" h="3270250">
                <a:moveTo>
                  <a:pt x="3148222" y="3269827"/>
                </a:moveTo>
                <a:lnTo>
                  <a:pt x="3121198" y="3269827"/>
                </a:lnTo>
                <a:lnTo>
                  <a:pt x="3121198" y="3260819"/>
                </a:lnTo>
                <a:lnTo>
                  <a:pt x="3148222" y="3260819"/>
                </a:lnTo>
                <a:lnTo>
                  <a:pt x="3148222" y="3269827"/>
                </a:lnTo>
                <a:close/>
              </a:path>
              <a:path w="4711700" h="3270250">
                <a:moveTo>
                  <a:pt x="3085167" y="3269827"/>
                </a:moveTo>
                <a:lnTo>
                  <a:pt x="3058144" y="3269827"/>
                </a:lnTo>
                <a:lnTo>
                  <a:pt x="3058144" y="3260819"/>
                </a:lnTo>
                <a:lnTo>
                  <a:pt x="3085167" y="3260819"/>
                </a:lnTo>
                <a:lnTo>
                  <a:pt x="3085167" y="3269827"/>
                </a:lnTo>
                <a:close/>
              </a:path>
              <a:path w="4711700" h="3270250">
                <a:moveTo>
                  <a:pt x="3022113" y="3269827"/>
                </a:moveTo>
                <a:lnTo>
                  <a:pt x="2995089" y="3269827"/>
                </a:lnTo>
                <a:lnTo>
                  <a:pt x="2995089" y="3260819"/>
                </a:lnTo>
                <a:lnTo>
                  <a:pt x="3022113" y="3260819"/>
                </a:lnTo>
                <a:lnTo>
                  <a:pt x="3022113" y="3269827"/>
                </a:lnTo>
                <a:close/>
              </a:path>
              <a:path w="4711700" h="3270250">
                <a:moveTo>
                  <a:pt x="2959058" y="3269827"/>
                </a:moveTo>
                <a:lnTo>
                  <a:pt x="2932035" y="3269827"/>
                </a:lnTo>
                <a:lnTo>
                  <a:pt x="2932035" y="3260819"/>
                </a:lnTo>
                <a:lnTo>
                  <a:pt x="2959058" y="3260819"/>
                </a:lnTo>
                <a:lnTo>
                  <a:pt x="2959058" y="3269827"/>
                </a:lnTo>
                <a:close/>
              </a:path>
              <a:path w="4711700" h="3270250">
                <a:moveTo>
                  <a:pt x="2896004" y="3269827"/>
                </a:moveTo>
                <a:lnTo>
                  <a:pt x="2868980" y="3269827"/>
                </a:lnTo>
                <a:lnTo>
                  <a:pt x="2868980" y="3260819"/>
                </a:lnTo>
                <a:lnTo>
                  <a:pt x="2896004" y="3260819"/>
                </a:lnTo>
                <a:lnTo>
                  <a:pt x="2896004" y="3269827"/>
                </a:lnTo>
                <a:close/>
              </a:path>
              <a:path w="4711700" h="3270250">
                <a:moveTo>
                  <a:pt x="2832949" y="3269827"/>
                </a:moveTo>
                <a:lnTo>
                  <a:pt x="2805926" y="3269827"/>
                </a:lnTo>
                <a:lnTo>
                  <a:pt x="2805926" y="3260819"/>
                </a:lnTo>
                <a:lnTo>
                  <a:pt x="2832949" y="3260819"/>
                </a:lnTo>
                <a:lnTo>
                  <a:pt x="2832949" y="3269827"/>
                </a:lnTo>
                <a:close/>
              </a:path>
              <a:path w="4711700" h="3270250">
                <a:moveTo>
                  <a:pt x="2769895" y="3269827"/>
                </a:moveTo>
                <a:lnTo>
                  <a:pt x="2742871" y="3269827"/>
                </a:lnTo>
                <a:lnTo>
                  <a:pt x="2742871" y="3260819"/>
                </a:lnTo>
                <a:lnTo>
                  <a:pt x="2769895" y="3260819"/>
                </a:lnTo>
                <a:lnTo>
                  <a:pt x="2769895" y="3269827"/>
                </a:lnTo>
                <a:close/>
              </a:path>
              <a:path w="4711700" h="3270250">
                <a:moveTo>
                  <a:pt x="2706840" y="3269827"/>
                </a:moveTo>
                <a:lnTo>
                  <a:pt x="2679817" y="3269827"/>
                </a:lnTo>
                <a:lnTo>
                  <a:pt x="2679817" y="3260819"/>
                </a:lnTo>
                <a:lnTo>
                  <a:pt x="2706840" y="3260819"/>
                </a:lnTo>
                <a:lnTo>
                  <a:pt x="2706840" y="3269827"/>
                </a:lnTo>
                <a:close/>
              </a:path>
              <a:path w="4711700" h="3270250">
                <a:moveTo>
                  <a:pt x="2643786" y="3269827"/>
                </a:moveTo>
                <a:lnTo>
                  <a:pt x="2616762" y="3269827"/>
                </a:lnTo>
                <a:lnTo>
                  <a:pt x="2616762" y="3260819"/>
                </a:lnTo>
                <a:lnTo>
                  <a:pt x="2643786" y="3260819"/>
                </a:lnTo>
                <a:lnTo>
                  <a:pt x="2643786" y="3269827"/>
                </a:lnTo>
                <a:close/>
              </a:path>
              <a:path w="4711700" h="3270250">
                <a:moveTo>
                  <a:pt x="2580731" y="3269827"/>
                </a:moveTo>
                <a:lnTo>
                  <a:pt x="2553708" y="3269827"/>
                </a:lnTo>
                <a:lnTo>
                  <a:pt x="2553708" y="3260819"/>
                </a:lnTo>
                <a:lnTo>
                  <a:pt x="2580731" y="3260819"/>
                </a:lnTo>
                <a:lnTo>
                  <a:pt x="2580731" y="3269827"/>
                </a:lnTo>
                <a:close/>
              </a:path>
              <a:path w="4711700" h="3270250">
                <a:moveTo>
                  <a:pt x="2517677" y="3269827"/>
                </a:moveTo>
                <a:lnTo>
                  <a:pt x="2490653" y="3269827"/>
                </a:lnTo>
                <a:lnTo>
                  <a:pt x="2490653" y="3260819"/>
                </a:lnTo>
                <a:lnTo>
                  <a:pt x="2517677" y="3260819"/>
                </a:lnTo>
                <a:lnTo>
                  <a:pt x="2517677" y="3269827"/>
                </a:lnTo>
                <a:close/>
              </a:path>
              <a:path w="4711700" h="3270250">
                <a:moveTo>
                  <a:pt x="2454622" y="3269827"/>
                </a:moveTo>
                <a:lnTo>
                  <a:pt x="2427599" y="3269827"/>
                </a:lnTo>
                <a:lnTo>
                  <a:pt x="2427599" y="3260819"/>
                </a:lnTo>
                <a:lnTo>
                  <a:pt x="2454622" y="3260819"/>
                </a:lnTo>
                <a:lnTo>
                  <a:pt x="2454622" y="3269827"/>
                </a:lnTo>
                <a:close/>
              </a:path>
              <a:path w="4711700" h="3270250">
                <a:moveTo>
                  <a:pt x="2391568" y="3269827"/>
                </a:moveTo>
                <a:lnTo>
                  <a:pt x="2364544" y="3269827"/>
                </a:lnTo>
                <a:lnTo>
                  <a:pt x="2364544" y="3260819"/>
                </a:lnTo>
                <a:lnTo>
                  <a:pt x="2391568" y="3260819"/>
                </a:lnTo>
                <a:lnTo>
                  <a:pt x="2391568" y="3269827"/>
                </a:lnTo>
                <a:close/>
              </a:path>
              <a:path w="4711700" h="3270250">
                <a:moveTo>
                  <a:pt x="2328513" y="3269827"/>
                </a:moveTo>
                <a:lnTo>
                  <a:pt x="2301490" y="3269827"/>
                </a:lnTo>
                <a:lnTo>
                  <a:pt x="2301490" y="3260819"/>
                </a:lnTo>
                <a:lnTo>
                  <a:pt x="2328513" y="3260819"/>
                </a:lnTo>
                <a:lnTo>
                  <a:pt x="2328513" y="3269827"/>
                </a:lnTo>
                <a:close/>
              </a:path>
              <a:path w="4711700" h="3270250">
                <a:moveTo>
                  <a:pt x="2265458" y="3269827"/>
                </a:moveTo>
                <a:lnTo>
                  <a:pt x="2238435" y="3269827"/>
                </a:lnTo>
                <a:lnTo>
                  <a:pt x="2238435" y="3260819"/>
                </a:lnTo>
                <a:lnTo>
                  <a:pt x="2265458" y="3260819"/>
                </a:lnTo>
                <a:lnTo>
                  <a:pt x="2265458" y="3269827"/>
                </a:lnTo>
                <a:close/>
              </a:path>
              <a:path w="4711700" h="3270250">
                <a:moveTo>
                  <a:pt x="2202404" y="3269827"/>
                </a:moveTo>
                <a:lnTo>
                  <a:pt x="2175381" y="3269827"/>
                </a:lnTo>
                <a:lnTo>
                  <a:pt x="2175381" y="3260819"/>
                </a:lnTo>
                <a:lnTo>
                  <a:pt x="2202404" y="3260819"/>
                </a:lnTo>
                <a:lnTo>
                  <a:pt x="2202404" y="3269827"/>
                </a:lnTo>
                <a:close/>
              </a:path>
              <a:path w="4711700" h="3270250">
                <a:moveTo>
                  <a:pt x="2139349" y="3269827"/>
                </a:moveTo>
                <a:lnTo>
                  <a:pt x="2112326" y="3269827"/>
                </a:lnTo>
                <a:lnTo>
                  <a:pt x="2112326" y="3260819"/>
                </a:lnTo>
                <a:lnTo>
                  <a:pt x="2139349" y="3260819"/>
                </a:lnTo>
                <a:lnTo>
                  <a:pt x="2139349" y="3269827"/>
                </a:lnTo>
                <a:close/>
              </a:path>
              <a:path w="4711700" h="3270250">
                <a:moveTo>
                  <a:pt x="2076295" y="3269827"/>
                </a:moveTo>
                <a:lnTo>
                  <a:pt x="2049272" y="3269827"/>
                </a:lnTo>
                <a:lnTo>
                  <a:pt x="2049272" y="3260819"/>
                </a:lnTo>
                <a:lnTo>
                  <a:pt x="2076295" y="3260819"/>
                </a:lnTo>
                <a:lnTo>
                  <a:pt x="2076295" y="3269827"/>
                </a:lnTo>
                <a:close/>
              </a:path>
              <a:path w="4711700" h="3270250">
                <a:moveTo>
                  <a:pt x="2013240" y="3269827"/>
                </a:moveTo>
                <a:lnTo>
                  <a:pt x="1986217" y="3269827"/>
                </a:lnTo>
                <a:lnTo>
                  <a:pt x="1986217" y="3260819"/>
                </a:lnTo>
                <a:lnTo>
                  <a:pt x="2013240" y="3260819"/>
                </a:lnTo>
                <a:lnTo>
                  <a:pt x="2013240" y="3269827"/>
                </a:lnTo>
                <a:close/>
              </a:path>
              <a:path w="4711700" h="3270250">
                <a:moveTo>
                  <a:pt x="1950186" y="3269827"/>
                </a:moveTo>
                <a:lnTo>
                  <a:pt x="1923162" y="3269827"/>
                </a:lnTo>
                <a:lnTo>
                  <a:pt x="1923162" y="3260819"/>
                </a:lnTo>
                <a:lnTo>
                  <a:pt x="1950186" y="3260819"/>
                </a:lnTo>
                <a:lnTo>
                  <a:pt x="1950186" y="3269827"/>
                </a:lnTo>
                <a:close/>
              </a:path>
              <a:path w="4711700" h="3270250">
                <a:moveTo>
                  <a:pt x="1887131" y="3269827"/>
                </a:moveTo>
                <a:lnTo>
                  <a:pt x="1860108" y="3269827"/>
                </a:lnTo>
                <a:lnTo>
                  <a:pt x="1860108" y="3260819"/>
                </a:lnTo>
                <a:lnTo>
                  <a:pt x="1887131" y="3260819"/>
                </a:lnTo>
                <a:lnTo>
                  <a:pt x="1887131" y="3269827"/>
                </a:lnTo>
                <a:close/>
              </a:path>
              <a:path w="4711700" h="3270250">
                <a:moveTo>
                  <a:pt x="1824077" y="3269827"/>
                </a:moveTo>
                <a:lnTo>
                  <a:pt x="1797053" y="3269827"/>
                </a:lnTo>
                <a:lnTo>
                  <a:pt x="1797053" y="3260819"/>
                </a:lnTo>
                <a:lnTo>
                  <a:pt x="1824077" y="3260819"/>
                </a:lnTo>
                <a:lnTo>
                  <a:pt x="1824077" y="3269827"/>
                </a:lnTo>
                <a:close/>
              </a:path>
              <a:path w="4711700" h="3270250">
                <a:moveTo>
                  <a:pt x="1761022" y="3269827"/>
                </a:moveTo>
                <a:lnTo>
                  <a:pt x="1733999" y="3269827"/>
                </a:lnTo>
                <a:lnTo>
                  <a:pt x="1733999" y="3260819"/>
                </a:lnTo>
                <a:lnTo>
                  <a:pt x="1761022" y="3260819"/>
                </a:lnTo>
                <a:lnTo>
                  <a:pt x="1761022" y="3269827"/>
                </a:lnTo>
                <a:close/>
              </a:path>
              <a:path w="4711700" h="3270250">
                <a:moveTo>
                  <a:pt x="1697968" y="3269827"/>
                </a:moveTo>
                <a:lnTo>
                  <a:pt x="1670944" y="3269827"/>
                </a:lnTo>
                <a:lnTo>
                  <a:pt x="1670944" y="3260819"/>
                </a:lnTo>
                <a:lnTo>
                  <a:pt x="1697968" y="3260819"/>
                </a:lnTo>
                <a:lnTo>
                  <a:pt x="1697968" y="3269827"/>
                </a:lnTo>
                <a:close/>
              </a:path>
              <a:path w="4711700" h="3270250">
                <a:moveTo>
                  <a:pt x="1634913" y="3269827"/>
                </a:moveTo>
                <a:lnTo>
                  <a:pt x="1607890" y="3269827"/>
                </a:lnTo>
                <a:lnTo>
                  <a:pt x="1607890" y="3260819"/>
                </a:lnTo>
                <a:lnTo>
                  <a:pt x="1634913" y="3260819"/>
                </a:lnTo>
                <a:lnTo>
                  <a:pt x="1634913" y="3269827"/>
                </a:lnTo>
                <a:close/>
              </a:path>
              <a:path w="4711700" h="3270250">
                <a:moveTo>
                  <a:pt x="1571859" y="3269827"/>
                </a:moveTo>
                <a:lnTo>
                  <a:pt x="1544835" y="3269827"/>
                </a:lnTo>
                <a:lnTo>
                  <a:pt x="1544835" y="3260819"/>
                </a:lnTo>
                <a:lnTo>
                  <a:pt x="1571859" y="3260819"/>
                </a:lnTo>
                <a:lnTo>
                  <a:pt x="1571859" y="3269827"/>
                </a:lnTo>
                <a:close/>
              </a:path>
              <a:path w="4711700" h="3270250">
                <a:moveTo>
                  <a:pt x="1508804" y="3269827"/>
                </a:moveTo>
                <a:lnTo>
                  <a:pt x="1481781" y="3269827"/>
                </a:lnTo>
                <a:lnTo>
                  <a:pt x="1481781" y="3260819"/>
                </a:lnTo>
                <a:lnTo>
                  <a:pt x="1508804" y="3260819"/>
                </a:lnTo>
                <a:lnTo>
                  <a:pt x="1508804" y="3269827"/>
                </a:lnTo>
                <a:close/>
              </a:path>
              <a:path w="4711700" h="3270250">
                <a:moveTo>
                  <a:pt x="1445750" y="3269827"/>
                </a:moveTo>
                <a:lnTo>
                  <a:pt x="1418726" y="3269827"/>
                </a:lnTo>
                <a:lnTo>
                  <a:pt x="1418726" y="3260819"/>
                </a:lnTo>
                <a:lnTo>
                  <a:pt x="1445750" y="3260819"/>
                </a:lnTo>
                <a:lnTo>
                  <a:pt x="1445750" y="3269827"/>
                </a:lnTo>
                <a:close/>
              </a:path>
              <a:path w="4711700" h="3270250">
                <a:moveTo>
                  <a:pt x="1382695" y="3269827"/>
                </a:moveTo>
                <a:lnTo>
                  <a:pt x="1355672" y="3269827"/>
                </a:lnTo>
                <a:lnTo>
                  <a:pt x="1355672" y="3260819"/>
                </a:lnTo>
                <a:lnTo>
                  <a:pt x="1382695" y="3260819"/>
                </a:lnTo>
                <a:lnTo>
                  <a:pt x="1382695" y="3269827"/>
                </a:lnTo>
                <a:close/>
              </a:path>
              <a:path w="4711700" h="3270250">
                <a:moveTo>
                  <a:pt x="1319641" y="3269827"/>
                </a:moveTo>
                <a:lnTo>
                  <a:pt x="1292617" y="3269827"/>
                </a:lnTo>
                <a:lnTo>
                  <a:pt x="1292617" y="3260819"/>
                </a:lnTo>
                <a:lnTo>
                  <a:pt x="1319641" y="3260819"/>
                </a:lnTo>
                <a:lnTo>
                  <a:pt x="1319641" y="3269827"/>
                </a:lnTo>
                <a:close/>
              </a:path>
              <a:path w="4711700" h="3270250">
                <a:moveTo>
                  <a:pt x="1256586" y="3269827"/>
                </a:moveTo>
                <a:lnTo>
                  <a:pt x="1229563" y="3269827"/>
                </a:lnTo>
                <a:lnTo>
                  <a:pt x="1229563" y="3260819"/>
                </a:lnTo>
                <a:lnTo>
                  <a:pt x="1256586" y="3260819"/>
                </a:lnTo>
                <a:lnTo>
                  <a:pt x="1256586" y="3269827"/>
                </a:lnTo>
                <a:close/>
              </a:path>
              <a:path w="4711700" h="3270250">
                <a:moveTo>
                  <a:pt x="1193532" y="3269827"/>
                </a:moveTo>
                <a:lnTo>
                  <a:pt x="1166508" y="3269827"/>
                </a:lnTo>
                <a:lnTo>
                  <a:pt x="1166508" y="3260819"/>
                </a:lnTo>
                <a:lnTo>
                  <a:pt x="1193532" y="3260819"/>
                </a:lnTo>
                <a:lnTo>
                  <a:pt x="1193532" y="3269827"/>
                </a:lnTo>
                <a:close/>
              </a:path>
              <a:path w="4711700" h="3270250">
                <a:moveTo>
                  <a:pt x="1130477" y="3269827"/>
                </a:moveTo>
                <a:lnTo>
                  <a:pt x="1103454" y="3269827"/>
                </a:lnTo>
                <a:lnTo>
                  <a:pt x="1103454" y="3260819"/>
                </a:lnTo>
                <a:lnTo>
                  <a:pt x="1130477" y="3260819"/>
                </a:lnTo>
                <a:lnTo>
                  <a:pt x="1130477" y="3269827"/>
                </a:lnTo>
                <a:close/>
              </a:path>
              <a:path w="4711700" h="3270250">
                <a:moveTo>
                  <a:pt x="1067423" y="3269827"/>
                </a:moveTo>
                <a:lnTo>
                  <a:pt x="1040399" y="3269827"/>
                </a:lnTo>
                <a:lnTo>
                  <a:pt x="1040399" y="3260819"/>
                </a:lnTo>
                <a:lnTo>
                  <a:pt x="1067423" y="3260819"/>
                </a:lnTo>
                <a:lnTo>
                  <a:pt x="1067423" y="3269827"/>
                </a:lnTo>
                <a:close/>
              </a:path>
              <a:path w="4711700" h="3270250">
                <a:moveTo>
                  <a:pt x="1004368" y="3269827"/>
                </a:moveTo>
                <a:lnTo>
                  <a:pt x="977345" y="3269827"/>
                </a:lnTo>
                <a:lnTo>
                  <a:pt x="977345" y="3260819"/>
                </a:lnTo>
                <a:lnTo>
                  <a:pt x="1004368" y="3260819"/>
                </a:lnTo>
                <a:lnTo>
                  <a:pt x="1004368" y="3269827"/>
                </a:lnTo>
                <a:close/>
              </a:path>
              <a:path w="4711700" h="3270250">
                <a:moveTo>
                  <a:pt x="941313" y="3269827"/>
                </a:moveTo>
                <a:lnTo>
                  <a:pt x="914290" y="3269827"/>
                </a:lnTo>
                <a:lnTo>
                  <a:pt x="914290" y="3260819"/>
                </a:lnTo>
                <a:lnTo>
                  <a:pt x="941313" y="3260819"/>
                </a:lnTo>
                <a:lnTo>
                  <a:pt x="941313" y="3269827"/>
                </a:lnTo>
                <a:close/>
              </a:path>
              <a:path w="4711700" h="3270250">
                <a:moveTo>
                  <a:pt x="878259" y="3269827"/>
                </a:moveTo>
                <a:lnTo>
                  <a:pt x="851236" y="3269827"/>
                </a:lnTo>
                <a:lnTo>
                  <a:pt x="851236" y="3260819"/>
                </a:lnTo>
                <a:lnTo>
                  <a:pt x="878259" y="3260819"/>
                </a:lnTo>
                <a:lnTo>
                  <a:pt x="878259" y="3269827"/>
                </a:lnTo>
                <a:close/>
              </a:path>
              <a:path w="4711700" h="3270250">
                <a:moveTo>
                  <a:pt x="815204" y="3269827"/>
                </a:moveTo>
                <a:lnTo>
                  <a:pt x="788181" y="3269827"/>
                </a:lnTo>
                <a:lnTo>
                  <a:pt x="788181" y="3260819"/>
                </a:lnTo>
                <a:lnTo>
                  <a:pt x="815204" y="3260819"/>
                </a:lnTo>
                <a:lnTo>
                  <a:pt x="815204" y="3269827"/>
                </a:lnTo>
                <a:close/>
              </a:path>
              <a:path w="4711700" h="3270250">
                <a:moveTo>
                  <a:pt x="752150" y="3269827"/>
                </a:moveTo>
                <a:lnTo>
                  <a:pt x="725127" y="3269827"/>
                </a:lnTo>
                <a:lnTo>
                  <a:pt x="725127" y="3260819"/>
                </a:lnTo>
                <a:lnTo>
                  <a:pt x="752150" y="3260819"/>
                </a:lnTo>
                <a:lnTo>
                  <a:pt x="752150" y="3269827"/>
                </a:lnTo>
                <a:close/>
              </a:path>
              <a:path w="4711700" h="3270250">
                <a:moveTo>
                  <a:pt x="689095" y="3269827"/>
                </a:moveTo>
                <a:lnTo>
                  <a:pt x="662072" y="3269827"/>
                </a:lnTo>
                <a:lnTo>
                  <a:pt x="662072" y="3260819"/>
                </a:lnTo>
                <a:lnTo>
                  <a:pt x="689095" y="3260819"/>
                </a:lnTo>
                <a:lnTo>
                  <a:pt x="689095" y="3269827"/>
                </a:lnTo>
                <a:close/>
              </a:path>
              <a:path w="4711700" h="3270250">
                <a:moveTo>
                  <a:pt x="626041" y="3269827"/>
                </a:moveTo>
                <a:lnTo>
                  <a:pt x="599017" y="3269827"/>
                </a:lnTo>
                <a:lnTo>
                  <a:pt x="599017" y="3260819"/>
                </a:lnTo>
                <a:lnTo>
                  <a:pt x="626041" y="3260819"/>
                </a:lnTo>
                <a:lnTo>
                  <a:pt x="626041" y="3269827"/>
                </a:lnTo>
                <a:close/>
              </a:path>
              <a:path w="4711700" h="3270250">
                <a:moveTo>
                  <a:pt x="562986" y="3269827"/>
                </a:moveTo>
                <a:lnTo>
                  <a:pt x="535963" y="3269827"/>
                </a:lnTo>
                <a:lnTo>
                  <a:pt x="535963" y="3260819"/>
                </a:lnTo>
                <a:lnTo>
                  <a:pt x="562986" y="3260819"/>
                </a:lnTo>
                <a:lnTo>
                  <a:pt x="562986" y="3269827"/>
                </a:lnTo>
                <a:close/>
              </a:path>
              <a:path w="4711700" h="3270250">
                <a:moveTo>
                  <a:pt x="499932" y="3269827"/>
                </a:moveTo>
                <a:lnTo>
                  <a:pt x="472908" y="3269827"/>
                </a:lnTo>
                <a:lnTo>
                  <a:pt x="472908" y="3260819"/>
                </a:lnTo>
                <a:lnTo>
                  <a:pt x="499932" y="3260819"/>
                </a:lnTo>
                <a:lnTo>
                  <a:pt x="499932" y="3269827"/>
                </a:lnTo>
                <a:close/>
              </a:path>
              <a:path w="4711700" h="3270250">
                <a:moveTo>
                  <a:pt x="436878" y="3269827"/>
                </a:moveTo>
                <a:lnTo>
                  <a:pt x="409854" y="3269827"/>
                </a:lnTo>
                <a:lnTo>
                  <a:pt x="409854" y="3260819"/>
                </a:lnTo>
                <a:lnTo>
                  <a:pt x="436878" y="3260819"/>
                </a:lnTo>
                <a:lnTo>
                  <a:pt x="436878" y="3269827"/>
                </a:lnTo>
                <a:close/>
              </a:path>
              <a:path w="4711700" h="3270250">
                <a:moveTo>
                  <a:pt x="373823" y="3269827"/>
                </a:moveTo>
                <a:lnTo>
                  <a:pt x="346799" y="3269827"/>
                </a:lnTo>
                <a:lnTo>
                  <a:pt x="346799" y="3260819"/>
                </a:lnTo>
                <a:lnTo>
                  <a:pt x="373823" y="3260819"/>
                </a:lnTo>
                <a:lnTo>
                  <a:pt x="373823" y="3269827"/>
                </a:lnTo>
                <a:close/>
              </a:path>
              <a:path w="4711700" h="3270250">
                <a:moveTo>
                  <a:pt x="310768" y="3269827"/>
                </a:moveTo>
                <a:lnTo>
                  <a:pt x="283745" y="3269827"/>
                </a:lnTo>
                <a:lnTo>
                  <a:pt x="283745" y="3260819"/>
                </a:lnTo>
                <a:lnTo>
                  <a:pt x="310768" y="3260819"/>
                </a:lnTo>
                <a:lnTo>
                  <a:pt x="310768" y="3269827"/>
                </a:lnTo>
                <a:close/>
              </a:path>
              <a:path w="4711700" h="3270250">
                <a:moveTo>
                  <a:pt x="247714" y="3269827"/>
                </a:moveTo>
                <a:lnTo>
                  <a:pt x="220690" y="3269827"/>
                </a:lnTo>
                <a:lnTo>
                  <a:pt x="220690" y="3260819"/>
                </a:lnTo>
                <a:lnTo>
                  <a:pt x="247714" y="3260819"/>
                </a:lnTo>
                <a:lnTo>
                  <a:pt x="247714" y="3269827"/>
                </a:lnTo>
                <a:close/>
              </a:path>
              <a:path w="4711700" h="3270250">
                <a:moveTo>
                  <a:pt x="184659" y="3269827"/>
                </a:moveTo>
                <a:lnTo>
                  <a:pt x="157636" y="3269827"/>
                </a:lnTo>
                <a:lnTo>
                  <a:pt x="157636" y="3260819"/>
                </a:lnTo>
                <a:lnTo>
                  <a:pt x="184659" y="3260819"/>
                </a:lnTo>
                <a:lnTo>
                  <a:pt x="184659" y="3269827"/>
                </a:lnTo>
                <a:close/>
              </a:path>
              <a:path w="4711700" h="3270250">
                <a:moveTo>
                  <a:pt x="121605" y="3269827"/>
                </a:moveTo>
                <a:lnTo>
                  <a:pt x="94581" y="3269827"/>
                </a:lnTo>
                <a:lnTo>
                  <a:pt x="94581" y="3260819"/>
                </a:lnTo>
                <a:lnTo>
                  <a:pt x="121605" y="3260819"/>
                </a:lnTo>
                <a:lnTo>
                  <a:pt x="121605" y="3269827"/>
                </a:lnTo>
                <a:close/>
              </a:path>
              <a:path w="4711700" h="3270250">
                <a:moveTo>
                  <a:pt x="58550" y="3269827"/>
                </a:moveTo>
                <a:lnTo>
                  <a:pt x="31527" y="3269827"/>
                </a:lnTo>
                <a:lnTo>
                  <a:pt x="31527" y="3260819"/>
                </a:lnTo>
                <a:lnTo>
                  <a:pt x="58550" y="3260819"/>
                </a:lnTo>
                <a:lnTo>
                  <a:pt x="58550" y="3269827"/>
                </a:lnTo>
                <a:close/>
              </a:path>
              <a:path w="4711700" h="3270250">
                <a:moveTo>
                  <a:pt x="9007" y="3256315"/>
                </a:moveTo>
                <a:lnTo>
                  <a:pt x="0" y="3256315"/>
                </a:lnTo>
                <a:lnTo>
                  <a:pt x="0" y="3229292"/>
                </a:lnTo>
                <a:lnTo>
                  <a:pt x="9007" y="3229292"/>
                </a:lnTo>
                <a:lnTo>
                  <a:pt x="9007" y="3256315"/>
                </a:lnTo>
                <a:close/>
              </a:path>
              <a:path w="4711700" h="3270250">
                <a:moveTo>
                  <a:pt x="9007" y="3193261"/>
                </a:moveTo>
                <a:lnTo>
                  <a:pt x="0" y="3193261"/>
                </a:lnTo>
                <a:lnTo>
                  <a:pt x="0" y="3166237"/>
                </a:lnTo>
                <a:lnTo>
                  <a:pt x="9007" y="3166237"/>
                </a:lnTo>
                <a:lnTo>
                  <a:pt x="9007" y="3193261"/>
                </a:lnTo>
                <a:close/>
              </a:path>
              <a:path w="4711700" h="3270250">
                <a:moveTo>
                  <a:pt x="9007" y="3130206"/>
                </a:moveTo>
                <a:lnTo>
                  <a:pt x="0" y="3130206"/>
                </a:lnTo>
                <a:lnTo>
                  <a:pt x="0" y="3103183"/>
                </a:lnTo>
                <a:lnTo>
                  <a:pt x="9007" y="3103183"/>
                </a:lnTo>
                <a:lnTo>
                  <a:pt x="9007" y="3130206"/>
                </a:lnTo>
                <a:close/>
              </a:path>
              <a:path w="4711700" h="3270250">
                <a:moveTo>
                  <a:pt x="9007" y="3067152"/>
                </a:moveTo>
                <a:lnTo>
                  <a:pt x="0" y="3067152"/>
                </a:lnTo>
                <a:lnTo>
                  <a:pt x="0" y="3040128"/>
                </a:lnTo>
                <a:lnTo>
                  <a:pt x="9007" y="3040128"/>
                </a:lnTo>
                <a:lnTo>
                  <a:pt x="9007" y="3067152"/>
                </a:lnTo>
                <a:close/>
              </a:path>
              <a:path w="4711700" h="3270250">
                <a:moveTo>
                  <a:pt x="9007" y="3004097"/>
                </a:moveTo>
                <a:lnTo>
                  <a:pt x="0" y="3004097"/>
                </a:lnTo>
                <a:lnTo>
                  <a:pt x="0" y="2977074"/>
                </a:lnTo>
                <a:lnTo>
                  <a:pt x="9007" y="2977074"/>
                </a:lnTo>
                <a:lnTo>
                  <a:pt x="9007" y="3004097"/>
                </a:lnTo>
                <a:close/>
              </a:path>
              <a:path w="4711700" h="3270250">
                <a:moveTo>
                  <a:pt x="9007" y="2941043"/>
                </a:moveTo>
                <a:lnTo>
                  <a:pt x="0" y="2941043"/>
                </a:lnTo>
                <a:lnTo>
                  <a:pt x="0" y="2914019"/>
                </a:lnTo>
                <a:lnTo>
                  <a:pt x="9007" y="2914019"/>
                </a:lnTo>
                <a:lnTo>
                  <a:pt x="9007" y="2941043"/>
                </a:lnTo>
                <a:close/>
              </a:path>
              <a:path w="4711700" h="3270250">
                <a:moveTo>
                  <a:pt x="9007" y="2877988"/>
                </a:moveTo>
                <a:lnTo>
                  <a:pt x="0" y="2877988"/>
                </a:lnTo>
                <a:lnTo>
                  <a:pt x="0" y="2850965"/>
                </a:lnTo>
                <a:lnTo>
                  <a:pt x="9007" y="2850965"/>
                </a:lnTo>
                <a:lnTo>
                  <a:pt x="9007" y="2877988"/>
                </a:lnTo>
                <a:close/>
              </a:path>
              <a:path w="4711700" h="3270250">
                <a:moveTo>
                  <a:pt x="9007" y="2814934"/>
                </a:moveTo>
                <a:lnTo>
                  <a:pt x="0" y="2814934"/>
                </a:lnTo>
                <a:lnTo>
                  <a:pt x="0" y="2787910"/>
                </a:lnTo>
                <a:lnTo>
                  <a:pt x="9007" y="2787910"/>
                </a:lnTo>
                <a:lnTo>
                  <a:pt x="9007" y="2814934"/>
                </a:lnTo>
                <a:close/>
              </a:path>
              <a:path w="4711700" h="3270250">
                <a:moveTo>
                  <a:pt x="9007" y="2751879"/>
                </a:moveTo>
                <a:lnTo>
                  <a:pt x="0" y="2751879"/>
                </a:lnTo>
                <a:lnTo>
                  <a:pt x="0" y="2724856"/>
                </a:lnTo>
                <a:lnTo>
                  <a:pt x="9007" y="2724856"/>
                </a:lnTo>
                <a:lnTo>
                  <a:pt x="9007" y="2751879"/>
                </a:lnTo>
                <a:close/>
              </a:path>
              <a:path w="4711700" h="3270250">
                <a:moveTo>
                  <a:pt x="9007" y="2688825"/>
                </a:moveTo>
                <a:lnTo>
                  <a:pt x="0" y="2688825"/>
                </a:lnTo>
                <a:lnTo>
                  <a:pt x="0" y="2661801"/>
                </a:lnTo>
                <a:lnTo>
                  <a:pt x="9007" y="2661801"/>
                </a:lnTo>
                <a:lnTo>
                  <a:pt x="9007" y="2688825"/>
                </a:lnTo>
                <a:close/>
              </a:path>
              <a:path w="4711700" h="3270250">
                <a:moveTo>
                  <a:pt x="9007" y="2625770"/>
                </a:moveTo>
                <a:lnTo>
                  <a:pt x="0" y="2625770"/>
                </a:lnTo>
                <a:lnTo>
                  <a:pt x="0" y="2598747"/>
                </a:lnTo>
                <a:lnTo>
                  <a:pt x="9007" y="2598747"/>
                </a:lnTo>
                <a:lnTo>
                  <a:pt x="9007" y="2625770"/>
                </a:lnTo>
                <a:close/>
              </a:path>
              <a:path w="4711700" h="3270250">
                <a:moveTo>
                  <a:pt x="9007" y="2562716"/>
                </a:moveTo>
                <a:lnTo>
                  <a:pt x="0" y="2562716"/>
                </a:lnTo>
                <a:lnTo>
                  <a:pt x="0" y="2535692"/>
                </a:lnTo>
                <a:lnTo>
                  <a:pt x="9007" y="2535692"/>
                </a:lnTo>
                <a:lnTo>
                  <a:pt x="9007" y="2562716"/>
                </a:lnTo>
                <a:close/>
              </a:path>
              <a:path w="4711700" h="3270250">
                <a:moveTo>
                  <a:pt x="9007" y="2499661"/>
                </a:moveTo>
                <a:lnTo>
                  <a:pt x="0" y="2499661"/>
                </a:lnTo>
                <a:lnTo>
                  <a:pt x="0" y="2472638"/>
                </a:lnTo>
                <a:lnTo>
                  <a:pt x="9007" y="2472638"/>
                </a:lnTo>
                <a:lnTo>
                  <a:pt x="9007" y="2499661"/>
                </a:lnTo>
                <a:close/>
              </a:path>
              <a:path w="4711700" h="3270250">
                <a:moveTo>
                  <a:pt x="9007" y="2436606"/>
                </a:moveTo>
                <a:lnTo>
                  <a:pt x="0" y="2436606"/>
                </a:lnTo>
                <a:lnTo>
                  <a:pt x="0" y="2409583"/>
                </a:lnTo>
                <a:lnTo>
                  <a:pt x="9007" y="2409583"/>
                </a:lnTo>
                <a:lnTo>
                  <a:pt x="9007" y="2436606"/>
                </a:lnTo>
                <a:close/>
              </a:path>
              <a:path w="4711700" h="3270250">
                <a:moveTo>
                  <a:pt x="9007" y="2373552"/>
                </a:moveTo>
                <a:lnTo>
                  <a:pt x="0" y="2373552"/>
                </a:lnTo>
                <a:lnTo>
                  <a:pt x="0" y="2346529"/>
                </a:lnTo>
                <a:lnTo>
                  <a:pt x="9007" y="2346529"/>
                </a:lnTo>
                <a:lnTo>
                  <a:pt x="9007" y="2373552"/>
                </a:lnTo>
                <a:close/>
              </a:path>
              <a:path w="4711700" h="3270250">
                <a:moveTo>
                  <a:pt x="9007" y="2310497"/>
                </a:moveTo>
                <a:lnTo>
                  <a:pt x="0" y="2310497"/>
                </a:lnTo>
                <a:lnTo>
                  <a:pt x="0" y="2283474"/>
                </a:lnTo>
                <a:lnTo>
                  <a:pt x="9007" y="2283474"/>
                </a:lnTo>
                <a:lnTo>
                  <a:pt x="9007" y="2310497"/>
                </a:lnTo>
                <a:close/>
              </a:path>
              <a:path w="4711700" h="3270250">
                <a:moveTo>
                  <a:pt x="9007" y="2247443"/>
                </a:moveTo>
                <a:lnTo>
                  <a:pt x="0" y="2247443"/>
                </a:lnTo>
                <a:lnTo>
                  <a:pt x="0" y="2220420"/>
                </a:lnTo>
                <a:lnTo>
                  <a:pt x="9007" y="2220420"/>
                </a:lnTo>
                <a:lnTo>
                  <a:pt x="9007" y="2247443"/>
                </a:lnTo>
                <a:close/>
              </a:path>
              <a:path w="4711700" h="3270250">
                <a:moveTo>
                  <a:pt x="9007" y="2184388"/>
                </a:moveTo>
                <a:lnTo>
                  <a:pt x="0" y="2184388"/>
                </a:lnTo>
                <a:lnTo>
                  <a:pt x="0" y="2157365"/>
                </a:lnTo>
                <a:lnTo>
                  <a:pt x="9007" y="2157365"/>
                </a:lnTo>
                <a:lnTo>
                  <a:pt x="9007" y="2184388"/>
                </a:lnTo>
                <a:close/>
              </a:path>
              <a:path w="4711700" h="3270250">
                <a:moveTo>
                  <a:pt x="9007" y="2121334"/>
                </a:moveTo>
                <a:lnTo>
                  <a:pt x="0" y="2121334"/>
                </a:lnTo>
                <a:lnTo>
                  <a:pt x="0" y="2094310"/>
                </a:lnTo>
                <a:lnTo>
                  <a:pt x="9007" y="2094310"/>
                </a:lnTo>
                <a:lnTo>
                  <a:pt x="9007" y="2121334"/>
                </a:lnTo>
                <a:close/>
              </a:path>
              <a:path w="4711700" h="3270250">
                <a:moveTo>
                  <a:pt x="9007" y="2058279"/>
                </a:moveTo>
                <a:lnTo>
                  <a:pt x="0" y="2058279"/>
                </a:lnTo>
                <a:lnTo>
                  <a:pt x="0" y="2031256"/>
                </a:lnTo>
                <a:lnTo>
                  <a:pt x="9007" y="2031256"/>
                </a:lnTo>
                <a:lnTo>
                  <a:pt x="9007" y="2058279"/>
                </a:lnTo>
                <a:close/>
              </a:path>
              <a:path w="4711700" h="3270250">
                <a:moveTo>
                  <a:pt x="9007" y="1995225"/>
                </a:moveTo>
                <a:lnTo>
                  <a:pt x="0" y="1995225"/>
                </a:lnTo>
                <a:lnTo>
                  <a:pt x="0" y="1968201"/>
                </a:lnTo>
                <a:lnTo>
                  <a:pt x="9007" y="1968201"/>
                </a:lnTo>
                <a:lnTo>
                  <a:pt x="9007" y="1995225"/>
                </a:lnTo>
                <a:close/>
              </a:path>
              <a:path w="4711700" h="3270250">
                <a:moveTo>
                  <a:pt x="9007" y="1932170"/>
                </a:moveTo>
                <a:lnTo>
                  <a:pt x="0" y="1932170"/>
                </a:lnTo>
                <a:lnTo>
                  <a:pt x="0" y="1905147"/>
                </a:lnTo>
                <a:lnTo>
                  <a:pt x="9007" y="1905147"/>
                </a:lnTo>
                <a:lnTo>
                  <a:pt x="9007" y="1932170"/>
                </a:lnTo>
                <a:close/>
              </a:path>
              <a:path w="4711700" h="3270250">
                <a:moveTo>
                  <a:pt x="9007" y="1869116"/>
                </a:moveTo>
                <a:lnTo>
                  <a:pt x="0" y="1869116"/>
                </a:lnTo>
                <a:lnTo>
                  <a:pt x="0" y="1842092"/>
                </a:lnTo>
                <a:lnTo>
                  <a:pt x="9007" y="1842092"/>
                </a:lnTo>
                <a:lnTo>
                  <a:pt x="9007" y="1869116"/>
                </a:lnTo>
                <a:close/>
              </a:path>
              <a:path w="4711700" h="3270250">
                <a:moveTo>
                  <a:pt x="9007" y="1806061"/>
                </a:moveTo>
                <a:lnTo>
                  <a:pt x="0" y="1806061"/>
                </a:lnTo>
                <a:lnTo>
                  <a:pt x="0" y="1779038"/>
                </a:lnTo>
                <a:lnTo>
                  <a:pt x="9007" y="1779038"/>
                </a:lnTo>
                <a:lnTo>
                  <a:pt x="9007" y="1806061"/>
                </a:lnTo>
                <a:close/>
              </a:path>
              <a:path w="4711700" h="3270250">
                <a:moveTo>
                  <a:pt x="9007" y="1743007"/>
                </a:moveTo>
                <a:lnTo>
                  <a:pt x="0" y="1743007"/>
                </a:lnTo>
                <a:lnTo>
                  <a:pt x="0" y="1715983"/>
                </a:lnTo>
                <a:lnTo>
                  <a:pt x="9007" y="1715983"/>
                </a:lnTo>
                <a:lnTo>
                  <a:pt x="9007" y="1743007"/>
                </a:lnTo>
                <a:close/>
              </a:path>
              <a:path w="4711700" h="3270250">
                <a:moveTo>
                  <a:pt x="9007" y="1679952"/>
                </a:moveTo>
                <a:lnTo>
                  <a:pt x="0" y="1679952"/>
                </a:lnTo>
                <a:lnTo>
                  <a:pt x="0" y="1652929"/>
                </a:lnTo>
                <a:lnTo>
                  <a:pt x="9007" y="1652929"/>
                </a:lnTo>
                <a:lnTo>
                  <a:pt x="9007" y="1679952"/>
                </a:lnTo>
                <a:close/>
              </a:path>
              <a:path w="4711700" h="3270250">
                <a:moveTo>
                  <a:pt x="9007" y="1616898"/>
                </a:moveTo>
                <a:lnTo>
                  <a:pt x="0" y="1616898"/>
                </a:lnTo>
                <a:lnTo>
                  <a:pt x="0" y="1589874"/>
                </a:lnTo>
                <a:lnTo>
                  <a:pt x="9007" y="1589874"/>
                </a:lnTo>
                <a:lnTo>
                  <a:pt x="9007" y="1616898"/>
                </a:lnTo>
                <a:close/>
              </a:path>
              <a:path w="4711700" h="3270250">
                <a:moveTo>
                  <a:pt x="9007" y="1553843"/>
                </a:moveTo>
                <a:lnTo>
                  <a:pt x="0" y="1553843"/>
                </a:lnTo>
                <a:lnTo>
                  <a:pt x="0" y="1526820"/>
                </a:lnTo>
                <a:lnTo>
                  <a:pt x="9007" y="1526820"/>
                </a:lnTo>
                <a:lnTo>
                  <a:pt x="9007" y="1553843"/>
                </a:lnTo>
                <a:close/>
              </a:path>
              <a:path w="4711700" h="3270250">
                <a:moveTo>
                  <a:pt x="9007" y="1490789"/>
                </a:moveTo>
                <a:lnTo>
                  <a:pt x="0" y="1490789"/>
                </a:lnTo>
                <a:lnTo>
                  <a:pt x="0" y="1463765"/>
                </a:lnTo>
                <a:lnTo>
                  <a:pt x="9007" y="1463765"/>
                </a:lnTo>
                <a:lnTo>
                  <a:pt x="9007" y="1490789"/>
                </a:lnTo>
                <a:close/>
              </a:path>
              <a:path w="4711700" h="3270250">
                <a:moveTo>
                  <a:pt x="9007" y="1427734"/>
                </a:moveTo>
                <a:lnTo>
                  <a:pt x="0" y="1427734"/>
                </a:lnTo>
                <a:lnTo>
                  <a:pt x="0" y="1400711"/>
                </a:lnTo>
                <a:lnTo>
                  <a:pt x="9007" y="1400711"/>
                </a:lnTo>
                <a:lnTo>
                  <a:pt x="9007" y="1427734"/>
                </a:lnTo>
                <a:close/>
              </a:path>
              <a:path w="4711700" h="3270250">
                <a:moveTo>
                  <a:pt x="9007" y="1364680"/>
                </a:moveTo>
                <a:lnTo>
                  <a:pt x="0" y="1364680"/>
                </a:lnTo>
                <a:lnTo>
                  <a:pt x="0" y="1337656"/>
                </a:lnTo>
                <a:lnTo>
                  <a:pt x="9007" y="1337656"/>
                </a:lnTo>
                <a:lnTo>
                  <a:pt x="9007" y="1364680"/>
                </a:lnTo>
                <a:close/>
              </a:path>
              <a:path w="4711700" h="3270250">
                <a:moveTo>
                  <a:pt x="9007" y="1301625"/>
                </a:moveTo>
                <a:lnTo>
                  <a:pt x="0" y="1301625"/>
                </a:lnTo>
                <a:lnTo>
                  <a:pt x="0" y="1274602"/>
                </a:lnTo>
                <a:lnTo>
                  <a:pt x="9007" y="1274602"/>
                </a:lnTo>
                <a:lnTo>
                  <a:pt x="9007" y="1301625"/>
                </a:lnTo>
                <a:close/>
              </a:path>
              <a:path w="4711700" h="3270250">
                <a:moveTo>
                  <a:pt x="9007" y="1238570"/>
                </a:moveTo>
                <a:lnTo>
                  <a:pt x="0" y="1238570"/>
                </a:lnTo>
                <a:lnTo>
                  <a:pt x="0" y="1211547"/>
                </a:lnTo>
                <a:lnTo>
                  <a:pt x="9007" y="1211547"/>
                </a:lnTo>
                <a:lnTo>
                  <a:pt x="9007" y="1238570"/>
                </a:lnTo>
                <a:close/>
              </a:path>
              <a:path w="4711700" h="3270250">
                <a:moveTo>
                  <a:pt x="9007" y="1175516"/>
                </a:moveTo>
                <a:lnTo>
                  <a:pt x="0" y="1175516"/>
                </a:lnTo>
                <a:lnTo>
                  <a:pt x="0" y="1148492"/>
                </a:lnTo>
                <a:lnTo>
                  <a:pt x="9007" y="1148492"/>
                </a:lnTo>
                <a:lnTo>
                  <a:pt x="9007" y="1175516"/>
                </a:lnTo>
                <a:close/>
              </a:path>
              <a:path w="4711700" h="3270250">
                <a:moveTo>
                  <a:pt x="9007" y="1112461"/>
                </a:moveTo>
                <a:lnTo>
                  <a:pt x="0" y="1112461"/>
                </a:lnTo>
                <a:lnTo>
                  <a:pt x="0" y="1085438"/>
                </a:lnTo>
                <a:lnTo>
                  <a:pt x="9007" y="1085438"/>
                </a:lnTo>
                <a:lnTo>
                  <a:pt x="9007" y="1112461"/>
                </a:lnTo>
                <a:close/>
              </a:path>
              <a:path w="4711700" h="3270250">
                <a:moveTo>
                  <a:pt x="9007" y="1049407"/>
                </a:moveTo>
                <a:lnTo>
                  <a:pt x="0" y="1049407"/>
                </a:lnTo>
                <a:lnTo>
                  <a:pt x="0" y="1022384"/>
                </a:lnTo>
                <a:lnTo>
                  <a:pt x="9007" y="1022384"/>
                </a:lnTo>
                <a:lnTo>
                  <a:pt x="9007" y="1049407"/>
                </a:lnTo>
                <a:close/>
              </a:path>
              <a:path w="4711700" h="3270250">
                <a:moveTo>
                  <a:pt x="9007" y="986352"/>
                </a:moveTo>
                <a:lnTo>
                  <a:pt x="0" y="986352"/>
                </a:lnTo>
                <a:lnTo>
                  <a:pt x="0" y="959329"/>
                </a:lnTo>
                <a:lnTo>
                  <a:pt x="9007" y="959329"/>
                </a:lnTo>
                <a:lnTo>
                  <a:pt x="9007" y="986352"/>
                </a:lnTo>
                <a:close/>
              </a:path>
              <a:path w="4711700" h="3270250">
                <a:moveTo>
                  <a:pt x="9007" y="923298"/>
                </a:moveTo>
                <a:lnTo>
                  <a:pt x="0" y="923298"/>
                </a:lnTo>
                <a:lnTo>
                  <a:pt x="0" y="896275"/>
                </a:lnTo>
                <a:lnTo>
                  <a:pt x="9007" y="896275"/>
                </a:lnTo>
                <a:lnTo>
                  <a:pt x="9007" y="923298"/>
                </a:lnTo>
                <a:close/>
              </a:path>
              <a:path w="4711700" h="3270250">
                <a:moveTo>
                  <a:pt x="9007" y="860243"/>
                </a:moveTo>
                <a:lnTo>
                  <a:pt x="0" y="860243"/>
                </a:lnTo>
                <a:lnTo>
                  <a:pt x="0" y="833220"/>
                </a:lnTo>
                <a:lnTo>
                  <a:pt x="9007" y="833220"/>
                </a:lnTo>
                <a:lnTo>
                  <a:pt x="9007" y="860243"/>
                </a:lnTo>
                <a:close/>
              </a:path>
              <a:path w="4711700" h="3270250">
                <a:moveTo>
                  <a:pt x="9007" y="797189"/>
                </a:moveTo>
                <a:lnTo>
                  <a:pt x="0" y="797189"/>
                </a:lnTo>
                <a:lnTo>
                  <a:pt x="0" y="770165"/>
                </a:lnTo>
                <a:lnTo>
                  <a:pt x="9007" y="770165"/>
                </a:lnTo>
                <a:lnTo>
                  <a:pt x="9007" y="797189"/>
                </a:lnTo>
                <a:close/>
              </a:path>
              <a:path w="4711700" h="3270250">
                <a:moveTo>
                  <a:pt x="9007" y="734134"/>
                </a:moveTo>
                <a:lnTo>
                  <a:pt x="0" y="734134"/>
                </a:lnTo>
                <a:lnTo>
                  <a:pt x="0" y="707111"/>
                </a:lnTo>
                <a:lnTo>
                  <a:pt x="9007" y="707111"/>
                </a:lnTo>
                <a:lnTo>
                  <a:pt x="9007" y="734134"/>
                </a:lnTo>
                <a:close/>
              </a:path>
              <a:path w="4711700" h="3270250">
                <a:moveTo>
                  <a:pt x="9007" y="671080"/>
                </a:moveTo>
                <a:lnTo>
                  <a:pt x="0" y="671080"/>
                </a:lnTo>
                <a:lnTo>
                  <a:pt x="0" y="644056"/>
                </a:lnTo>
                <a:lnTo>
                  <a:pt x="9007" y="644056"/>
                </a:lnTo>
                <a:lnTo>
                  <a:pt x="9007" y="671080"/>
                </a:lnTo>
                <a:close/>
              </a:path>
              <a:path w="4711700" h="3270250">
                <a:moveTo>
                  <a:pt x="9007" y="608025"/>
                </a:moveTo>
                <a:lnTo>
                  <a:pt x="0" y="608025"/>
                </a:lnTo>
                <a:lnTo>
                  <a:pt x="0" y="581002"/>
                </a:lnTo>
                <a:lnTo>
                  <a:pt x="9007" y="581002"/>
                </a:lnTo>
                <a:lnTo>
                  <a:pt x="9007" y="608025"/>
                </a:lnTo>
                <a:close/>
              </a:path>
              <a:path w="4711700" h="3270250">
                <a:moveTo>
                  <a:pt x="9007" y="544971"/>
                </a:moveTo>
                <a:lnTo>
                  <a:pt x="0" y="544971"/>
                </a:lnTo>
                <a:lnTo>
                  <a:pt x="0" y="517947"/>
                </a:lnTo>
                <a:lnTo>
                  <a:pt x="9007" y="517947"/>
                </a:lnTo>
                <a:lnTo>
                  <a:pt x="9007" y="544971"/>
                </a:lnTo>
                <a:close/>
              </a:path>
              <a:path w="4711700" h="3270250">
                <a:moveTo>
                  <a:pt x="9007" y="481916"/>
                </a:moveTo>
                <a:lnTo>
                  <a:pt x="0" y="481916"/>
                </a:lnTo>
                <a:lnTo>
                  <a:pt x="0" y="454893"/>
                </a:lnTo>
                <a:lnTo>
                  <a:pt x="9007" y="454893"/>
                </a:lnTo>
                <a:lnTo>
                  <a:pt x="9007" y="481916"/>
                </a:lnTo>
                <a:close/>
              </a:path>
              <a:path w="4711700" h="3270250">
                <a:moveTo>
                  <a:pt x="9007" y="418862"/>
                </a:moveTo>
                <a:lnTo>
                  <a:pt x="0" y="418862"/>
                </a:lnTo>
                <a:lnTo>
                  <a:pt x="0" y="391838"/>
                </a:lnTo>
                <a:lnTo>
                  <a:pt x="9007" y="391838"/>
                </a:lnTo>
                <a:lnTo>
                  <a:pt x="9007" y="418862"/>
                </a:lnTo>
                <a:close/>
              </a:path>
              <a:path w="4711700" h="3270250">
                <a:moveTo>
                  <a:pt x="9007" y="355807"/>
                </a:moveTo>
                <a:lnTo>
                  <a:pt x="0" y="355807"/>
                </a:lnTo>
                <a:lnTo>
                  <a:pt x="0" y="328784"/>
                </a:lnTo>
                <a:lnTo>
                  <a:pt x="9007" y="328784"/>
                </a:lnTo>
                <a:lnTo>
                  <a:pt x="9007" y="355807"/>
                </a:lnTo>
                <a:close/>
              </a:path>
              <a:path w="4711700" h="3270250">
                <a:moveTo>
                  <a:pt x="9007" y="292753"/>
                </a:moveTo>
                <a:lnTo>
                  <a:pt x="0" y="292753"/>
                </a:lnTo>
                <a:lnTo>
                  <a:pt x="0" y="265729"/>
                </a:lnTo>
                <a:lnTo>
                  <a:pt x="9007" y="265729"/>
                </a:lnTo>
                <a:lnTo>
                  <a:pt x="9007" y="292753"/>
                </a:lnTo>
                <a:close/>
              </a:path>
              <a:path w="4711700" h="3270250">
                <a:moveTo>
                  <a:pt x="9007" y="229698"/>
                </a:moveTo>
                <a:lnTo>
                  <a:pt x="0" y="229698"/>
                </a:lnTo>
                <a:lnTo>
                  <a:pt x="0" y="202675"/>
                </a:lnTo>
                <a:lnTo>
                  <a:pt x="9007" y="202675"/>
                </a:lnTo>
                <a:lnTo>
                  <a:pt x="9007" y="229698"/>
                </a:lnTo>
                <a:close/>
              </a:path>
              <a:path w="4711700" h="3270250">
                <a:moveTo>
                  <a:pt x="9007" y="166644"/>
                </a:moveTo>
                <a:lnTo>
                  <a:pt x="0" y="166644"/>
                </a:lnTo>
                <a:lnTo>
                  <a:pt x="0" y="139620"/>
                </a:lnTo>
                <a:lnTo>
                  <a:pt x="9007" y="139620"/>
                </a:lnTo>
                <a:lnTo>
                  <a:pt x="9007" y="166644"/>
                </a:lnTo>
                <a:close/>
              </a:path>
              <a:path w="4711700" h="3270250">
                <a:moveTo>
                  <a:pt x="9007" y="103589"/>
                </a:moveTo>
                <a:lnTo>
                  <a:pt x="0" y="103589"/>
                </a:lnTo>
                <a:lnTo>
                  <a:pt x="0" y="76566"/>
                </a:lnTo>
                <a:lnTo>
                  <a:pt x="9007" y="76566"/>
                </a:lnTo>
                <a:lnTo>
                  <a:pt x="9007" y="103589"/>
                </a:lnTo>
                <a:close/>
              </a:path>
              <a:path w="4711700" h="3270250">
                <a:moveTo>
                  <a:pt x="9007" y="40535"/>
                </a:moveTo>
                <a:lnTo>
                  <a:pt x="0" y="40535"/>
                </a:lnTo>
                <a:lnTo>
                  <a:pt x="0" y="13511"/>
                </a:lnTo>
                <a:lnTo>
                  <a:pt x="9007" y="13511"/>
                </a:lnTo>
                <a:lnTo>
                  <a:pt x="9007" y="40535"/>
                </a:lnTo>
                <a:close/>
              </a:path>
              <a:path w="4711700" h="3270250">
                <a:moveTo>
                  <a:pt x="31527" y="9007"/>
                </a:moveTo>
                <a:lnTo>
                  <a:pt x="4503" y="9007"/>
                </a:lnTo>
                <a:lnTo>
                  <a:pt x="4503" y="0"/>
                </a:lnTo>
                <a:lnTo>
                  <a:pt x="31527" y="0"/>
                </a:lnTo>
                <a:lnTo>
                  <a:pt x="31527" y="9007"/>
                </a:lnTo>
                <a:close/>
              </a:path>
            </a:pathLst>
          </a:custGeom>
          <a:solidFill>
            <a:srgbClr val="6A6A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object 4"/>
          <p:cNvSpPr/>
          <p:nvPr/>
        </p:nvSpPr>
        <p:spPr>
          <a:xfrm>
            <a:off x="2272320" y="1749240"/>
            <a:ext cx="376740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728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136"/>
              </a:spcBef>
            </a:pPr>
            <a:r>
              <a:rPr lang="fr-FR" sz="1000" b="1" u="none" strike="noStrike">
                <a:solidFill>
                  <a:srgbClr val="6A6A6A"/>
                </a:solidFill>
                <a:effectLst/>
                <a:uFillTx/>
                <a:latin typeface="Arial"/>
              </a:rPr>
              <a:t>SUR</a:t>
            </a:r>
            <a:r>
              <a:rPr lang="fr-FR" sz="1000" b="1" u="none" strike="noStrike" spc="6">
                <a:solidFill>
                  <a:srgbClr val="6A6A6A"/>
                </a:solidFill>
                <a:effectLst/>
                <a:uFillTx/>
                <a:latin typeface="Arial"/>
              </a:rPr>
              <a:t> </a:t>
            </a:r>
            <a:r>
              <a:rPr lang="fr-FR" sz="1000" b="1" u="none" strike="noStrike">
                <a:solidFill>
                  <a:srgbClr val="6A6A6A"/>
                </a:solidFill>
                <a:effectLst/>
                <a:uFillTx/>
                <a:latin typeface="Arial"/>
              </a:rPr>
              <a:t>SITE</a:t>
            </a:r>
            <a:r>
              <a:rPr lang="fr-FR" sz="1000" b="1" u="none" strike="noStrike" spc="51">
                <a:solidFill>
                  <a:srgbClr val="6A6A6A"/>
                </a:solidFill>
                <a:effectLst/>
                <a:uFillTx/>
                <a:latin typeface="Arial"/>
              </a:rPr>
              <a:t> </a:t>
            </a:r>
            <a:r>
              <a:rPr lang="fr-FR" sz="1000" b="1" u="none" strike="noStrike" spc="150">
                <a:solidFill>
                  <a:srgbClr val="6A6A6A"/>
                </a:solidFill>
                <a:effectLst/>
                <a:uFillTx/>
                <a:latin typeface="Arial"/>
              </a:rPr>
              <a:t> </a:t>
            </a:r>
            <a:r>
              <a:rPr lang="fr-FR" sz="1000" b="1" u="none" strike="noStrike">
                <a:solidFill>
                  <a:srgbClr val="6A6A6A"/>
                </a:solidFill>
                <a:effectLst/>
                <a:uFillTx/>
                <a:latin typeface="Arial"/>
              </a:rPr>
              <a:t>CLOUD</a:t>
            </a:r>
            <a:r>
              <a:rPr lang="fr-FR" sz="1000" b="1" u="none" strike="noStrike" spc="26">
                <a:solidFill>
                  <a:srgbClr val="6A6A6A"/>
                </a:solidFill>
                <a:effectLst/>
                <a:uFillTx/>
                <a:latin typeface="Arial"/>
              </a:rPr>
              <a:t> </a:t>
            </a:r>
            <a:r>
              <a:rPr lang="fr-FR" sz="1000" b="1" u="none" strike="noStrike">
                <a:solidFill>
                  <a:srgbClr val="6A6A6A"/>
                </a:solidFill>
                <a:effectLst/>
                <a:uFillTx/>
                <a:latin typeface="Arial"/>
              </a:rPr>
              <a:t>PRIVÉ</a:t>
            </a:r>
            <a:r>
              <a:rPr lang="fr-FR" sz="1000" b="1" u="none" strike="noStrike" spc="51">
                <a:solidFill>
                  <a:srgbClr val="6A6A6A"/>
                </a:solidFill>
                <a:effectLst/>
                <a:uFillTx/>
                <a:latin typeface="Arial"/>
              </a:rPr>
              <a:t> </a:t>
            </a:r>
            <a:r>
              <a:rPr lang="fr-FR" sz="1000" b="1" u="none" strike="noStrike">
                <a:solidFill>
                  <a:srgbClr val="6A6A6A"/>
                </a:solidFill>
                <a:effectLst/>
                <a:uFillTx/>
                <a:latin typeface="Arial"/>
              </a:rPr>
              <a:t>IaaS</a:t>
            </a:r>
            <a:r>
              <a:rPr lang="fr-FR" sz="1000" b="1" u="none" strike="noStrike" spc="31">
                <a:solidFill>
                  <a:srgbClr val="6A6A6A"/>
                </a:solidFill>
                <a:effectLst/>
                <a:uFillTx/>
                <a:latin typeface="Arial"/>
              </a:rPr>
              <a:t> 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object 67"/>
          <p:cNvSpPr/>
          <p:nvPr/>
        </p:nvSpPr>
        <p:spPr>
          <a:xfrm>
            <a:off x="7130880" y="1655280"/>
            <a:ext cx="1906200" cy="2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52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91"/>
              </a:spcBef>
            </a:pPr>
            <a:r>
              <a:rPr lang="fr-FR" sz="1500" b="1" u="none" strike="noStrike" dirty="0">
                <a:solidFill>
                  <a:srgbClr val="C00000"/>
                </a:solidFill>
                <a:effectLst/>
                <a:uFillTx/>
                <a:latin typeface="Arial"/>
              </a:rPr>
              <a:t>Déploiement</a:t>
            </a:r>
            <a:endParaRPr lang="fr-F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object 5"/>
          <p:cNvSpPr/>
          <p:nvPr/>
        </p:nvSpPr>
        <p:spPr>
          <a:xfrm>
            <a:off x="645840" y="2145960"/>
            <a:ext cx="1080720" cy="522000"/>
          </a:xfrm>
          <a:custGeom>
            <a:avLst/>
            <a:gdLst>
              <a:gd name="textAreaLeft" fmla="*/ 0 w 1080720"/>
              <a:gd name="textAreaRight" fmla="*/ 1081440 w 1080720"/>
              <a:gd name="textAreaTop" fmla="*/ 0 h 522000"/>
              <a:gd name="textAreaBottom" fmla="*/ 522720 h 522000"/>
            </a:gdLst>
            <a:ahLst/>
            <a:cxnLst/>
            <a:rect l="textAreaLeft" t="textAreaTop" r="textAreaRight" b="textAreaBottom"/>
            <a:pathLst>
              <a:path w="1081405" h="522605">
                <a:moveTo>
                  <a:pt x="0" y="0"/>
                </a:moveTo>
                <a:lnTo>
                  <a:pt x="1080934" y="0"/>
                </a:lnTo>
                <a:lnTo>
                  <a:pt x="1080934" y="522451"/>
                </a:lnTo>
                <a:lnTo>
                  <a:pt x="0" y="522451"/>
                </a:lnTo>
                <a:lnTo>
                  <a:pt x="0" y="0"/>
                </a:lnTo>
                <a:close/>
              </a:path>
            </a:pathLst>
          </a:custGeom>
          <a:noFill/>
          <a:ln w="13511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object 6"/>
          <p:cNvSpPr/>
          <p:nvPr/>
        </p:nvSpPr>
        <p:spPr>
          <a:xfrm>
            <a:off x="740880" y="2195640"/>
            <a:ext cx="929520" cy="4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lang="fr-FR" sz="1350" b="1" u="none" strike="noStrike" spc="-11">
                <a:solidFill>
                  <a:srgbClr val="111111"/>
                </a:solidFill>
                <a:effectLst/>
                <a:uFillTx/>
                <a:latin typeface="Arial"/>
              </a:rPr>
              <a:t>Navigateur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51"/>
              </a:spcBef>
            </a:pPr>
            <a:r>
              <a:rPr lang="fr-FR" sz="1100" b="0" u="none" strike="noStrike" spc="-11">
                <a:solidFill>
                  <a:srgbClr val="4A4A4A"/>
                </a:solidFill>
                <a:effectLst/>
                <a:uFillTx/>
                <a:latin typeface="Arial MT"/>
              </a:rPr>
              <a:t>ingénieurs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object 34"/>
          <p:cNvGrpSpPr/>
          <p:nvPr/>
        </p:nvGrpSpPr>
        <p:grpSpPr>
          <a:xfrm>
            <a:off x="1726560" y="2369160"/>
            <a:ext cx="576360" cy="75600"/>
            <a:chOff x="1726560" y="2369160"/>
            <a:chExt cx="576360" cy="75600"/>
          </a:xfrm>
        </p:grpSpPr>
        <p:sp>
          <p:nvSpPr>
            <p:cNvPr id="77" name="object 35"/>
            <p:cNvSpPr/>
            <p:nvPr/>
          </p:nvSpPr>
          <p:spPr>
            <a:xfrm>
              <a:off x="1726560" y="2406960"/>
              <a:ext cx="576000" cy="360"/>
            </a:xfrm>
            <a:custGeom>
              <a:avLst/>
              <a:gdLst>
                <a:gd name="textAreaLeft" fmla="*/ 0 w 576000"/>
                <a:gd name="textAreaRight" fmla="*/ 576720 w 576000"/>
                <a:gd name="textAreaTop" fmla="*/ 0 h 360"/>
                <a:gd name="textAreaBottom" fmla="*/ 1440 h 360"/>
              </a:gdLst>
              <a:ahLst/>
              <a:cxnLst/>
              <a:rect l="textAreaLeft" t="textAreaTop" r="textAreaRight" b="textAreaBottom"/>
              <a:pathLst>
                <a:path w="576580">
                  <a:moveTo>
                    <a:pt x="0" y="0"/>
                  </a:moveTo>
                  <a:lnTo>
                    <a:pt x="576498" y="0"/>
                  </a:lnTo>
                </a:path>
              </a:pathLst>
            </a:custGeom>
            <a:noFill/>
            <a:ln w="13511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object 36"/>
            <p:cNvSpPr/>
            <p:nvPr/>
          </p:nvSpPr>
          <p:spPr>
            <a:xfrm>
              <a:off x="2217960" y="2369160"/>
              <a:ext cx="84960" cy="75600"/>
            </a:xfrm>
            <a:custGeom>
              <a:avLst/>
              <a:gdLst>
                <a:gd name="textAreaLeft" fmla="*/ 0 w 84960"/>
                <a:gd name="textAreaRight" fmla="*/ 85680 w 84960"/>
                <a:gd name="textAreaTop" fmla="*/ 0 h 75600"/>
                <a:gd name="textAreaBottom" fmla="*/ 76320 h 75600"/>
              </a:gdLst>
              <a:ahLst/>
              <a:cxnLst/>
              <a:rect l="textAreaLeft" t="textAreaTop" r="textAreaRight" b="textAreaBottom"/>
              <a:pathLst>
                <a:path w="85725" h="76200">
                  <a:moveTo>
                    <a:pt x="0" y="75665"/>
                  </a:moveTo>
                  <a:lnTo>
                    <a:pt x="0" y="0"/>
                  </a:lnTo>
                  <a:lnTo>
                    <a:pt x="85123" y="37832"/>
                  </a:lnTo>
                  <a:lnTo>
                    <a:pt x="0" y="75665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object 37"/>
          <p:cNvSpPr/>
          <p:nvPr/>
        </p:nvSpPr>
        <p:spPr>
          <a:xfrm>
            <a:off x="1767960" y="2160000"/>
            <a:ext cx="44964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111"/>
              </a:spcBef>
            </a:pPr>
            <a:r>
              <a:rPr lang="fr-FR" sz="1100" b="0" u="none" strike="noStrike" spc="-91">
                <a:solidFill>
                  <a:srgbClr val="4A4A4A"/>
                </a:solidFill>
                <a:effectLst/>
                <a:uFillTx/>
                <a:latin typeface="Arial MT"/>
              </a:rPr>
              <a:t>:</a:t>
            </a:r>
            <a:r>
              <a:rPr lang="fr-FR" sz="1100" b="0" u="none" strike="noStrike" spc="-21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00" b="0" u="none" strike="noStrike" spc="-20">
                <a:solidFill>
                  <a:srgbClr val="4A4A4A"/>
                </a:solidFill>
                <a:effectLst/>
                <a:uFillTx/>
                <a:latin typeface="Arial MT"/>
              </a:rPr>
              <a:t>3000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0" name="object 7"/>
          <p:cNvGrpSpPr/>
          <p:nvPr/>
        </p:nvGrpSpPr>
        <p:grpSpPr>
          <a:xfrm>
            <a:off x="645840" y="3785400"/>
            <a:ext cx="1152720" cy="594000"/>
            <a:chOff x="645840" y="3785400"/>
            <a:chExt cx="1152720" cy="594000"/>
          </a:xfrm>
        </p:grpSpPr>
        <p:sp>
          <p:nvSpPr>
            <p:cNvPr id="81" name="object 8"/>
            <p:cNvSpPr/>
            <p:nvPr/>
          </p:nvSpPr>
          <p:spPr>
            <a:xfrm>
              <a:off x="717840" y="3785400"/>
              <a:ext cx="1080720" cy="522000"/>
            </a:xfrm>
            <a:custGeom>
              <a:avLst/>
              <a:gdLst>
                <a:gd name="textAreaLeft" fmla="*/ 0 w 1080720"/>
                <a:gd name="textAreaRight" fmla="*/ 1081440 w 1080720"/>
                <a:gd name="textAreaTop" fmla="*/ 0 h 522000"/>
                <a:gd name="textAreaBottom" fmla="*/ 522720 h 522000"/>
              </a:gdLst>
              <a:ahLst/>
              <a:cxnLst/>
              <a:rect l="textAreaLeft" t="textAreaTop" r="textAreaRight" b="textAreaBottom"/>
              <a:pathLst>
                <a:path w="1081405" h="522604">
                  <a:moveTo>
                    <a:pt x="0" y="0"/>
                  </a:moveTo>
                  <a:lnTo>
                    <a:pt x="1080934" y="0"/>
                  </a:lnTo>
                  <a:lnTo>
                    <a:pt x="1080934" y="522451"/>
                  </a:lnTo>
                  <a:lnTo>
                    <a:pt x="0" y="5224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007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object 9"/>
            <p:cNvSpPr/>
            <p:nvPr/>
          </p:nvSpPr>
          <p:spPr>
            <a:xfrm>
              <a:off x="681840" y="3821400"/>
              <a:ext cx="1080720" cy="522000"/>
            </a:xfrm>
            <a:custGeom>
              <a:avLst/>
              <a:gdLst>
                <a:gd name="textAreaLeft" fmla="*/ 0 w 1080720"/>
                <a:gd name="textAreaRight" fmla="*/ 1081440 w 1080720"/>
                <a:gd name="textAreaTop" fmla="*/ 0 h 522000"/>
                <a:gd name="textAreaBottom" fmla="*/ 522720 h 522000"/>
              </a:gdLst>
              <a:ahLst/>
              <a:cxnLst/>
              <a:rect l="textAreaLeft" t="textAreaTop" r="textAreaRight" b="textAreaBottom"/>
              <a:pathLst>
                <a:path w="1081405" h="522604">
                  <a:moveTo>
                    <a:pt x="1080934" y="522451"/>
                  </a:moveTo>
                  <a:lnTo>
                    <a:pt x="0" y="522451"/>
                  </a:lnTo>
                  <a:lnTo>
                    <a:pt x="0" y="0"/>
                  </a:lnTo>
                  <a:lnTo>
                    <a:pt x="1080934" y="0"/>
                  </a:lnTo>
                  <a:lnTo>
                    <a:pt x="1080934" y="52245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object 10"/>
            <p:cNvSpPr/>
            <p:nvPr/>
          </p:nvSpPr>
          <p:spPr>
            <a:xfrm>
              <a:off x="681840" y="3821400"/>
              <a:ext cx="1080720" cy="522000"/>
            </a:xfrm>
            <a:custGeom>
              <a:avLst/>
              <a:gdLst>
                <a:gd name="textAreaLeft" fmla="*/ 0 w 1080720"/>
                <a:gd name="textAreaRight" fmla="*/ 1081440 w 1080720"/>
                <a:gd name="textAreaTop" fmla="*/ 0 h 522000"/>
                <a:gd name="textAreaBottom" fmla="*/ 522720 h 522000"/>
              </a:gdLst>
              <a:ahLst/>
              <a:cxnLst/>
              <a:rect l="textAreaLeft" t="textAreaTop" r="textAreaRight" b="textAreaBottom"/>
              <a:pathLst>
                <a:path w="1081405" h="522604">
                  <a:moveTo>
                    <a:pt x="0" y="0"/>
                  </a:moveTo>
                  <a:lnTo>
                    <a:pt x="1080934" y="0"/>
                  </a:lnTo>
                  <a:lnTo>
                    <a:pt x="1080934" y="522451"/>
                  </a:lnTo>
                  <a:lnTo>
                    <a:pt x="0" y="5224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007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object 11"/>
            <p:cNvSpPr/>
            <p:nvPr/>
          </p:nvSpPr>
          <p:spPr>
            <a:xfrm>
              <a:off x="645840" y="3857400"/>
              <a:ext cx="1080720" cy="522000"/>
            </a:xfrm>
            <a:custGeom>
              <a:avLst/>
              <a:gdLst>
                <a:gd name="textAreaLeft" fmla="*/ 0 w 1080720"/>
                <a:gd name="textAreaRight" fmla="*/ 1081440 w 1080720"/>
                <a:gd name="textAreaTop" fmla="*/ 0 h 522000"/>
                <a:gd name="textAreaBottom" fmla="*/ 522720 h 522000"/>
              </a:gdLst>
              <a:ahLst/>
              <a:cxnLst/>
              <a:rect l="textAreaLeft" t="textAreaTop" r="textAreaRight" b="textAreaBottom"/>
              <a:pathLst>
                <a:path w="1081405" h="522604">
                  <a:moveTo>
                    <a:pt x="1080934" y="522451"/>
                  </a:moveTo>
                  <a:lnTo>
                    <a:pt x="0" y="522451"/>
                  </a:lnTo>
                  <a:lnTo>
                    <a:pt x="0" y="0"/>
                  </a:lnTo>
                  <a:lnTo>
                    <a:pt x="1080934" y="0"/>
                  </a:lnTo>
                  <a:lnTo>
                    <a:pt x="1080934" y="52245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object 12"/>
            <p:cNvSpPr/>
            <p:nvPr/>
          </p:nvSpPr>
          <p:spPr>
            <a:xfrm>
              <a:off x="645840" y="3857400"/>
              <a:ext cx="1080720" cy="522000"/>
            </a:xfrm>
            <a:custGeom>
              <a:avLst/>
              <a:gdLst>
                <a:gd name="textAreaLeft" fmla="*/ 0 w 1080720"/>
                <a:gd name="textAreaRight" fmla="*/ 1081440 w 1080720"/>
                <a:gd name="textAreaTop" fmla="*/ 0 h 522000"/>
                <a:gd name="textAreaBottom" fmla="*/ 522720 h 522000"/>
              </a:gdLst>
              <a:ahLst/>
              <a:cxnLst/>
              <a:rect l="textAreaLeft" t="textAreaTop" r="textAreaRight" b="textAreaBottom"/>
              <a:pathLst>
                <a:path w="1081405" h="522604">
                  <a:moveTo>
                    <a:pt x="0" y="0"/>
                  </a:moveTo>
                  <a:lnTo>
                    <a:pt x="1080934" y="0"/>
                  </a:lnTo>
                  <a:lnTo>
                    <a:pt x="1080934" y="522451"/>
                  </a:lnTo>
                  <a:lnTo>
                    <a:pt x="0" y="5224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3511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object 13"/>
          <p:cNvSpPr/>
          <p:nvPr/>
        </p:nvSpPr>
        <p:spPr>
          <a:xfrm>
            <a:off x="722160" y="3864240"/>
            <a:ext cx="1005840" cy="430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800" rIns="0" bIns="0" anchor="t">
            <a:spAutoFit/>
          </a:bodyPr>
          <a:lstStyle/>
          <a:p>
            <a:pPr marL="30960" defTabSz="914400">
              <a:lnSpc>
                <a:spcPct val="100000"/>
              </a:lnSpc>
              <a:spcBef>
                <a:spcPts val="439"/>
              </a:spcBef>
            </a:pPr>
            <a:r>
              <a:rPr lang="fr-FR" sz="1350" b="1" u="none" strike="noStrike" spc="-11">
                <a:solidFill>
                  <a:srgbClr val="111111"/>
                </a:solidFill>
                <a:effectLst/>
                <a:uFillTx/>
                <a:latin typeface="Arial"/>
              </a:rPr>
              <a:t>Capteurs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960" defTabSz="914400">
              <a:lnSpc>
                <a:spcPts val="1281"/>
              </a:lnSpc>
              <a:spcBef>
                <a:spcPts val="51"/>
              </a:spcBef>
            </a:pPr>
            <a:r>
              <a:rPr lang="fr-FR" sz="1100" b="0" u="none" strike="noStrike" spc="-26">
                <a:solidFill>
                  <a:srgbClr val="4A4A4A"/>
                </a:solidFill>
                <a:effectLst/>
                <a:uFillTx/>
                <a:latin typeface="Arial MT"/>
              </a:rPr>
              <a:t>simulés</a:t>
            </a:r>
            <a:r>
              <a:rPr lang="fr-FR" sz="1100" b="0" u="none" strike="noStrike" spc="-4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00" b="0" u="none" strike="noStrike" spc="-26">
                <a:solidFill>
                  <a:srgbClr val="4A4A4A"/>
                </a:solidFill>
                <a:effectLst/>
                <a:uFillTx/>
                <a:latin typeface="Arial MT"/>
              </a:rPr>
              <a:t>×N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" name="object 14"/>
          <p:cNvGrpSpPr/>
          <p:nvPr/>
        </p:nvGrpSpPr>
        <p:grpSpPr>
          <a:xfrm>
            <a:off x="2321280" y="2145960"/>
            <a:ext cx="828720" cy="2233080"/>
            <a:chOff x="2321280" y="2145960"/>
            <a:chExt cx="828720" cy="2233080"/>
          </a:xfrm>
        </p:grpSpPr>
        <p:sp>
          <p:nvSpPr>
            <p:cNvPr id="88" name="object 15"/>
            <p:cNvSpPr/>
            <p:nvPr/>
          </p:nvSpPr>
          <p:spPr>
            <a:xfrm>
              <a:off x="2321280" y="2145960"/>
              <a:ext cx="828720" cy="2233080"/>
            </a:xfrm>
            <a:custGeom>
              <a:avLst/>
              <a:gdLst>
                <a:gd name="textAreaLeft" fmla="*/ 0 w 828720"/>
                <a:gd name="textAreaRight" fmla="*/ 829440 w 828720"/>
                <a:gd name="textAreaTop" fmla="*/ 0 h 2233080"/>
                <a:gd name="textAreaBottom" fmla="*/ 2233800 h 2233080"/>
              </a:gdLst>
              <a:ahLst/>
              <a:cxnLst/>
              <a:rect l="textAreaLeft" t="textAreaTop" r="textAreaRight" b="textAreaBottom"/>
              <a:pathLst>
                <a:path w="829310" h="2233929">
                  <a:moveTo>
                    <a:pt x="828716" y="2233931"/>
                  </a:moveTo>
                  <a:lnTo>
                    <a:pt x="0" y="2233931"/>
                  </a:lnTo>
                  <a:lnTo>
                    <a:pt x="0" y="0"/>
                  </a:lnTo>
                  <a:lnTo>
                    <a:pt x="828716" y="0"/>
                  </a:lnTo>
                  <a:lnTo>
                    <a:pt x="828716" y="223393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object 16"/>
            <p:cNvSpPr/>
            <p:nvPr/>
          </p:nvSpPr>
          <p:spPr>
            <a:xfrm>
              <a:off x="2321280" y="2145960"/>
              <a:ext cx="828720" cy="2233080"/>
            </a:xfrm>
            <a:custGeom>
              <a:avLst/>
              <a:gdLst>
                <a:gd name="textAreaLeft" fmla="*/ 0 w 828720"/>
                <a:gd name="textAreaRight" fmla="*/ 829440 w 828720"/>
                <a:gd name="textAreaTop" fmla="*/ 0 h 2233080"/>
                <a:gd name="textAreaBottom" fmla="*/ 2233800 h 2233080"/>
              </a:gdLst>
              <a:ahLst/>
              <a:cxnLst/>
              <a:rect l="textAreaLeft" t="textAreaTop" r="textAreaRight" b="textAreaBottom"/>
              <a:pathLst>
                <a:path w="829310" h="2233929">
                  <a:moveTo>
                    <a:pt x="0" y="0"/>
                  </a:moveTo>
                  <a:lnTo>
                    <a:pt x="828716" y="0"/>
                  </a:lnTo>
                  <a:lnTo>
                    <a:pt x="828716" y="2233931"/>
                  </a:lnTo>
                  <a:lnTo>
                    <a:pt x="0" y="22339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3511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0" name="object 17"/>
          <p:cNvSpPr/>
          <p:nvPr/>
        </p:nvSpPr>
        <p:spPr>
          <a:xfrm>
            <a:off x="2398320" y="2195640"/>
            <a:ext cx="628560" cy="56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 defTabSz="914400">
              <a:lnSpc>
                <a:spcPct val="99000"/>
              </a:lnSpc>
              <a:spcBef>
                <a:spcPts val="99"/>
              </a:spcBef>
            </a:pPr>
            <a:r>
              <a:rPr lang="fr-FR" sz="1350" b="1" u="none" strike="noStrike" spc="-11">
                <a:solidFill>
                  <a:srgbClr val="111111"/>
                </a:solidFill>
                <a:effectLst/>
                <a:uFillTx/>
                <a:latin typeface="Arial"/>
              </a:rPr>
              <a:t>nginx </a:t>
            </a:r>
            <a:r>
              <a:rPr lang="fr-FR" sz="1100" b="0" u="none" strike="noStrike" spc="-26">
                <a:solidFill>
                  <a:srgbClr val="4A4A4A"/>
                </a:solidFill>
                <a:effectLst/>
                <a:uFillTx/>
                <a:latin typeface="Arial MT"/>
              </a:rPr>
              <a:t>répartition </a:t>
            </a:r>
            <a:r>
              <a:rPr lang="fr-FR" sz="1100" b="0" u="none" strike="noStrike" spc="-34">
                <a:solidFill>
                  <a:srgbClr val="4A4A4A"/>
                </a:solidFill>
                <a:effectLst/>
                <a:uFillTx/>
                <a:latin typeface="Arial MT"/>
              </a:rPr>
              <a:t>de</a:t>
            </a:r>
            <a:r>
              <a:rPr lang="fr-FR" sz="1100" b="0" u="none" strike="noStrike" spc="-79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00" b="0" u="none" strike="noStrike" spc="-11">
                <a:solidFill>
                  <a:srgbClr val="4A4A4A"/>
                </a:solidFill>
                <a:effectLst/>
                <a:uFillTx/>
                <a:latin typeface="Arial MT"/>
              </a:rPr>
              <a:t>charge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1" name="object 18"/>
          <p:cNvGrpSpPr/>
          <p:nvPr/>
        </p:nvGrpSpPr>
        <p:grpSpPr>
          <a:xfrm>
            <a:off x="3582360" y="2073600"/>
            <a:ext cx="1422720" cy="594360"/>
            <a:chOff x="3582360" y="2073600"/>
            <a:chExt cx="1422720" cy="594360"/>
          </a:xfrm>
        </p:grpSpPr>
        <p:sp>
          <p:nvSpPr>
            <p:cNvPr id="92" name="object 19"/>
            <p:cNvSpPr/>
            <p:nvPr/>
          </p:nvSpPr>
          <p:spPr>
            <a:xfrm>
              <a:off x="3654360" y="2073600"/>
              <a:ext cx="1350720" cy="522000"/>
            </a:xfrm>
            <a:custGeom>
              <a:avLst/>
              <a:gdLst>
                <a:gd name="textAreaLeft" fmla="*/ 0 w 1350720"/>
                <a:gd name="textAreaRight" fmla="*/ 1351440 w 1350720"/>
                <a:gd name="textAreaTop" fmla="*/ 0 h 522000"/>
                <a:gd name="textAreaBottom" fmla="*/ 522720 h 522000"/>
              </a:gdLst>
              <a:ahLst/>
              <a:cxnLst/>
              <a:rect l="textAreaLeft" t="textAreaTop" r="textAreaRight" b="textAreaBottom"/>
              <a:pathLst>
                <a:path w="1351279" h="522605">
                  <a:moveTo>
                    <a:pt x="1351168" y="522451"/>
                  </a:moveTo>
                  <a:lnTo>
                    <a:pt x="0" y="522451"/>
                  </a:lnTo>
                  <a:lnTo>
                    <a:pt x="0" y="0"/>
                  </a:lnTo>
                  <a:lnTo>
                    <a:pt x="1351168" y="0"/>
                  </a:lnTo>
                  <a:lnTo>
                    <a:pt x="1351168" y="52245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object 20"/>
            <p:cNvSpPr/>
            <p:nvPr/>
          </p:nvSpPr>
          <p:spPr>
            <a:xfrm>
              <a:off x="3654360" y="2073600"/>
              <a:ext cx="1350720" cy="522000"/>
            </a:xfrm>
            <a:custGeom>
              <a:avLst/>
              <a:gdLst>
                <a:gd name="textAreaLeft" fmla="*/ 0 w 1350720"/>
                <a:gd name="textAreaRight" fmla="*/ 1351440 w 1350720"/>
                <a:gd name="textAreaTop" fmla="*/ 0 h 522000"/>
                <a:gd name="textAreaBottom" fmla="*/ 522720 h 522000"/>
              </a:gdLst>
              <a:ahLst/>
              <a:cxnLst/>
              <a:rect l="textAreaLeft" t="textAreaTop" r="textAreaRight" b="textAreaBottom"/>
              <a:pathLst>
                <a:path w="1351279" h="522605">
                  <a:moveTo>
                    <a:pt x="0" y="0"/>
                  </a:moveTo>
                  <a:lnTo>
                    <a:pt x="1351168" y="0"/>
                  </a:lnTo>
                  <a:lnTo>
                    <a:pt x="1351168" y="522451"/>
                  </a:lnTo>
                  <a:lnTo>
                    <a:pt x="0" y="5224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007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object 21"/>
            <p:cNvSpPr/>
            <p:nvPr/>
          </p:nvSpPr>
          <p:spPr>
            <a:xfrm>
              <a:off x="3618360" y="2109960"/>
              <a:ext cx="1350720" cy="522000"/>
            </a:xfrm>
            <a:custGeom>
              <a:avLst/>
              <a:gdLst>
                <a:gd name="textAreaLeft" fmla="*/ 0 w 1350720"/>
                <a:gd name="textAreaRight" fmla="*/ 1351440 w 1350720"/>
                <a:gd name="textAreaTop" fmla="*/ 0 h 522000"/>
                <a:gd name="textAreaBottom" fmla="*/ 522720 h 522000"/>
              </a:gdLst>
              <a:ahLst/>
              <a:cxnLst/>
              <a:rect l="textAreaLeft" t="textAreaTop" r="textAreaRight" b="textAreaBottom"/>
              <a:pathLst>
                <a:path w="1351279" h="522605">
                  <a:moveTo>
                    <a:pt x="1351168" y="522451"/>
                  </a:moveTo>
                  <a:lnTo>
                    <a:pt x="0" y="522451"/>
                  </a:lnTo>
                  <a:lnTo>
                    <a:pt x="0" y="0"/>
                  </a:lnTo>
                  <a:lnTo>
                    <a:pt x="1351168" y="0"/>
                  </a:lnTo>
                  <a:lnTo>
                    <a:pt x="1351168" y="52245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object 22"/>
            <p:cNvSpPr/>
            <p:nvPr/>
          </p:nvSpPr>
          <p:spPr>
            <a:xfrm>
              <a:off x="3618360" y="2109960"/>
              <a:ext cx="1350720" cy="522000"/>
            </a:xfrm>
            <a:custGeom>
              <a:avLst/>
              <a:gdLst>
                <a:gd name="textAreaLeft" fmla="*/ 0 w 1350720"/>
                <a:gd name="textAreaRight" fmla="*/ 1351440 w 1350720"/>
                <a:gd name="textAreaTop" fmla="*/ 0 h 522000"/>
                <a:gd name="textAreaBottom" fmla="*/ 522720 h 522000"/>
              </a:gdLst>
              <a:ahLst/>
              <a:cxnLst/>
              <a:rect l="textAreaLeft" t="textAreaTop" r="textAreaRight" b="textAreaBottom"/>
              <a:pathLst>
                <a:path w="1351279" h="522605">
                  <a:moveTo>
                    <a:pt x="0" y="0"/>
                  </a:moveTo>
                  <a:lnTo>
                    <a:pt x="1351168" y="0"/>
                  </a:lnTo>
                  <a:lnTo>
                    <a:pt x="1351168" y="522451"/>
                  </a:lnTo>
                  <a:lnTo>
                    <a:pt x="0" y="5224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007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object 23"/>
            <p:cNvSpPr/>
            <p:nvPr/>
          </p:nvSpPr>
          <p:spPr>
            <a:xfrm>
              <a:off x="3582360" y="2145960"/>
              <a:ext cx="1350720" cy="522000"/>
            </a:xfrm>
            <a:custGeom>
              <a:avLst/>
              <a:gdLst>
                <a:gd name="textAreaLeft" fmla="*/ 0 w 1350720"/>
                <a:gd name="textAreaRight" fmla="*/ 1351440 w 1350720"/>
                <a:gd name="textAreaTop" fmla="*/ 0 h 522000"/>
                <a:gd name="textAreaBottom" fmla="*/ 522720 h 522000"/>
              </a:gdLst>
              <a:ahLst/>
              <a:cxnLst/>
              <a:rect l="textAreaLeft" t="textAreaTop" r="textAreaRight" b="textAreaBottom"/>
              <a:pathLst>
                <a:path w="1351279" h="522605">
                  <a:moveTo>
                    <a:pt x="1351168" y="522451"/>
                  </a:moveTo>
                  <a:lnTo>
                    <a:pt x="0" y="522451"/>
                  </a:lnTo>
                  <a:lnTo>
                    <a:pt x="0" y="0"/>
                  </a:lnTo>
                  <a:lnTo>
                    <a:pt x="1351168" y="0"/>
                  </a:lnTo>
                  <a:lnTo>
                    <a:pt x="1351168" y="52245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object 24"/>
            <p:cNvSpPr/>
            <p:nvPr/>
          </p:nvSpPr>
          <p:spPr>
            <a:xfrm>
              <a:off x="3582360" y="2145960"/>
              <a:ext cx="1350720" cy="522000"/>
            </a:xfrm>
            <a:custGeom>
              <a:avLst/>
              <a:gdLst>
                <a:gd name="textAreaLeft" fmla="*/ 0 w 1350720"/>
                <a:gd name="textAreaRight" fmla="*/ 1351440 w 1350720"/>
                <a:gd name="textAreaTop" fmla="*/ 0 h 522000"/>
                <a:gd name="textAreaBottom" fmla="*/ 522720 h 522000"/>
              </a:gdLst>
              <a:ahLst/>
              <a:cxnLst/>
              <a:rect l="textAreaLeft" t="textAreaTop" r="textAreaRight" b="textAreaBottom"/>
              <a:pathLst>
                <a:path w="1351279" h="522605">
                  <a:moveTo>
                    <a:pt x="0" y="0"/>
                  </a:moveTo>
                  <a:lnTo>
                    <a:pt x="1351168" y="0"/>
                  </a:lnTo>
                  <a:lnTo>
                    <a:pt x="1351168" y="522451"/>
                  </a:lnTo>
                  <a:lnTo>
                    <a:pt x="0" y="5224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3511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8" name="object 25"/>
          <p:cNvSpPr/>
          <p:nvPr/>
        </p:nvSpPr>
        <p:spPr>
          <a:xfrm>
            <a:off x="3658680" y="2195640"/>
            <a:ext cx="1284480" cy="4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30960" defTabSz="914400">
              <a:lnSpc>
                <a:spcPct val="100000"/>
              </a:lnSpc>
              <a:spcBef>
                <a:spcPts val="99"/>
              </a:spcBef>
            </a:pPr>
            <a:r>
              <a:rPr lang="fr-FR" sz="1350" b="1" u="none" strike="noStrike" spc="-11">
                <a:solidFill>
                  <a:srgbClr val="111111"/>
                </a:solidFill>
                <a:effectLst/>
                <a:uFillTx/>
                <a:latin typeface="Arial"/>
              </a:rPr>
              <a:t>frontend</a:t>
            </a:r>
            <a:r>
              <a:rPr lang="fr-FR" sz="1350" b="1" u="none" strike="noStrike" spc="-9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350" b="1" u="none" strike="noStrike" spc="-26">
                <a:solidFill>
                  <a:srgbClr val="111111"/>
                </a:solidFill>
                <a:effectLst/>
                <a:uFillTx/>
                <a:latin typeface="Arial"/>
              </a:rPr>
              <a:t>×N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960" defTabSz="914400">
              <a:lnSpc>
                <a:spcPct val="100000"/>
              </a:lnSpc>
              <a:spcBef>
                <a:spcPts val="51"/>
              </a:spcBef>
            </a:pPr>
            <a:r>
              <a:rPr lang="fr-FR" sz="1100" b="0" u="none" strike="noStrike" spc="-31">
                <a:solidFill>
                  <a:srgbClr val="4A4A4A"/>
                </a:solidFill>
                <a:effectLst/>
                <a:uFillTx/>
                <a:latin typeface="Arial MT"/>
              </a:rPr>
              <a:t>Node</a:t>
            </a:r>
            <a:r>
              <a:rPr lang="fr-FR" sz="1100" b="0" u="none" strike="noStrike" spc="-85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00" b="0" u="none" strike="noStrike" spc="-136">
                <a:solidFill>
                  <a:srgbClr val="4A4A4A"/>
                </a:solidFill>
                <a:effectLst/>
                <a:uFillTx/>
                <a:latin typeface="Arial MT"/>
              </a:rPr>
              <a:t>·</a:t>
            </a:r>
            <a:r>
              <a:rPr lang="fr-FR" sz="1100" b="0" u="none" strike="noStrike" spc="45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00" b="0" u="none" strike="noStrike" spc="-11">
                <a:solidFill>
                  <a:srgbClr val="4A4A4A"/>
                </a:solidFill>
                <a:effectLst/>
                <a:uFillTx/>
                <a:latin typeface="Arial MT"/>
              </a:rPr>
              <a:t>interface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object 31"/>
          <p:cNvSpPr/>
          <p:nvPr/>
        </p:nvSpPr>
        <p:spPr>
          <a:xfrm>
            <a:off x="5473800" y="3046680"/>
            <a:ext cx="1315080" cy="522000"/>
          </a:xfrm>
          <a:prstGeom prst="rect">
            <a:avLst/>
          </a:prstGeom>
          <a:solidFill>
            <a:srgbClr val="1F36C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2280" rIns="0" bIns="0" anchor="t">
            <a:spAutoFit/>
          </a:bodyPr>
          <a:lstStyle/>
          <a:p>
            <a:pPr marL="108000" defTabSz="914400">
              <a:lnSpc>
                <a:spcPct val="100000"/>
              </a:lnSpc>
              <a:spcBef>
                <a:spcPts val="490"/>
              </a:spcBef>
            </a:pPr>
            <a:r>
              <a:rPr lang="fr-FR" sz="1350" b="1" u="none" strike="noStrike" spc="-11">
                <a:solidFill>
                  <a:srgbClr val="FFFFFF"/>
                </a:solidFill>
                <a:effectLst/>
                <a:uFillTx/>
                <a:latin typeface="Arial"/>
              </a:rPr>
              <a:t>InfluxDB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ct val="100000"/>
              </a:lnSpc>
              <a:spcBef>
                <a:spcPts val="51"/>
              </a:spcBef>
            </a:pPr>
            <a:r>
              <a:rPr lang="fr-FR" sz="1100" b="0" u="none" strike="noStrike" spc="-11">
                <a:solidFill>
                  <a:srgbClr val="FFFFFF"/>
                </a:solidFill>
                <a:effectLst/>
                <a:uFillTx/>
                <a:latin typeface="Arial MT"/>
              </a:rPr>
              <a:t>télémétrie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0" name="object 38"/>
          <p:cNvGrpSpPr/>
          <p:nvPr/>
        </p:nvGrpSpPr>
        <p:grpSpPr>
          <a:xfrm>
            <a:off x="1726560" y="4080600"/>
            <a:ext cx="576360" cy="75600"/>
            <a:chOff x="1726560" y="4080600"/>
            <a:chExt cx="576360" cy="75600"/>
          </a:xfrm>
        </p:grpSpPr>
        <p:sp>
          <p:nvSpPr>
            <p:cNvPr id="101" name="object 39"/>
            <p:cNvSpPr/>
            <p:nvPr/>
          </p:nvSpPr>
          <p:spPr>
            <a:xfrm>
              <a:off x="1726560" y="4118400"/>
              <a:ext cx="576000" cy="360"/>
            </a:xfrm>
            <a:custGeom>
              <a:avLst/>
              <a:gdLst>
                <a:gd name="textAreaLeft" fmla="*/ 0 w 576000"/>
                <a:gd name="textAreaRight" fmla="*/ 576720 w 576000"/>
                <a:gd name="textAreaTop" fmla="*/ 0 h 360"/>
                <a:gd name="textAreaBottom" fmla="*/ 1440 h 360"/>
              </a:gdLst>
              <a:ahLst/>
              <a:cxnLst/>
              <a:rect l="textAreaLeft" t="textAreaTop" r="textAreaRight" b="textAreaBottom"/>
              <a:pathLst>
                <a:path w="576580">
                  <a:moveTo>
                    <a:pt x="0" y="0"/>
                  </a:moveTo>
                  <a:lnTo>
                    <a:pt x="576498" y="0"/>
                  </a:lnTo>
                </a:path>
              </a:pathLst>
            </a:custGeom>
            <a:noFill/>
            <a:ln w="13511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object 40"/>
            <p:cNvSpPr/>
            <p:nvPr/>
          </p:nvSpPr>
          <p:spPr>
            <a:xfrm>
              <a:off x="2217960" y="4080600"/>
              <a:ext cx="84960" cy="75600"/>
            </a:xfrm>
            <a:custGeom>
              <a:avLst/>
              <a:gdLst>
                <a:gd name="textAreaLeft" fmla="*/ 0 w 84960"/>
                <a:gd name="textAreaRight" fmla="*/ 85680 w 84960"/>
                <a:gd name="textAreaTop" fmla="*/ 0 h 75600"/>
                <a:gd name="textAreaBottom" fmla="*/ 76320 h 75600"/>
              </a:gdLst>
              <a:ahLst/>
              <a:cxnLst/>
              <a:rect l="textAreaLeft" t="textAreaTop" r="textAreaRight" b="textAreaBottom"/>
              <a:pathLst>
                <a:path w="85725" h="76200">
                  <a:moveTo>
                    <a:pt x="0" y="75665"/>
                  </a:moveTo>
                  <a:lnTo>
                    <a:pt x="0" y="0"/>
                  </a:lnTo>
                  <a:lnTo>
                    <a:pt x="85123" y="37832"/>
                  </a:lnTo>
                  <a:lnTo>
                    <a:pt x="0" y="75665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" name="object 41"/>
          <p:cNvSpPr/>
          <p:nvPr/>
        </p:nvSpPr>
        <p:spPr>
          <a:xfrm>
            <a:off x="1821960" y="3892320"/>
            <a:ext cx="398520" cy="19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111"/>
              </a:spcBef>
            </a:pPr>
            <a:r>
              <a:rPr lang="fr-FR" sz="1100" b="0" u="none" strike="noStrike" spc="-20">
                <a:solidFill>
                  <a:srgbClr val="4A4A4A"/>
                </a:solidFill>
                <a:effectLst/>
                <a:uFillTx/>
                <a:latin typeface="Arial MT"/>
              </a:rPr>
              <a:t>POST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4" name="object 26"/>
          <p:cNvGrpSpPr/>
          <p:nvPr/>
        </p:nvGrpSpPr>
        <p:grpSpPr>
          <a:xfrm>
            <a:off x="3582360" y="3785400"/>
            <a:ext cx="1422720" cy="594000"/>
            <a:chOff x="3582360" y="3785400"/>
            <a:chExt cx="1422720" cy="594000"/>
          </a:xfrm>
        </p:grpSpPr>
        <p:sp>
          <p:nvSpPr>
            <p:cNvPr id="105" name="object 27"/>
            <p:cNvSpPr/>
            <p:nvPr/>
          </p:nvSpPr>
          <p:spPr>
            <a:xfrm>
              <a:off x="3618360" y="3785400"/>
              <a:ext cx="1386720" cy="558000"/>
            </a:xfrm>
            <a:custGeom>
              <a:avLst/>
              <a:gdLst>
                <a:gd name="textAreaLeft" fmla="*/ 0 w 1386720"/>
                <a:gd name="textAreaRight" fmla="*/ 1387440 w 1386720"/>
                <a:gd name="textAreaTop" fmla="*/ 0 h 558000"/>
                <a:gd name="textAreaBottom" fmla="*/ 558720 h 558000"/>
              </a:gdLst>
              <a:ahLst/>
              <a:cxnLst/>
              <a:rect l="textAreaLeft" t="textAreaTop" r="textAreaRight" b="textAreaBottom"/>
              <a:pathLst>
                <a:path w="1387475" h="558800">
                  <a:moveTo>
                    <a:pt x="36031" y="0"/>
                  </a:moveTo>
                  <a:lnTo>
                    <a:pt x="1387199" y="0"/>
                  </a:lnTo>
                  <a:lnTo>
                    <a:pt x="1387199" y="522451"/>
                  </a:lnTo>
                  <a:lnTo>
                    <a:pt x="36031" y="522451"/>
                  </a:lnTo>
                  <a:lnTo>
                    <a:pt x="36031" y="0"/>
                  </a:lnTo>
                  <a:close/>
                </a:path>
                <a:path w="1387475" h="558800">
                  <a:moveTo>
                    <a:pt x="0" y="36031"/>
                  </a:moveTo>
                  <a:lnTo>
                    <a:pt x="1351168" y="36031"/>
                  </a:lnTo>
                  <a:lnTo>
                    <a:pt x="1351168" y="558482"/>
                  </a:lnTo>
                  <a:lnTo>
                    <a:pt x="0" y="558482"/>
                  </a:lnTo>
                  <a:lnTo>
                    <a:pt x="0" y="36031"/>
                  </a:lnTo>
                  <a:close/>
                </a:path>
              </a:pathLst>
            </a:custGeom>
            <a:noFill/>
            <a:ln w="9007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object 28"/>
            <p:cNvSpPr/>
            <p:nvPr/>
          </p:nvSpPr>
          <p:spPr>
            <a:xfrm>
              <a:off x="3582360" y="3857400"/>
              <a:ext cx="1350720" cy="522000"/>
            </a:xfrm>
            <a:custGeom>
              <a:avLst/>
              <a:gdLst>
                <a:gd name="textAreaLeft" fmla="*/ 0 w 1350720"/>
                <a:gd name="textAreaRight" fmla="*/ 1351440 w 1350720"/>
                <a:gd name="textAreaTop" fmla="*/ 0 h 522000"/>
                <a:gd name="textAreaBottom" fmla="*/ 522720 h 522000"/>
              </a:gdLst>
              <a:ahLst/>
              <a:cxnLst/>
              <a:rect l="textAreaLeft" t="textAreaTop" r="textAreaRight" b="textAreaBottom"/>
              <a:pathLst>
                <a:path w="1351279" h="522604">
                  <a:moveTo>
                    <a:pt x="1351168" y="522451"/>
                  </a:moveTo>
                  <a:lnTo>
                    <a:pt x="0" y="522451"/>
                  </a:lnTo>
                  <a:lnTo>
                    <a:pt x="0" y="0"/>
                  </a:lnTo>
                  <a:lnTo>
                    <a:pt x="1351168" y="0"/>
                  </a:lnTo>
                  <a:lnTo>
                    <a:pt x="1351168" y="52245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object 29"/>
            <p:cNvSpPr/>
            <p:nvPr/>
          </p:nvSpPr>
          <p:spPr>
            <a:xfrm>
              <a:off x="3582360" y="3857400"/>
              <a:ext cx="1350720" cy="522000"/>
            </a:xfrm>
            <a:custGeom>
              <a:avLst/>
              <a:gdLst>
                <a:gd name="textAreaLeft" fmla="*/ 0 w 1350720"/>
                <a:gd name="textAreaRight" fmla="*/ 1351440 w 1350720"/>
                <a:gd name="textAreaTop" fmla="*/ 0 h 522000"/>
                <a:gd name="textAreaBottom" fmla="*/ 522720 h 522000"/>
              </a:gdLst>
              <a:ahLst/>
              <a:cxnLst/>
              <a:rect l="textAreaLeft" t="textAreaTop" r="textAreaRight" b="textAreaBottom"/>
              <a:pathLst>
                <a:path w="1351279" h="522604">
                  <a:moveTo>
                    <a:pt x="0" y="0"/>
                  </a:moveTo>
                  <a:lnTo>
                    <a:pt x="1351168" y="0"/>
                  </a:lnTo>
                  <a:lnTo>
                    <a:pt x="1351168" y="522451"/>
                  </a:lnTo>
                  <a:lnTo>
                    <a:pt x="0" y="5224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3511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8" name="object 30"/>
          <p:cNvSpPr/>
          <p:nvPr/>
        </p:nvSpPr>
        <p:spPr>
          <a:xfrm>
            <a:off x="3654360" y="3903480"/>
            <a:ext cx="1284480" cy="48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800" rIns="0" bIns="0" anchor="t">
            <a:spAutoFit/>
          </a:bodyPr>
          <a:lstStyle/>
          <a:p>
            <a:pPr marL="30960" defTabSz="914400">
              <a:lnSpc>
                <a:spcPct val="100000"/>
              </a:lnSpc>
              <a:spcBef>
                <a:spcPts val="439"/>
              </a:spcBef>
            </a:pPr>
            <a:r>
              <a:rPr lang="fr-FR" sz="1350" b="1" u="none" strike="noStrike" spc="-11">
                <a:solidFill>
                  <a:srgbClr val="111111"/>
                </a:solidFill>
                <a:effectLst/>
                <a:uFillTx/>
                <a:latin typeface="Arial"/>
              </a:rPr>
              <a:t>backend</a:t>
            </a:r>
            <a:r>
              <a:rPr lang="fr-FR" sz="1350" b="1" u="none" strike="noStrike" spc="-10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350" b="1" u="none" strike="noStrike" spc="-26">
                <a:solidFill>
                  <a:srgbClr val="111111"/>
                </a:solidFill>
                <a:effectLst/>
                <a:uFillTx/>
                <a:latin typeface="Arial"/>
              </a:rPr>
              <a:t>×N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960" defTabSz="914400">
              <a:lnSpc>
                <a:spcPct val="100000"/>
              </a:lnSpc>
              <a:spcBef>
                <a:spcPts val="51"/>
              </a:spcBef>
            </a:pPr>
            <a:r>
              <a:rPr lang="fr-FR" sz="1100" b="0" u="none" strike="noStrike" spc="-31">
                <a:solidFill>
                  <a:srgbClr val="4A4A4A"/>
                </a:solidFill>
                <a:effectLst/>
                <a:uFillTx/>
                <a:latin typeface="Arial MT"/>
              </a:rPr>
              <a:t>FastAPI</a:t>
            </a:r>
            <a:r>
              <a:rPr lang="fr-FR" sz="1100" b="0" u="none" strike="noStrike" spc="-34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00" b="0" u="none" strike="noStrike" spc="-136">
                <a:solidFill>
                  <a:srgbClr val="4A4A4A"/>
                </a:solidFill>
                <a:effectLst/>
                <a:uFillTx/>
                <a:latin typeface="Arial MT"/>
              </a:rPr>
              <a:t>·</a:t>
            </a:r>
            <a:r>
              <a:rPr lang="fr-FR" sz="1100" b="0" u="none" strike="noStrike" spc="26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00" b="0" u="none" strike="noStrike" spc="-11">
                <a:solidFill>
                  <a:srgbClr val="4A4A4A"/>
                </a:solidFill>
                <a:effectLst/>
                <a:uFillTx/>
                <a:latin typeface="Arial MT"/>
              </a:rPr>
              <a:t>seuils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object 32"/>
          <p:cNvSpPr/>
          <p:nvPr/>
        </p:nvSpPr>
        <p:spPr>
          <a:xfrm>
            <a:off x="5473800" y="4055400"/>
            <a:ext cx="1315080" cy="522000"/>
          </a:xfrm>
          <a:custGeom>
            <a:avLst/>
            <a:gdLst>
              <a:gd name="textAreaLeft" fmla="*/ 0 w 1315080"/>
              <a:gd name="textAreaRight" fmla="*/ 1315800 w 1315080"/>
              <a:gd name="textAreaTop" fmla="*/ 0 h 522000"/>
              <a:gd name="textAreaBottom" fmla="*/ 522720 h 522000"/>
            </a:gdLst>
            <a:ahLst/>
            <a:cxnLst/>
            <a:rect l="textAreaLeft" t="textAreaTop" r="textAreaRight" b="textAreaBottom"/>
            <a:pathLst>
              <a:path w="1315720" h="522604">
                <a:moveTo>
                  <a:pt x="1315137" y="522451"/>
                </a:moveTo>
                <a:lnTo>
                  <a:pt x="0" y="522451"/>
                </a:lnTo>
                <a:lnTo>
                  <a:pt x="0" y="0"/>
                </a:lnTo>
                <a:lnTo>
                  <a:pt x="1315137" y="0"/>
                </a:lnTo>
                <a:lnTo>
                  <a:pt x="1315137" y="522451"/>
                </a:lnTo>
                <a:close/>
              </a:path>
            </a:pathLst>
          </a:custGeom>
          <a:solidFill>
            <a:srgbClr val="1F36C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object 33"/>
          <p:cNvSpPr/>
          <p:nvPr/>
        </p:nvSpPr>
        <p:spPr>
          <a:xfrm>
            <a:off x="5569200" y="4105440"/>
            <a:ext cx="1012680" cy="4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lang="fr-FR" sz="1350" b="1" u="none" strike="noStrike" spc="-11">
                <a:solidFill>
                  <a:srgbClr val="FFFFFF"/>
                </a:solidFill>
                <a:effectLst/>
                <a:uFillTx/>
                <a:latin typeface="Arial"/>
              </a:rPr>
              <a:t>PostgreSQL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45"/>
              </a:spcBef>
            </a:pPr>
            <a:r>
              <a:rPr lang="fr-FR" sz="1100" b="0" u="none" strike="noStrike" spc="-11">
                <a:solidFill>
                  <a:srgbClr val="FFFFFF"/>
                </a:solidFill>
                <a:effectLst/>
                <a:uFillTx/>
                <a:latin typeface="Arial MT"/>
              </a:rPr>
              <a:t>alertes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1" name="object 42"/>
          <p:cNvGrpSpPr/>
          <p:nvPr/>
        </p:nvGrpSpPr>
        <p:grpSpPr>
          <a:xfrm>
            <a:off x="3150000" y="2369160"/>
            <a:ext cx="2683800" cy="2388600"/>
            <a:chOff x="3150000" y="2369160"/>
            <a:chExt cx="2683800" cy="2388600"/>
          </a:xfrm>
        </p:grpSpPr>
        <p:sp>
          <p:nvSpPr>
            <p:cNvPr id="112" name="object 43"/>
            <p:cNvSpPr/>
            <p:nvPr/>
          </p:nvSpPr>
          <p:spPr>
            <a:xfrm>
              <a:off x="3150000" y="2406960"/>
              <a:ext cx="414000" cy="360"/>
            </a:xfrm>
            <a:custGeom>
              <a:avLst/>
              <a:gdLst>
                <a:gd name="textAreaLeft" fmla="*/ 0 w 414000"/>
                <a:gd name="textAreaRight" fmla="*/ 414720 w 414000"/>
                <a:gd name="textAreaTop" fmla="*/ 0 h 360"/>
                <a:gd name="textAreaBottom" fmla="*/ 1440 h 360"/>
              </a:gdLst>
              <a:ahLst/>
              <a:cxnLst/>
              <a:rect l="textAreaLeft" t="textAreaTop" r="textAreaRight" b="textAreaBottom"/>
              <a:pathLst>
                <a:path w="414654">
                  <a:moveTo>
                    <a:pt x="0" y="0"/>
                  </a:moveTo>
                  <a:lnTo>
                    <a:pt x="414358" y="0"/>
                  </a:lnTo>
                </a:path>
              </a:pathLst>
            </a:custGeom>
            <a:noFill/>
            <a:ln w="13511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object 44"/>
            <p:cNvSpPr/>
            <p:nvPr/>
          </p:nvSpPr>
          <p:spPr>
            <a:xfrm>
              <a:off x="3479040" y="2369160"/>
              <a:ext cx="84960" cy="75600"/>
            </a:xfrm>
            <a:custGeom>
              <a:avLst/>
              <a:gdLst>
                <a:gd name="textAreaLeft" fmla="*/ 0 w 84960"/>
                <a:gd name="textAreaRight" fmla="*/ 85680 w 84960"/>
                <a:gd name="textAreaTop" fmla="*/ 0 h 75600"/>
                <a:gd name="textAreaBottom" fmla="*/ 76320 h 75600"/>
              </a:gdLst>
              <a:ahLst/>
              <a:cxnLst/>
              <a:rect l="textAreaLeft" t="textAreaTop" r="textAreaRight" b="textAreaBottom"/>
              <a:pathLst>
                <a:path w="85725" h="76200">
                  <a:moveTo>
                    <a:pt x="0" y="75665"/>
                  </a:moveTo>
                  <a:lnTo>
                    <a:pt x="0" y="0"/>
                  </a:lnTo>
                  <a:lnTo>
                    <a:pt x="85123" y="37832"/>
                  </a:lnTo>
                  <a:lnTo>
                    <a:pt x="0" y="75665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object 45"/>
            <p:cNvSpPr/>
            <p:nvPr/>
          </p:nvSpPr>
          <p:spPr>
            <a:xfrm>
              <a:off x="3150000" y="4118400"/>
              <a:ext cx="414000" cy="360"/>
            </a:xfrm>
            <a:custGeom>
              <a:avLst/>
              <a:gdLst>
                <a:gd name="textAreaLeft" fmla="*/ 0 w 414000"/>
                <a:gd name="textAreaRight" fmla="*/ 414720 w 414000"/>
                <a:gd name="textAreaTop" fmla="*/ 0 h 360"/>
                <a:gd name="textAreaBottom" fmla="*/ 1440 h 360"/>
              </a:gdLst>
              <a:ahLst/>
              <a:cxnLst/>
              <a:rect l="textAreaLeft" t="textAreaTop" r="textAreaRight" b="textAreaBottom"/>
              <a:pathLst>
                <a:path w="414654">
                  <a:moveTo>
                    <a:pt x="0" y="0"/>
                  </a:moveTo>
                  <a:lnTo>
                    <a:pt x="414358" y="0"/>
                  </a:lnTo>
                </a:path>
              </a:pathLst>
            </a:custGeom>
            <a:noFill/>
            <a:ln w="13511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object 46"/>
            <p:cNvSpPr/>
            <p:nvPr/>
          </p:nvSpPr>
          <p:spPr>
            <a:xfrm>
              <a:off x="3479040" y="4080600"/>
              <a:ext cx="84960" cy="75600"/>
            </a:xfrm>
            <a:custGeom>
              <a:avLst/>
              <a:gdLst>
                <a:gd name="textAreaLeft" fmla="*/ 0 w 84960"/>
                <a:gd name="textAreaRight" fmla="*/ 85680 w 84960"/>
                <a:gd name="textAreaTop" fmla="*/ 0 h 75600"/>
                <a:gd name="textAreaBottom" fmla="*/ 76320 h 75600"/>
              </a:gdLst>
              <a:ahLst/>
              <a:cxnLst/>
              <a:rect l="textAreaLeft" t="textAreaTop" r="textAreaRight" b="textAreaBottom"/>
              <a:pathLst>
                <a:path w="85725" h="76200">
                  <a:moveTo>
                    <a:pt x="0" y="75665"/>
                  </a:moveTo>
                  <a:lnTo>
                    <a:pt x="0" y="0"/>
                  </a:lnTo>
                  <a:lnTo>
                    <a:pt x="85123" y="37832"/>
                  </a:lnTo>
                  <a:lnTo>
                    <a:pt x="0" y="75665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object 47"/>
            <p:cNvSpPr/>
            <p:nvPr/>
          </p:nvSpPr>
          <p:spPr>
            <a:xfrm>
              <a:off x="3168000" y="2668320"/>
              <a:ext cx="1089720" cy="648360"/>
            </a:xfrm>
            <a:custGeom>
              <a:avLst/>
              <a:gdLst>
                <a:gd name="textAreaLeft" fmla="*/ 0 w 1089720"/>
                <a:gd name="textAreaRight" fmla="*/ 1090440 w 1089720"/>
                <a:gd name="textAreaTop" fmla="*/ 0 h 648360"/>
                <a:gd name="textAreaBottom" fmla="*/ 649080 h 648360"/>
              </a:gdLst>
              <a:ahLst/>
              <a:cxnLst/>
              <a:rect l="textAreaLeft" t="textAreaTop" r="textAreaRight" b="textAreaBottom"/>
              <a:pathLst>
                <a:path w="1090295" h="648970">
                  <a:moveTo>
                    <a:pt x="1089942" y="0"/>
                  </a:moveTo>
                  <a:lnTo>
                    <a:pt x="1089942" y="648560"/>
                  </a:lnTo>
                  <a:lnTo>
                    <a:pt x="0" y="648560"/>
                  </a:lnTo>
                </a:path>
              </a:pathLst>
            </a:custGeom>
            <a:noFill/>
            <a:ln w="13511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object 48"/>
            <p:cNvSpPr/>
            <p:nvPr/>
          </p:nvSpPr>
          <p:spPr>
            <a:xfrm>
              <a:off x="3168000" y="3278880"/>
              <a:ext cx="84960" cy="75600"/>
            </a:xfrm>
            <a:custGeom>
              <a:avLst/>
              <a:gdLst>
                <a:gd name="textAreaLeft" fmla="*/ 0 w 84960"/>
                <a:gd name="textAreaRight" fmla="*/ 85680 w 84960"/>
                <a:gd name="textAreaTop" fmla="*/ 0 h 75600"/>
                <a:gd name="textAreaBottom" fmla="*/ 76320 h 75600"/>
              </a:gdLst>
              <a:ahLst/>
              <a:cxnLst/>
              <a:rect l="textAreaLeft" t="textAreaTop" r="textAreaRight" b="textAreaBottom"/>
              <a:pathLst>
                <a:path w="85725" h="76200">
                  <a:moveTo>
                    <a:pt x="85123" y="0"/>
                  </a:moveTo>
                  <a:lnTo>
                    <a:pt x="85123" y="75665"/>
                  </a:lnTo>
                  <a:lnTo>
                    <a:pt x="0" y="37832"/>
                  </a:lnTo>
                  <a:lnTo>
                    <a:pt x="85123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object 49"/>
            <p:cNvSpPr/>
            <p:nvPr/>
          </p:nvSpPr>
          <p:spPr>
            <a:xfrm>
              <a:off x="4933440" y="3307680"/>
              <a:ext cx="522000" cy="693360"/>
            </a:xfrm>
            <a:custGeom>
              <a:avLst/>
              <a:gdLst>
                <a:gd name="textAreaLeft" fmla="*/ 0 w 522000"/>
                <a:gd name="textAreaRight" fmla="*/ 522720 w 522000"/>
                <a:gd name="textAreaTop" fmla="*/ 0 h 693360"/>
                <a:gd name="textAreaBottom" fmla="*/ 694080 h 693360"/>
              </a:gdLst>
              <a:ahLst/>
              <a:cxnLst/>
              <a:rect l="textAreaLeft" t="textAreaTop" r="textAreaRight" b="textAreaBottom"/>
              <a:pathLst>
                <a:path w="522604" h="694054">
                  <a:moveTo>
                    <a:pt x="0" y="693599"/>
                  </a:moveTo>
                  <a:lnTo>
                    <a:pt x="270233" y="693599"/>
                  </a:lnTo>
                  <a:lnTo>
                    <a:pt x="270233" y="0"/>
                  </a:lnTo>
                  <a:lnTo>
                    <a:pt x="522451" y="0"/>
                  </a:lnTo>
                </a:path>
              </a:pathLst>
            </a:custGeom>
            <a:noFill/>
            <a:ln w="13511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object 50"/>
            <p:cNvSpPr/>
            <p:nvPr/>
          </p:nvSpPr>
          <p:spPr>
            <a:xfrm>
              <a:off x="5370840" y="3269880"/>
              <a:ext cx="84960" cy="75600"/>
            </a:xfrm>
            <a:custGeom>
              <a:avLst/>
              <a:gdLst>
                <a:gd name="textAreaLeft" fmla="*/ 0 w 84960"/>
                <a:gd name="textAreaRight" fmla="*/ 85680 w 84960"/>
                <a:gd name="textAreaTop" fmla="*/ 0 h 75600"/>
                <a:gd name="textAreaBottom" fmla="*/ 76320 h 75600"/>
              </a:gdLst>
              <a:ahLst/>
              <a:cxnLst/>
              <a:rect l="textAreaLeft" t="textAreaTop" r="textAreaRight" b="textAreaBottom"/>
              <a:pathLst>
                <a:path w="85725" h="76200">
                  <a:moveTo>
                    <a:pt x="0" y="75665"/>
                  </a:moveTo>
                  <a:lnTo>
                    <a:pt x="0" y="0"/>
                  </a:lnTo>
                  <a:lnTo>
                    <a:pt x="85123" y="37832"/>
                  </a:lnTo>
                  <a:lnTo>
                    <a:pt x="0" y="75665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object 51"/>
            <p:cNvSpPr/>
            <p:nvPr/>
          </p:nvSpPr>
          <p:spPr>
            <a:xfrm>
              <a:off x="4933440" y="4235760"/>
              <a:ext cx="522000" cy="80640"/>
            </a:xfrm>
            <a:custGeom>
              <a:avLst/>
              <a:gdLst>
                <a:gd name="textAreaLeft" fmla="*/ 0 w 522000"/>
                <a:gd name="textAreaRight" fmla="*/ 522720 w 522000"/>
                <a:gd name="textAreaTop" fmla="*/ 0 h 80640"/>
                <a:gd name="textAreaBottom" fmla="*/ 81360 h 80640"/>
              </a:gdLst>
              <a:ahLst/>
              <a:cxnLst/>
              <a:rect l="textAreaLeft" t="textAreaTop" r="textAreaRight" b="textAreaBottom"/>
              <a:pathLst>
                <a:path w="522604" h="81279">
                  <a:moveTo>
                    <a:pt x="0" y="0"/>
                  </a:moveTo>
                  <a:lnTo>
                    <a:pt x="270233" y="0"/>
                  </a:lnTo>
                  <a:lnTo>
                    <a:pt x="270233" y="81070"/>
                  </a:lnTo>
                  <a:lnTo>
                    <a:pt x="522451" y="81070"/>
                  </a:lnTo>
                </a:path>
              </a:pathLst>
            </a:custGeom>
            <a:noFill/>
            <a:ln w="13511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object 52"/>
            <p:cNvSpPr/>
            <p:nvPr/>
          </p:nvSpPr>
          <p:spPr>
            <a:xfrm>
              <a:off x="5370840" y="4278960"/>
              <a:ext cx="84960" cy="75600"/>
            </a:xfrm>
            <a:custGeom>
              <a:avLst/>
              <a:gdLst>
                <a:gd name="textAreaLeft" fmla="*/ 0 w 84960"/>
                <a:gd name="textAreaRight" fmla="*/ 85680 w 84960"/>
                <a:gd name="textAreaTop" fmla="*/ 0 h 75600"/>
                <a:gd name="textAreaBottom" fmla="*/ 76320 h 75600"/>
              </a:gdLst>
              <a:ahLst/>
              <a:cxnLst/>
              <a:rect l="textAreaLeft" t="textAreaTop" r="textAreaRight" b="textAreaBottom"/>
              <a:pathLst>
                <a:path w="85725" h="76200">
                  <a:moveTo>
                    <a:pt x="0" y="75665"/>
                  </a:moveTo>
                  <a:lnTo>
                    <a:pt x="0" y="0"/>
                  </a:lnTo>
                  <a:lnTo>
                    <a:pt x="85123" y="37832"/>
                  </a:lnTo>
                  <a:lnTo>
                    <a:pt x="0" y="75665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object 53"/>
            <p:cNvSpPr/>
            <p:nvPr/>
          </p:nvSpPr>
          <p:spPr>
            <a:xfrm>
              <a:off x="4257720" y="4397760"/>
              <a:ext cx="1576080" cy="360000"/>
            </a:xfrm>
            <a:custGeom>
              <a:avLst/>
              <a:gdLst>
                <a:gd name="textAreaLeft" fmla="*/ 0 w 1576080"/>
                <a:gd name="textAreaRight" fmla="*/ 1576800 w 1576080"/>
                <a:gd name="textAreaTop" fmla="*/ 0 h 360000"/>
                <a:gd name="textAreaBottom" fmla="*/ 360720 h 360000"/>
              </a:gdLst>
              <a:ahLst/>
              <a:cxnLst/>
              <a:rect l="textAreaLeft" t="textAreaTop" r="textAreaRight" b="textAreaBottom"/>
              <a:pathLst>
                <a:path w="1576704" h="360679">
                  <a:moveTo>
                    <a:pt x="1576363" y="180155"/>
                  </a:moveTo>
                  <a:lnTo>
                    <a:pt x="1576363" y="360311"/>
                  </a:lnTo>
                  <a:lnTo>
                    <a:pt x="0" y="360311"/>
                  </a:lnTo>
                  <a:lnTo>
                    <a:pt x="0" y="0"/>
                  </a:lnTo>
                </a:path>
              </a:pathLst>
            </a:custGeom>
            <a:noFill/>
            <a:ln w="13511">
              <a:solidFill>
                <a:srgbClr val="11111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object 54"/>
            <p:cNvSpPr/>
            <p:nvPr/>
          </p:nvSpPr>
          <p:spPr>
            <a:xfrm>
              <a:off x="4219920" y="4397760"/>
              <a:ext cx="75600" cy="84960"/>
            </a:xfrm>
            <a:custGeom>
              <a:avLst/>
              <a:gdLst>
                <a:gd name="textAreaLeft" fmla="*/ 0 w 75600"/>
                <a:gd name="textAreaRight" fmla="*/ 76320 w 75600"/>
                <a:gd name="textAreaTop" fmla="*/ 0 h 84960"/>
                <a:gd name="textAreaBottom" fmla="*/ 85680 h 84960"/>
              </a:gdLst>
              <a:ahLst/>
              <a:cxnLst/>
              <a:rect l="textAreaLeft" t="textAreaTop" r="textAreaRight" b="textAreaBottom"/>
              <a:pathLst>
                <a:path w="76200" h="85725">
                  <a:moveTo>
                    <a:pt x="75665" y="85123"/>
                  </a:moveTo>
                  <a:lnTo>
                    <a:pt x="0" y="85123"/>
                  </a:lnTo>
                  <a:lnTo>
                    <a:pt x="37832" y="0"/>
                  </a:lnTo>
                  <a:lnTo>
                    <a:pt x="75665" y="85123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" name="object 68"/>
          <p:cNvSpPr/>
          <p:nvPr/>
        </p:nvSpPr>
        <p:spPr>
          <a:xfrm>
            <a:off x="7130880" y="2175840"/>
            <a:ext cx="4347720" cy="73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 defTabSz="914400">
              <a:lnSpc>
                <a:spcPct val="111000"/>
              </a:lnSpc>
              <a:spcBef>
                <a:spcPts val="96"/>
              </a:spcBef>
            </a:pPr>
            <a:r>
              <a:rPr lang="fr-FR" sz="1500" b="1" u="none" strike="noStrike" spc="-54" dirty="0">
                <a:solidFill>
                  <a:srgbClr val="111111"/>
                </a:solidFill>
                <a:effectLst/>
                <a:uFillTx/>
                <a:latin typeface="Arial"/>
              </a:rPr>
              <a:t>Sur</a:t>
            </a:r>
            <a:r>
              <a:rPr lang="fr-FR" sz="1500" b="1" u="none" strike="noStrike" spc="-170" dirty="0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500" b="1" u="none" strike="noStrike" spc="-51" dirty="0">
                <a:solidFill>
                  <a:srgbClr val="111111"/>
                </a:solidFill>
                <a:effectLst/>
                <a:uFillTx/>
                <a:latin typeface="Arial"/>
              </a:rPr>
              <a:t>site</a:t>
            </a:r>
            <a:r>
              <a:rPr lang="fr-FR" sz="1500" b="1" u="none" strike="noStrike" spc="-130" dirty="0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500" b="1" u="none" strike="noStrike" spc="79" dirty="0">
                <a:solidFill>
                  <a:srgbClr val="111111"/>
                </a:solidFill>
                <a:effectLst/>
                <a:uFillTx/>
                <a:latin typeface="Arial"/>
              </a:rPr>
              <a:t>:</a:t>
            </a:r>
            <a:r>
              <a:rPr lang="fr-FR" sz="1500" b="1" u="none" strike="noStrike" spc="-249" dirty="0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500" b="1" u="none" strike="noStrike" spc="-71" dirty="0">
                <a:solidFill>
                  <a:srgbClr val="111111"/>
                </a:solidFill>
                <a:effectLst/>
                <a:uFillTx/>
                <a:latin typeface="Arial"/>
              </a:rPr>
              <a:t>cloud</a:t>
            </a:r>
            <a:r>
              <a:rPr lang="fr-FR" sz="1500" b="1" u="none" strike="noStrike" spc="-96" dirty="0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500" b="1" u="none" strike="noStrike" spc="-65" dirty="0">
                <a:solidFill>
                  <a:srgbClr val="111111"/>
                </a:solidFill>
                <a:effectLst/>
                <a:uFillTx/>
                <a:latin typeface="Arial"/>
              </a:rPr>
              <a:t>privé,</a:t>
            </a:r>
            <a:r>
              <a:rPr lang="fr-FR" sz="1500" b="1" u="none" strike="noStrike" spc="-11" dirty="0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500" b="1" u="none" strike="noStrike" spc="-31" dirty="0">
                <a:solidFill>
                  <a:srgbClr val="111111"/>
                </a:solidFill>
                <a:effectLst/>
                <a:uFillTx/>
                <a:latin typeface="Arial"/>
              </a:rPr>
              <a:t>IaaS</a:t>
            </a:r>
            <a:r>
              <a:rPr lang="fr-FR" sz="1400" b="1" u="none" strike="noStrike" dirty="0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400" b="0" u="none" strike="noStrike" spc="-31" dirty="0">
                <a:solidFill>
                  <a:srgbClr val="111111"/>
                </a:solidFill>
                <a:effectLst/>
                <a:uFillTx/>
                <a:latin typeface="Arial MT"/>
              </a:rPr>
              <a:t>Ingestion,</a:t>
            </a:r>
            <a:r>
              <a:rPr lang="fr-FR" sz="1400" b="0" u="none" strike="noStrike" spc="11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6" dirty="0">
                <a:solidFill>
                  <a:srgbClr val="111111"/>
                </a:solidFill>
                <a:effectLst/>
                <a:uFillTx/>
                <a:latin typeface="Arial MT"/>
              </a:rPr>
              <a:t>détection,</a:t>
            </a:r>
            <a:r>
              <a:rPr lang="fr-FR" sz="1400" b="0" u="none" strike="noStrike" spc="11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 dirty="0">
                <a:solidFill>
                  <a:srgbClr val="111111"/>
                </a:solidFill>
                <a:effectLst/>
                <a:uFillTx/>
                <a:latin typeface="Arial MT"/>
              </a:rPr>
              <a:t>alertes </a:t>
            </a:r>
            <a:r>
              <a:rPr lang="fr-FR" sz="1400" b="0" u="none" strike="noStrike" spc="-20" dirty="0">
                <a:solidFill>
                  <a:srgbClr val="111111"/>
                </a:solidFill>
                <a:effectLst/>
                <a:uFillTx/>
                <a:latin typeface="Arial MT"/>
              </a:rPr>
              <a:t>et</a:t>
            </a:r>
            <a:r>
              <a:rPr lang="fr-FR" sz="1400" b="0" u="none" strike="noStrike" spc="-96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4" dirty="0">
                <a:solidFill>
                  <a:srgbClr val="111111"/>
                </a:solidFill>
                <a:effectLst/>
                <a:uFillTx/>
                <a:latin typeface="Arial MT"/>
              </a:rPr>
              <a:t>tableau</a:t>
            </a:r>
            <a:r>
              <a:rPr lang="fr-FR" sz="1400" b="0" u="none" strike="noStrike" spc="-60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 dirty="0">
                <a:solidFill>
                  <a:srgbClr val="111111"/>
                </a:solidFill>
                <a:effectLst/>
                <a:uFillTx/>
                <a:latin typeface="Arial MT"/>
              </a:rPr>
              <a:t>de</a:t>
            </a:r>
            <a:r>
              <a:rPr lang="fr-FR" sz="1400" b="0" u="none" strike="noStrike" spc="-105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4" dirty="0">
                <a:solidFill>
                  <a:srgbClr val="111111"/>
                </a:solidFill>
                <a:effectLst/>
                <a:uFillTx/>
                <a:latin typeface="Arial MT"/>
              </a:rPr>
              <a:t>bord</a:t>
            </a:r>
            <a:r>
              <a:rPr lang="fr-FR" sz="1400" b="0" u="none" strike="noStrike" spc="-65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0" dirty="0">
                <a:solidFill>
                  <a:srgbClr val="111111"/>
                </a:solidFill>
                <a:effectLst/>
                <a:uFillTx/>
                <a:latin typeface="Arial MT"/>
              </a:rPr>
              <a:t>temps</a:t>
            </a:r>
            <a:r>
              <a:rPr lang="fr-FR" sz="1400" b="0" u="none" strike="noStrike" spc="-99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54" dirty="0">
                <a:solidFill>
                  <a:srgbClr val="111111"/>
                </a:solidFill>
                <a:effectLst/>
                <a:uFillTx/>
                <a:latin typeface="Arial MT"/>
              </a:rPr>
              <a:t>réel</a:t>
            </a:r>
            <a:r>
              <a:rPr lang="fr-FR" sz="1400" b="0" u="none" strike="noStrike" spc="-11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9" dirty="0">
                <a:solidFill>
                  <a:srgbClr val="111111"/>
                </a:solidFill>
                <a:effectLst/>
                <a:uFillTx/>
                <a:latin typeface="Arial MT"/>
              </a:rPr>
              <a:t>:</a:t>
            </a:r>
            <a:r>
              <a:rPr lang="fr-FR" sz="1400" b="0" u="none" strike="noStrike" spc="31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 dirty="0">
                <a:solidFill>
                  <a:srgbClr val="111111"/>
                </a:solidFill>
                <a:effectLst/>
                <a:uFillTx/>
                <a:latin typeface="Arial MT"/>
              </a:rPr>
              <a:t>latence</a:t>
            </a:r>
            <a:r>
              <a:rPr lang="fr-FR" sz="1400" b="0" u="none" strike="noStrike" spc="-105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4" dirty="0">
                <a:solidFill>
                  <a:srgbClr val="111111"/>
                </a:solidFill>
                <a:effectLst/>
                <a:uFillTx/>
                <a:latin typeface="Arial MT"/>
              </a:rPr>
              <a:t>faible,</a:t>
            </a:r>
            <a:r>
              <a:rPr lang="fr-FR" sz="1400" b="0" u="none" strike="noStrike" spc="26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 dirty="0">
                <a:solidFill>
                  <a:srgbClr val="111111"/>
                </a:solidFill>
                <a:effectLst/>
                <a:uFillTx/>
                <a:latin typeface="Arial MT"/>
              </a:rPr>
              <a:t>réseau </a:t>
            </a:r>
            <a:r>
              <a:rPr lang="fr-FR" sz="1400" b="0" u="none" strike="noStrike" spc="-26" dirty="0">
                <a:solidFill>
                  <a:srgbClr val="111111"/>
                </a:solidFill>
                <a:effectLst/>
                <a:uFillTx/>
                <a:latin typeface="Arial MT"/>
              </a:rPr>
              <a:t>industriel</a:t>
            </a:r>
            <a:r>
              <a:rPr lang="fr-FR" sz="1400" b="0" u="none" strike="noStrike" spc="-11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 dirty="0">
                <a:solidFill>
                  <a:srgbClr val="111111"/>
                </a:solidFill>
                <a:effectLst/>
                <a:uFillTx/>
                <a:latin typeface="Arial MT"/>
              </a:rPr>
              <a:t>isolé,</a:t>
            </a:r>
            <a:r>
              <a:rPr lang="fr-FR" sz="1400" b="0" u="none" strike="noStrike" spc="31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6" dirty="0">
                <a:solidFill>
                  <a:srgbClr val="111111"/>
                </a:solidFill>
                <a:effectLst/>
                <a:uFillTx/>
                <a:latin typeface="Arial MT"/>
              </a:rPr>
              <a:t>fonctionne</a:t>
            </a:r>
            <a:r>
              <a:rPr lang="fr-FR" sz="1400" b="0" u="none" strike="noStrike" spc="-105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 dirty="0">
                <a:solidFill>
                  <a:srgbClr val="111111"/>
                </a:solidFill>
                <a:effectLst/>
                <a:uFillTx/>
                <a:latin typeface="Arial MT"/>
              </a:rPr>
              <a:t>sans</a:t>
            </a:r>
            <a:r>
              <a:rPr lang="fr-FR" sz="1400" b="0" u="none" strike="noStrike" spc="-96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 dirty="0">
                <a:solidFill>
                  <a:srgbClr val="111111"/>
                </a:solidFill>
                <a:effectLst/>
                <a:uFillTx/>
                <a:latin typeface="Arial MT"/>
              </a:rPr>
              <a:t>Internet.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object 55"/>
          <p:cNvSpPr/>
          <p:nvPr/>
        </p:nvSpPr>
        <p:spPr>
          <a:xfrm>
            <a:off x="4326120" y="2802600"/>
            <a:ext cx="1213920" cy="19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111"/>
              </a:spcBef>
            </a:pPr>
            <a:r>
              <a:rPr lang="fr-FR" sz="1100" b="0" u="none" strike="noStrike" spc="-20">
                <a:solidFill>
                  <a:srgbClr val="4A4A4A"/>
                </a:solidFill>
                <a:effectLst/>
                <a:uFillTx/>
                <a:latin typeface="Arial MT"/>
              </a:rPr>
              <a:t>REST</a:t>
            </a:r>
            <a:r>
              <a:rPr lang="fr-FR" sz="1100" b="0" u="none" strike="noStrike" spc="-125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00" b="0" u="none" strike="noStrike">
                <a:solidFill>
                  <a:srgbClr val="4A4A4A"/>
                </a:solidFill>
                <a:effectLst/>
                <a:uFillTx/>
                <a:latin typeface="Arial MT"/>
              </a:rPr>
              <a:t>+</a:t>
            </a:r>
            <a:r>
              <a:rPr lang="fr-FR" sz="1100" b="0" u="none" strike="noStrike" spc="-51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00" b="0" u="none" strike="noStrike" spc="-26">
                <a:solidFill>
                  <a:srgbClr val="4A4A4A"/>
                </a:solidFill>
                <a:effectLst/>
                <a:uFillTx/>
                <a:latin typeface="Arial MT"/>
              </a:rPr>
              <a:t>WebSocket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object 56"/>
          <p:cNvSpPr/>
          <p:nvPr/>
        </p:nvSpPr>
        <p:spPr>
          <a:xfrm>
            <a:off x="4326120" y="2964600"/>
            <a:ext cx="949320" cy="19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111"/>
              </a:spcBef>
            </a:pPr>
            <a:r>
              <a:rPr lang="fr-FR" sz="1100" b="0" u="none" strike="noStrike" spc="-31">
                <a:solidFill>
                  <a:srgbClr val="4A4A4A"/>
                </a:solidFill>
                <a:effectLst/>
                <a:uFillTx/>
                <a:latin typeface="Arial MT"/>
              </a:rPr>
              <a:t>vers</a:t>
            </a:r>
            <a:r>
              <a:rPr lang="fr-FR" sz="1100" b="0" u="none" strike="noStrike" spc="-65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00" b="0" u="none" strike="noStrike" spc="-31">
                <a:solidFill>
                  <a:srgbClr val="4A4A4A"/>
                </a:solidFill>
                <a:effectLst/>
                <a:uFillTx/>
                <a:latin typeface="Arial MT"/>
              </a:rPr>
              <a:t>le</a:t>
            </a:r>
            <a:r>
              <a:rPr lang="fr-FR" sz="1100" b="0" u="none" strike="noStrike" spc="-71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00" b="0" u="none" strike="noStrike" spc="-11">
                <a:solidFill>
                  <a:srgbClr val="4A4A4A"/>
                </a:solidFill>
                <a:effectLst/>
                <a:uFillTx/>
                <a:latin typeface="Arial MT"/>
              </a:rPr>
              <a:t>backend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object 70"/>
          <p:cNvSpPr/>
          <p:nvPr/>
        </p:nvSpPr>
        <p:spPr>
          <a:xfrm>
            <a:off x="7143840" y="3256020"/>
            <a:ext cx="35352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52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91"/>
              </a:spcBef>
            </a:pPr>
            <a:r>
              <a:rPr lang="fr-FR" sz="1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Prototype</a:t>
            </a:r>
            <a:r>
              <a:rPr lang="fr-FR" sz="1500" b="1" u="none" strike="noStrike" spc="-13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500" b="1" u="none" strike="noStrike" spc="-113">
                <a:solidFill>
                  <a:srgbClr val="111111"/>
                </a:solidFill>
                <a:effectLst/>
                <a:uFillTx/>
                <a:latin typeface="Arial"/>
              </a:rPr>
              <a:t>:</a:t>
            </a:r>
            <a:r>
              <a:rPr lang="fr-FR" sz="1500" b="1" u="none" strike="noStrike" spc="-6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5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Docker</a:t>
            </a:r>
            <a:r>
              <a:rPr lang="fr-FR" sz="1500" b="1" u="none" strike="noStrike" spc="-18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500" b="1" u="none" strike="noStrike" spc="-11">
                <a:solidFill>
                  <a:srgbClr val="111111"/>
                </a:solidFill>
                <a:effectLst/>
                <a:uFillTx/>
                <a:latin typeface="Arial"/>
              </a:rPr>
              <a:t>Compose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object 57"/>
          <p:cNvSpPr/>
          <p:nvPr/>
        </p:nvSpPr>
        <p:spPr>
          <a:xfrm>
            <a:off x="4326120" y="4748040"/>
            <a:ext cx="255744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111"/>
              </a:spcBef>
            </a:pPr>
            <a:r>
              <a:rPr lang="fr-FR" sz="1100" b="0" u="none" strike="noStrike" spc="-34">
                <a:solidFill>
                  <a:srgbClr val="4A4A4A"/>
                </a:solidFill>
                <a:effectLst/>
                <a:uFillTx/>
                <a:latin typeface="Arial MT"/>
              </a:rPr>
              <a:t>NOTIFY</a:t>
            </a:r>
            <a:r>
              <a:rPr lang="fr-FR" sz="1100" b="0" u="none" strike="noStrike" spc="-170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050" b="0" u="none" strike="noStrike">
                <a:solidFill>
                  <a:srgbClr val="4A4A4A"/>
                </a:solidFill>
                <a:effectLst/>
                <a:uFillTx/>
                <a:latin typeface="Microsoft Sans Serif"/>
              </a:rPr>
              <a:t>→</a:t>
            </a:r>
            <a:r>
              <a:rPr lang="fr-FR" sz="1050" b="0" u="none" strike="noStrike" spc="-20">
                <a:solidFill>
                  <a:srgbClr val="4A4A4A"/>
                </a:solidFill>
                <a:effectLst/>
                <a:uFillTx/>
                <a:latin typeface="Microsoft Sans Serif"/>
              </a:rPr>
              <a:t> </a:t>
            </a:r>
            <a:r>
              <a:rPr lang="fr-FR" sz="1100" b="0" u="none" strike="noStrike" spc="-20">
                <a:solidFill>
                  <a:srgbClr val="4A4A4A"/>
                </a:solidFill>
                <a:effectLst/>
                <a:uFillTx/>
                <a:latin typeface="Arial MT"/>
              </a:rPr>
              <a:t>toutes</a:t>
            </a:r>
            <a:r>
              <a:rPr lang="fr-FR" sz="1100" b="0" u="none" strike="noStrike" spc="-51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00" b="0" u="none" strike="noStrike" spc="-31">
                <a:solidFill>
                  <a:srgbClr val="4A4A4A"/>
                </a:solidFill>
                <a:effectLst/>
                <a:uFillTx/>
                <a:latin typeface="Arial MT"/>
              </a:rPr>
              <a:t>les</a:t>
            </a:r>
            <a:r>
              <a:rPr lang="fr-FR" sz="1100" b="0" u="none" strike="noStrike" spc="-51">
                <a:solidFill>
                  <a:srgbClr val="4A4A4A"/>
                </a:solidFill>
                <a:effectLst/>
                <a:uFillTx/>
                <a:latin typeface="Arial MT"/>
              </a:rPr>
              <a:t> </a:t>
            </a:r>
            <a:r>
              <a:rPr lang="fr-FR" sz="1100" b="0" u="none" strike="noStrike" spc="-11">
                <a:solidFill>
                  <a:srgbClr val="4A4A4A"/>
                </a:solidFill>
                <a:effectLst/>
                <a:uFillTx/>
                <a:latin typeface="Arial MT"/>
              </a:rPr>
              <a:t>répliques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object 71"/>
          <p:cNvSpPr/>
          <p:nvPr/>
        </p:nvSpPr>
        <p:spPr>
          <a:xfrm>
            <a:off x="7143840" y="3496500"/>
            <a:ext cx="4075200" cy="50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 defTabSz="914400">
              <a:lnSpc>
                <a:spcPct val="111000"/>
              </a:lnSpc>
              <a:spcBef>
                <a:spcPts val="96"/>
              </a:spcBef>
            </a:pPr>
            <a:r>
              <a:rPr lang="fr-FR" sz="1400" b="0" u="none" strike="noStrike" dirty="0">
                <a:solidFill>
                  <a:srgbClr val="111111"/>
                </a:solidFill>
                <a:effectLst/>
                <a:uFillTx/>
                <a:latin typeface="Arial MT"/>
              </a:rPr>
              <a:t>6</a:t>
            </a:r>
            <a:r>
              <a:rPr lang="fr-FR" sz="1400" b="0" u="none" strike="noStrike" spc="-125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 dirty="0">
                <a:solidFill>
                  <a:srgbClr val="111111"/>
                </a:solidFill>
                <a:effectLst/>
                <a:uFillTx/>
                <a:latin typeface="Arial MT"/>
              </a:rPr>
              <a:t>services,</a:t>
            </a:r>
            <a:r>
              <a:rPr lang="fr-FR" sz="1400" b="0" u="none" strike="noStrike" spc="11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4" dirty="0">
                <a:solidFill>
                  <a:srgbClr val="111111"/>
                </a:solidFill>
                <a:effectLst/>
                <a:uFillTx/>
                <a:latin typeface="Arial MT"/>
              </a:rPr>
              <a:t>démarrés</a:t>
            </a:r>
            <a:r>
              <a:rPr lang="fr-FR" sz="1400" b="0" u="none" strike="noStrike" spc="-111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45" dirty="0">
                <a:solidFill>
                  <a:srgbClr val="111111"/>
                </a:solidFill>
                <a:effectLst/>
                <a:uFillTx/>
                <a:latin typeface="Arial MT"/>
              </a:rPr>
              <a:t>en</a:t>
            </a:r>
            <a:r>
              <a:rPr lang="fr-FR" sz="1400" b="0" u="none" strike="noStrike" spc="-74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4" dirty="0">
                <a:solidFill>
                  <a:srgbClr val="111111"/>
                </a:solidFill>
                <a:effectLst/>
                <a:uFillTx/>
                <a:latin typeface="Arial MT"/>
              </a:rPr>
              <a:t>une</a:t>
            </a:r>
            <a:r>
              <a:rPr lang="fr-FR" sz="1400" b="0" u="none" strike="noStrike" spc="-119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 dirty="0">
                <a:solidFill>
                  <a:srgbClr val="111111"/>
                </a:solidFill>
                <a:effectLst/>
                <a:uFillTx/>
                <a:latin typeface="Arial MT"/>
              </a:rPr>
              <a:t>commande.</a:t>
            </a:r>
            <a:r>
              <a:rPr lang="fr-FR" sz="1400" b="0" u="none" strike="noStrike" spc="11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45" dirty="0">
                <a:solidFill>
                  <a:srgbClr val="111111"/>
                </a:solidFill>
                <a:effectLst/>
                <a:uFillTx/>
                <a:latin typeface="Arial MT"/>
              </a:rPr>
              <a:t>Les</a:t>
            </a:r>
            <a:r>
              <a:rPr lang="fr-FR" sz="1400" b="0" u="none" strike="noStrike" spc="-111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 dirty="0">
                <a:solidFill>
                  <a:srgbClr val="111111"/>
                </a:solidFill>
                <a:effectLst/>
                <a:uFillTx/>
                <a:latin typeface="Arial MT"/>
              </a:rPr>
              <a:t>services </a:t>
            </a:r>
            <a:r>
              <a:rPr lang="fr-FR" sz="1400" b="0" u="none" strike="noStrike" spc="-31" dirty="0">
                <a:solidFill>
                  <a:srgbClr val="111111"/>
                </a:solidFill>
                <a:effectLst/>
                <a:uFillTx/>
                <a:latin typeface="Arial MT"/>
              </a:rPr>
              <a:t>sans</a:t>
            </a:r>
            <a:r>
              <a:rPr lang="fr-FR" sz="1400" b="0" u="none" strike="noStrike" spc="-79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26" dirty="0">
                <a:solidFill>
                  <a:srgbClr val="111111"/>
                </a:solidFill>
                <a:effectLst/>
                <a:uFillTx/>
                <a:latin typeface="Arial MT"/>
              </a:rPr>
              <a:t>état</a:t>
            </a:r>
            <a:r>
              <a:rPr lang="fr-FR" sz="1400" b="0" u="none" strike="noStrike" spc="-74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 dirty="0">
                <a:solidFill>
                  <a:srgbClr val="111111"/>
                </a:solidFill>
                <a:effectLst/>
                <a:uFillTx/>
                <a:latin typeface="Arial MT"/>
              </a:rPr>
              <a:t>se</a:t>
            </a:r>
            <a:r>
              <a:rPr lang="fr-FR" sz="1400" b="0" u="none" strike="noStrike" spc="-85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31" dirty="0">
                <a:solidFill>
                  <a:srgbClr val="111111"/>
                </a:solidFill>
                <a:effectLst/>
                <a:uFillTx/>
                <a:latin typeface="Arial MT"/>
              </a:rPr>
              <a:t>répliquent</a:t>
            </a:r>
            <a:r>
              <a:rPr lang="fr-FR" sz="1400" b="0" u="none" strike="noStrike" spc="-71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dirty="0">
                <a:solidFill>
                  <a:srgbClr val="111111"/>
                </a:solidFill>
                <a:effectLst/>
                <a:uFillTx/>
                <a:latin typeface="Arial MT"/>
              </a:rPr>
              <a:t>à</a:t>
            </a:r>
            <a:r>
              <a:rPr lang="fr-FR" sz="1400" b="0" u="none" strike="noStrike" spc="-145" dirty="0">
                <a:solidFill>
                  <a:srgbClr val="111111"/>
                </a:solidFill>
                <a:effectLst/>
                <a:uFillTx/>
                <a:latin typeface="Arial MT"/>
              </a:rPr>
              <a:t> </a:t>
            </a:r>
            <a:r>
              <a:rPr lang="fr-FR" sz="1400" b="0" u="none" strike="noStrike" spc="-11" dirty="0">
                <a:solidFill>
                  <a:srgbClr val="111111"/>
                </a:solidFill>
                <a:effectLst/>
                <a:uFillTx/>
                <a:latin typeface="Arial MT"/>
              </a:rPr>
              <a:t>chaud.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object 60"/>
          <p:cNvPicPr/>
          <p:nvPr/>
        </p:nvPicPr>
        <p:blipFill>
          <a:blip r:embed="rId2"/>
          <a:stretch/>
        </p:blipFill>
        <p:spPr>
          <a:xfrm>
            <a:off x="612000" y="5848200"/>
            <a:ext cx="258840" cy="15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object 61"/>
          <p:cNvSpPr/>
          <p:nvPr/>
        </p:nvSpPr>
        <p:spPr>
          <a:xfrm>
            <a:off x="3467160" y="5867280"/>
            <a:ext cx="189720" cy="104040"/>
          </a:xfrm>
          <a:custGeom>
            <a:avLst/>
            <a:gdLst>
              <a:gd name="textAreaLeft" fmla="*/ 0 w 189720"/>
              <a:gd name="textAreaRight" fmla="*/ 190440 w 189720"/>
              <a:gd name="textAreaTop" fmla="*/ 0 h 104040"/>
              <a:gd name="textAreaBottom" fmla="*/ 104760 h 104040"/>
            </a:gdLst>
            <a:ahLst/>
            <a:cxnLst/>
            <a:rect l="textAreaLeft" t="textAreaTop" r="textAreaRight" b="textAreaBottom"/>
            <a:pathLst>
              <a:path w="190500" h="104775">
                <a:moveTo>
                  <a:pt x="190499" y="104774"/>
                </a:moveTo>
                <a:lnTo>
                  <a:pt x="0" y="104774"/>
                </a:lnTo>
                <a:lnTo>
                  <a:pt x="0" y="0"/>
                </a:lnTo>
                <a:lnTo>
                  <a:pt x="190499" y="0"/>
                </a:lnTo>
                <a:lnTo>
                  <a:pt x="190499" y="104774"/>
                </a:lnTo>
                <a:close/>
              </a:path>
            </a:pathLst>
          </a:custGeom>
          <a:solidFill>
            <a:srgbClr val="1F36C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object 73"/>
          <p:cNvSpPr/>
          <p:nvPr/>
        </p:nvSpPr>
        <p:spPr>
          <a:xfrm>
            <a:off x="609480" y="6229440"/>
            <a:ext cx="10972080" cy="8640"/>
          </a:xfrm>
          <a:custGeom>
            <a:avLst/>
            <a:gdLst>
              <a:gd name="textAreaLeft" fmla="*/ 0 w 10972080"/>
              <a:gd name="textAreaRight" fmla="*/ 10972800 w 10972080"/>
              <a:gd name="textAreaTop" fmla="*/ 0 h 8640"/>
              <a:gd name="textAreaBottom" fmla="*/ 9360 h 8640"/>
            </a:gdLst>
            <a:ahLst/>
            <a:cxnLst/>
            <a:rect l="textAreaLeft" t="textAreaTop" r="textAreaRight" b="textAreaBottom"/>
            <a:pathLst>
              <a:path w="10972800" h="9525">
                <a:moveTo>
                  <a:pt x="10972799" y="9524"/>
                </a:moveTo>
                <a:lnTo>
                  <a:pt x="0" y="9524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9524"/>
                </a:lnTo>
                <a:close/>
              </a:path>
            </a:pathLst>
          </a:custGeom>
          <a:solidFill>
            <a:srgbClr val="D5D5D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ftr" idx="23"/>
          </p:nvPr>
        </p:nvSpPr>
        <p:spPr>
          <a:xfrm>
            <a:off x="596880" y="6363720"/>
            <a:ext cx="734040" cy="1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r>
              <a: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rPr>
              <a:t>FactorySense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24"/>
          </p:nvPr>
        </p:nvSpPr>
        <p:spPr>
          <a:xfrm>
            <a:off x="11307600" y="6363720"/>
            <a:ext cx="288720" cy="1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6336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6336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r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3</a:t>
            </a:r>
            <a:r>
              <a:rPr lang="fr-FR" sz="950" b="0" u="none" strike="noStrike" spc="-71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/</a:t>
            </a:r>
            <a:r>
              <a:rPr lang="fr-FR" sz="950" b="0" u="none" strike="noStrike" spc="-85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51">
                <a:solidFill>
                  <a:srgbClr val="6A6A6A"/>
                </a:solidFill>
                <a:effectLst/>
                <a:uFillTx/>
                <a:latin typeface="Arial MT"/>
              </a:rPr>
              <a:t>4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5" name="Image 75"/>
          <p:cNvPicPr/>
          <p:nvPr/>
        </p:nvPicPr>
        <p:blipFill>
          <a:blip r:embed="rId3"/>
          <a:stretch/>
        </p:blipFill>
        <p:spPr>
          <a:xfrm>
            <a:off x="11288880" y="103680"/>
            <a:ext cx="81144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object 65"/>
          <p:cNvSpPr/>
          <p:nvPr/>
        </p:nvSpPr>
        <p:spPr>
          <a:xfrm>
            <a:off x="7143840" y="2032920"/>
            <a:ext cx="4438080" cy="8640"/>
          </a:xfrm>
          <a:custGeom>
            <a:avLst/>
            <a:gdLst>
              <a:gd name="textAreaLeft" fmla="*/ 0 w 4438080"/>
              <a:gd name="textAreaRight" fmla="*/ 4438800 w 4438080"/>
              <a:gd name="textAreaTop" fmla="*/ 0 h 8640"/>
              <a:gd name="textAreaBottom" fmla="*/ 9360 h 8640"/>
            </a:gdLst>
            <a:ahLst/>
            <a:cxnLst/>
            <a:rect l="textAreaLeft" t="textAreaTop" r="textAreaRight" b="textAreaBottom"/>
            <a:pathLst>
              <a:path w="4438650" h="9525">
                <a:moveTo>
                  <a:pt x="4438649" y="9524"/>
                </a:moveTo>
                <a:lnTo>
                  <a:pt x="0" y="9524"/>
                </a:lnTo>
                <a:lnTo>
                  <a:pt x="0" y="0"/>
                </a:lnTo>
                <a:lnTo>
                  <a:pt x="4438649" y="0"/>
                </a:lnTo>
                <a:lnTo>
                  <a:pt x="4438649" y="9524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96880" y="619200"/>
            <a:ext cx="6393240" cy="548640"/>
          </a:xfrm>
          <a:prstGeom prst="rect">
            <a:avLst/>
          </a:prstGeom>
          <a:noFill/>
          <a:ln w="0">
            <a:noFill/>
          </a:ln>
        </p:spPr>
        <p:txBody>
          <a:bodyPr lIns="0" tIns="17280" rIns="0" bIns="0" anchor="t">
            <a:spAutoFit/>
          </a:bodyPr>
          <a:lstStyle/>
          <a:p>
            <a:pPr marL="12600" indent="0" algn="l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lang="fr-FR" sz="3450" b="1" u="none" strike="noStrike" spc="-74">
                <a:solidFill>
                  <a:srgbClr val="111111"/>
                </a:solidFill>
                <a:effectLst/>
                <a:uFillTx/>
                <a:latin typeface="Arial"/>
              </a:rPr>
              <a:t>Risques</a:t>
            </a:r>
            <a:r>
              <a:rPr lang="fr-FR" sz="3450" b="1" u="none" strike="noStrike" spc="-530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3450" b="1" u="none" strike="noStrike" spc="74">
                <a:solidFill>
                  <a:srgbClr val="111111"/>
                </a:solidFill>
                <a:effectLst/>
                <a:uFillTx/>
                <a:latin typeface="Arial"/>
              </a:rPr>
              <a:t>et</a:t>
            </a:r>
            <a:r>
              <a:rPr lang="fr-FR" sz="3450" b="1" u="none" strike="noStrike" spc="-490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3450" b="1" u="none" strike="noStrike" spc="-11">
                <a:solidFill>
                  <a:srgbClr val="111111"/>
                </a:solidFill>
                <a:effectLst/>
                <a:uFillTx/>
                <a:latin typeface="Arial"/>
              </a:rPr>
              <a:t>atténuation</a:t>
            </a:r>
            <a:endParaRPr lang="fr-FR" sz="34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38" name="object 3"/>
          <p:cNvGraphicFramePr/>
          <p:nvPr>
            <p:extLst>
              <p:ext uri="{D42A27DB-BD31-4B8C-83A1-F6EECF244321}">
                <p14:modId xmlns:p14="http://schemas.microsoft.com/office/powerpoint/2010/main" val="2094946964"/>
              </p:ext>
            </p:extLst>
          </p:nvPr>
        </p:nvGraphicFramePr>
        <p:xfrm>
          <a:off x="609480" y="1715040"/>
          <a:ext cx="10972080" cy="3199680"/>
        </p:xfrm>
        <a:graphic>
          <a:graphicData uri="http://schemas.openxmlformats.org/drawingml/2006/table">
            <a:tbl>
              <a:tblPr/>
              <a:tblGrid>
                <a:gridCol w="1922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0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2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280">
                <a:tc>
                  <a:txBody>
                    <a:bodyPr/>
                    <a:lstStyle/>
                    <a:p>
                      <a:pPr defTabSz="914400">
                        <a:lnSpc>
                          <a:spcPts val="1125"/>
                        </a:lnSpc>
                      </a:pPr>
                      <a:r>
                        <a:rPr lang="fr-FR" sz="115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Menace</a:t>
                      </a:r>
                      <a:endParaRPr lang="fr-F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71800" defTabSz="914400">
                        <a:lnSpc>
                          <a:spcPts val="1125"/>
                        </a:lnSpc>
                      </a:pPr>
                      <a:r>
                        <a:rPr lang="fr-FR" sz="115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Conséquence</a:t>
                      </a:r>
                      <a:endParaRPr lang="fr-F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8280" defTabSz="914400">
                        <a:lnSpc>
                          <a:spcPts val="1125"/>
                        </a:lnSpc>
                      </a:pPr>
                      <a:r>
                        <a:rPr lang="fr-FR" sz="1150" b="1" u="none" strike="noStrike">
                          <a:solidFill>
                            <a:srgbClr val="C00000"/>
                          </a:solidFill>
                          <a:effectLst/>
                          <a:uFillTx/>
                          <a:latin typeface="Arial"/>
                        </a:rPr>
                        <a:t>Dans</a:t>
                      </a:r>
                      <a:r>
                        <a:rPr lang="fr-FR" sz="1150" b="1" u="none" strike="noStrike" spc="-51">
                          <a:solidFill>
                            <a:srgbClr val="C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fr-FR" sz="1150" b="1" u="none" strike="noStrike">
                          <a:solidFill>
                            <a:srgbClr val="C00000"/>
                          </a:solidFill>
                          <a:effectLst/>
                          <a:uFillTx/>
                          <a:latin typeface="Arial"/>
                        </a:rPr>
                        <a:t>le</a:t>
                      </a:r>
                      <a:r>
                        <a:rPr lang="fr-FR" sz="1150" b="1" u="none" strike="noStrike" spc="-54">
                          <a:solidFill>
                            <a:srgbClr val="C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fr-FR" sz="1150" b="1" u="none" strike="noStrike" spc="-11">
                          <a:solidFill>
                            <a:srgbClr val="C00000"/>
                          </a:solidFill>
                          <a:effectLst/>
                          <a:uFillTx/>
                          <a:latin typeface="Arial"/>
                        </a:rPr>
                        <a:t>prototype</a:t>
                      </a:r>
                      <a:endParaRPr lang="fr-F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9840" defTabSz="914400">
                        <a:lnSpc>
                          <a:spcPts val="1125"/>
                        </a:lnSpc>
                      </a:pPr>
                      <a:r>
                        <a:rPr lang="fr-FR" sz="1150" b="1" u="none" strike="noStrike" spc="-11" dirty="0" err="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Rémediation</a:t>
                      </a:r>
                      <a:endParaRPr lang="fr-FR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5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Usurpation </a:t>
                      </a:r>
                      <a:r>
                        <a:rPr lang="fr-FR" sz="1300" b="1" u="none" strike="noStrike" spc="-34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de</a:t>
                      </a:r>
                      <a:r>
                        <a:rPr lang="fr-FR" sz="1300" b="1" u="none" strike="noStrike" spc="-79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capteur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111111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71800" defTabSz="914400">
                        <a:lnSpc>
                          <a:spcPct val="105000"/>
                        </a:lnSpc>
                        <a:spcBef>
                          <a:spcPts val="371"/>
                        </a:spcBef>
                      </a:pP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Alerte</a:t>
                      </a:r>
                      <a:r>
                        <a:rPr lang="fr-FR" sz="1300" b="0" u="none" strike="noStrike" spc="-7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masquée</a:t>
                      </a:r>
                      <a:r>
                        <a:rPr lang="fr-FR" sz="1300" b="0" u="none" strike="noStrike" spc="-6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3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ou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déclenchée </a:t>
                      </a:r>
                      <a:r>
                        <a:rPr lang="fr-FR" sz="13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à</a:t>
                      </a:r>
                      <a:r>
                        <a:rPr lang="fr-FR" sz="1300" b="0" u="none" strike="noStrike" spc="-13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tort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4680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111111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8280" defTabSz="914400">
                        <a:lnSpc>
                          <a:spcPct val="105000"/>
                        </a:lnSpc>
                        <a:spcBef>
                          <a:spcPts val="371"/>
                        </a:spcBef>
                      </a:pP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Clé</a:t>
                      </a:r>
                      <a:r>
                        <a:rPr lang="fr-FR" sz="1300" b="0" u="none" strike="noStrike" spc="-9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4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API</a:t>
                      </a:r>
                      <a:r>
                        <a:rPr lang="fr-FR" sz="1300" b="0" u="none" strike="noStrike" spc="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sur</a:t>
                      </a:r>
                      <a:r>
                        <a:rPr lang="fr-FR" sz="1300" b="0" u="none" strike="noStrike" spc="-13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l’ingestion</a:t>
                      </a:r>
                      <a:r>
                        <a:rPr lang="fr-FR" sz="1300" b="0" u="none" strike="noStrike" spc="-6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(refus</a:t>
                      </a:r>
                      <a:r>
                        <a:rPr lang="fr-FR" sz="1300" b="0" u="none" strike="noStrike" spc="-9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401),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données</a:t>
                      </a:r>
                      <a:r>
                        <a:rPr lang="fr-FR" sz="1300" b="0" u="none" strike="noStrike" spc="-4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validées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4680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111111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9840" defTabSz="914400">
                        <a:lnSpc>
                          <a:spcPct val="105000"/>
                        </a:lnSpc>
                        <a:spcBef>
                          <a:spcPts val="371"/>
                        </a:spcBef>
                      </a:pP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Identité</a:t>
                      </a:r>
                      <a:r>
                        <a:rPr lang="fr-FR" sz="1300" b="0" u="none" strike="noStrike" spc="-6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propre</a:t>
                      </a:r>
                      <a:r>
                        <a:rPr lang="fr-FR" sz="1300" b="0" u="none" strike="noStrike" spc="-6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à</a:t>
                      </a:r>
                      <a:r>
                        <a:rPr lang="fr-FR" sz="1300" b="0" u="none" strike="noStrike" spc="-11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chaque</a:t>
                      </a:r>
                      <a:r>
                        <a:rPr lang="fr-FR" sz="1300" b="0" u="none" strike="noStrike" spc="-6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capteur</a:t>
                      </a:r>
                      <a:r>
                        <a:rPr lang="fr-FR" sz="1300" b="0" u="none" strike="noStrike" spc="-9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(mTLS), détection</a:t>
                      </a:r>
                      <a:r>
                        <a:rPr lang="fr-FR" sz="1300" b="0" u="none" strike="noStrike" spc="-7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d’anomalies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4680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111111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40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Accès</a:t>
                      </a:r>
                      <a:r>
                        <a:rPr lang="fr-FR" sz="1300" b="1" u="none" strike="noStrike" spc="-99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fr-FR" sz="1300" b="1" u="none" strike="noStrike" spc="-60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non </a:t>
                      </a: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autorisé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7180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3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Un</a:t>
                      </a:r>
                      <a:r>
                        <a:rPr lang="fr-FR" sz="1300" b="0" u="none" strike="noStrike" spc="-5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tiers</a:t>
                      </a:r>
                      <a:r>
                        <a:rPr lang="fr-FR" sz="1300" b="0" u="none" strike="noStrike" spc="-7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acquitte</a:t>
                      </a:r>
                      <a:r>
                        <a:rPr lang="fr-FR" sz="1300" b="0" u="none" strike="noStrike" spc="-9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des</a:t>
                      </a:r>
                      <a:r>
                        <a:rPr lang="fr-FR" sz="1300" b="0" u="none" strike="noStrike" spc="-8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alertes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8280" defTabSz="914400">
                        <a:lnSpc>
                          <a:spcPct val="105000"/>
                        </a:lnSpc>
                        <a:spcBef>
                          <a:spcPts val="371"/>
                        </a:spcBef>
                      </a:pPr>
                      <a:r>
                        <a:rPr lang="fr-FR" sz="1300" b="0" u="none" strike="noStrike" spc="-4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Tableau</a:t>
                      </a:r>
                      <a:r>
                        <a:rPr lang="fr-FR" sz="1300" b="0" u="none" strike="noStrike" spc="-5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de</a:t>
                      </a:r>
                      <a:r>
                        <a:rPr lang="fr-FR" sz="1300" b="0" u="none" strike="noStrike" spc="-8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bord</a:t>
                      </a:r>
                      <a:r>
                        <a:rPr lang="fr-FR" sz="1300" b="0" u="none" strike="noStrike" spc="-5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sans</a:t>
                      </a:r>
                      <a:r>
                        <a:rPr lang="fr-FR" sz="1300" b="0" u="none" strike="noStrike" spc="-8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authentification</a:t>
                      </a:r>
                      <a:r>
                        <a:rPr lang="fr-FR" sz="1300" b="0" u="none" strike="noStrike" spc="-5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;</a:t>
                      </a:r>
                      <a:r>
                        <a:rPr lang="fr-FR" sz="1300" b="0" u="none" strike="noStrike" spc="4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API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et</a:t>
                      </a:r>
                      <a:r>
                        <a:rPr lang="fr-FR" sz="1300" b="0" u="none" strike="noStrike" spc="-7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bases</a:t>
                      </a:r>
                      <a:r>
                        <a:rPr lang="fr-FR" sz="1300" b="0" u="none" strike="noStrike" spc="-8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non</a:t>
                      </a:r>
                      <a:r>
                        <a:rPr lang="fr-FR" sz="1300" b="0" u="none" strike="noStrike" spc="-5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exposées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4680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9840" defTabSz="914400">
                        <a:lnSpc>
                          <a:spcPct val="105000"/>
                        </a:lnSpc>
                        <a:spcBef>
                          <a:spcPts val="371"/>
                        </a:spcBef>
                      </a:pP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Authentification</a:t>
                      </a:r>
                      <a:r>
                        <a:rPr lang="fr-FR" sz="1300" b="0" u="none" strike="noStrike" spc="-6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unique</a:t>
                      </a:r>
                      <a:r>
                        <a:rPr lang="fr-FR" sz="1300" b="0" u="none" strike="noStrike" spc="-9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(OIDC)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et</a:t>
                      </a:r>
                      <a:r>
                        <a:rPr lang="fr-FR" sz="1300" b="0" u="none" strike="noStrike" spc="-9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rôles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opérateur</a:t>
                      </a:r>
                      <a:r>
                        <a:rPr lang="fr-FR" sz="1300" b="0" u="none" strike="noStrike" spc="-7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/</a:t>
                      </a:r>
                      <a:r>
                        <a:rPr lang="fr-FR" sz="1300" b="0" u="none" strike="noStrike" spc="-7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ingénieur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4680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40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Fuite</a:t>
                      </a:r>
                      <a:r>
                        <a:rPr lang="fr-FR" sz="1300" b="1" u="none" strike="noStrike" spc="-99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fr-FR" sz="1300" b="1" u="none" strike="noStrike" spc="-34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de</a:t>
                      </a:r>
                      <a:r>
                        <a:rPr lang="fr-FR" sz="1300" b="1" u="none" strike="noStrike" spc="-96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données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71800" defTabSz="914400">
                        <a:lnSpc>
                          <a:spcPct val="105000"/>
                        </a:lnSpc>
                        <a:spcBef>
                          <a:spcPts val="371"/>
                        </a:spcBef>
                      </a:pP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Cadence</a:t>
                      </a:r>
                      <a:r>
                        <a:rPr lang="fr-FR" sz="1300" b="0" u="none" strike="noStrike" spc="-7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de</a:t>
                      </a:r>
                      <a:r>
                        <a:rPr lang="fr-FR" sz="1300" b="0" u="none" strike="noStrike" spc="-7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production divulguée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4680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8280" defTabSz="914400">
                        <a:lnSpc>
                          <a:spcPct val="105000"/>
                        </a:lnSpc>
                        <a:spcBef>
                          <a:spcPts val="371"/>
                        </a:spcBef>
                      </a:pP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Secrets</a:t>
                      </a:r>
                      <a:r>
                        <a:rPr lang="fr-FR" sz="1300" b="0" u="none" strike="noStrike" spc="-9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hors</a:t>
                      </a:r>
                      <a:r>
                        <a:rPr lang="fr-FR" sz="1300" b="0" u="none" strike="noStrike" spc="-9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3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du</a:t>
                      </a:r>
                      <a:r>
                        <a:rPr lang="fr-FR" sz="1300" b="0" u="none" strike="noStrike" spc="-6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dépôt</a:t>
                      </a:r>
                      <a:r>
                        <a:rPr lang="fr-FR" sz="1300" b="0" u="none" strike="noStrike" spc="-9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;</a:t>
                      </a:r>
                      <a:r>
                        <a:rPr lang="fr-FR" sz="1300" b="0" u="none" strike="noStrike" spc="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token</a:t>
                      </a:r>
                      <a:r>
                        <a:rPr lang="fr-FR" sz="1300" b="0" u="none" strike="noStrike" spc="-7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InfluxDB</a:t>
                      </a:r>
                      <a:r>
                        <a:rPr lang="fr-FR" sz="1300" b="0" u="none" strike="noStrike" spc="-1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aux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droits</a:t>
                      </a:r>
                      <a:r>
                        <a:rPr lang="fr-FR" sz="1300" b="0" u="none" strike="noStrike" spc="-7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admin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4680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9840" defTabSz="914400">
                        <a:lnSpc>
                          <a:spcPct val="105000"/>
                        </a:lnSpc>
                        <a:spcBef>
                          <a:spcPts val="371"/>
                        </a:spcBef>
                      </a:pPr>
                      <a:r>
                        <a:rPr lang="fr-FR" sz="1300" b="0" u="none" strike="noStrike" spc="-4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TLS</a:t>
                      </a:r>
                      <a:r>
                        <a:rPr lang="fr-FR" sz="1300" b="0" u="none" strike="noStrike" spc="-7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entre</a:t>
                      </a:r>
                      <a:r>
                        <a:rPr lang="fr-FR" sz="1300" b="0" u="none" strike="noStrike" spc="-7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services,</a:t>
                      </a:r>
                      <a:r>
                        <a:rPr lang="fr-FR" sz="1300" b="0" u="none" strike="noStrike" spc="4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chiffrement</a:t>
                      </a:r>
                      <a:r>
                        <a:rPr lang="fr-FR" sz="1300" b="0" u="none" strike="noStrike" spc="-6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5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au</a:t>
                      </a:r>
                      <a:r>
                        <a:rPr lang="fr-FR" sz="1300" b="0" u="none" strike="noStrike" spc="-3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repos, gestion </a:t>
                      </a:r>
                      <a:r>
                        <a:rPr lang="fr-FR" sz="13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des</a:t>
                      </a:r>
                      <a:r>
                        <a:rPr lang="fr-FR" sz="1300" b="0" u="none" strike="noStrike" spc="-13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secrets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4680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45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Altération,</a:t>
                      </a:r>
                      <a:r>
                        <a:rPr lang="fr-FR" sz="1300" b="1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injection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7180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Historique</a:t>
                      </a:r>
                      <a:r>
                        <a:rPr lang="fr-FR" sz="1300" b="0" u="none" strike="noStrike" spc="-7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falsifié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828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Requêtes</a:t>
                      </a:r>
                      <a:r>
                        <a:rPr lang="fr-FR" sz="1300" b="0" u="none" strike="noStrike" spc="-7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Flux</a:t>
                      </a:r>
                      <a:r>
                        <a:rPr lang="fr-FR" sz="1300" b="0" u="none" strike="noStrike" spc="-11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filtrées,</a:t>
                      </a:r>
                      <a:r>
                        <a:rPr lang="fr-FR" sz="1300" b="0" u="none" strike="noStrike" spc="3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SQL</a:t>
                      </a:r>
                      <a:r>
                        <a:rPr lang="fr-FR" sz="1300" b="0" u="none" strike="noStrike" spc="-113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paramétré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984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Journal</a:t>
                      </a:r>
                      <a:r>
                        <a:rPr lang="fr-FR" sz="1300" b="0" u="none" strike="noStrike" spc="-4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d’audit</a:t>
                      </a:r>
                      <a:r>
                        <a:rPr lang="fr-FR" sz="1300" b="0" u="none" strike="noStrike" spc="-9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inaltérable,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sauvegardes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45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Panne</a:t>
                      </a:r>
                      <a:r>
                        <a:rPr lang="fr-FR" sz="1300" b="1" u="none" strike="noStrike" spc="-9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fr-FR" sz="1300" b="1" u="none" strike="noStrike" spc="-34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de</a:t>
                      </a:r>
                      <a:r>
                        <a:rPr lang="fr-FR" sz="1300" b="1" u="none" strike="noStrike" spc="-9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capteur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7180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La</a:t>
                      </a:r>
                      <a:r>
                        <a:rPr lang="fr-FR" sz="1300" b="0" u="none" strike="noStrike" spc="-13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3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panne</a:t>
                      </a:r>
                      <a:r>
                        <a:rPr lang="fr-FR" sz="1300" b="0" u="none" strike="noStrike" spc="-6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passe</a:t>
                      </a:r>
                      <a:r>
                        <a:rPr lang="fr-FR" sz="1300" b="0" u="none" strike="noStrike" spc="-7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inaperçue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828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Non</a:t>
                      </a:r>
                      <a:r>
                        <a:rPr lang="fr-FR" sz="1300" b="0" u="none" strike="noStrike" spc="-6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couvert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984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Alerte</a:t>
                      </a:r>
                      <a:r>
                        <a:rPr lang="fr-FR" sz="1300" b="0" u="none" strike="noStrike" spc="-9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6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«</a:t>
                      </a:r>
                      <a:r>
                        <a:rPr lang="fr-FR" sz="1300" b="0" u="none" strike="noStrike" spc="-6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capteur</a:t>
                      </a:r>
                      <a:r>
                        <a:rPr lang="fr-FR" sz="1300" b="0" u="none" strike="noStrike" spc="-13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muet</a:t>
                      </a:r>
                      <a:r>
                        <a:rPr lang="fr-FR" sz="1300" b="0" u="none" strike="noStrike" spc="-8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5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»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1" u="none" strike="noStrike" spc="-45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Panne</a:t>
                      </a:r>
                      <a:r>
                        <a:rPr lang="fr-FR" sz="1300" b="1" u="none" strike="noStrike" spc="-85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fr-FR" sz="1300" b="1" u="none" strike="noStrike" spc="-54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d’un</a:t>
                      </a:r>
                      <a:r>
                        <a:rPr lang="fr-FR" sz="1300" b="1" u="none" strike="noStrike" spc="-5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fr-FR" sz="1300" b="1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"/>
                        </a:rPr>
                        <a:t>service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71800" defTabSz="914400">
                        <a:lnSpc>
                          <a:spcPct val="105000"/>
                        </a:lnSpc>
                        <a:spcBef>
                          <a:spcPts val="371"/>
                        </a:spcBef>
                      </a:pP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Alertes</a:t>
                      </a:r>
                      <a:r>
                        <a:rPr lang="fr-FR" sz="1300" b="0" u="none" strike="noStrike" spc="-9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perdues,</a:t>
                      </a:r>
                      <a:r>
                        <a:rPr lang="fr-FR" sz="1300" b="0" u="none" strike="noStrike" spc="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supervision aveugle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4680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828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3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Redémarrage</a:t>
                      </a:r>
                      <a:r>
                        <a:rPr lang="fr-FR" sz="1300" b="0" u="none" strike="noStrike" spc="-7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auto,</a:t>
                      </a:r>
                      <a:r>
                        <a:rPr lang="fr-FR" sz="1300" b="0" u="none" strike="noStrike" spc="4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services</a:t>
                      </a:r>
                      <a:r>
                        <a:rPr lang="fr-FR" sz="1300" b="0" u="none" strike="noStrike" spc="-7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répliqués</a:t>
                      </a:r>
                      <a:r>
                        <a:rPr lang="fr-FR" sz="1300" b="0" u="none" strike="noStrike" spc="-65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5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;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98280" defTabSz="914400">
                        <a:lnSpc>
                          <a:spcPct val="100000"/>
                        </a:lnSpc>
                        <a:spcBef>
                          <a:spcPts val="91"/>
                        </a:spcBef>
                      </a:pPr>
                      <a:r>
                        <a:rPr lang="fr-FR" sz="1300" b="0" u="none" strike="noStrike" spc="-26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bases</a:t>
                      </a:r>
                      <a:r>
                        <a:rPr lang="fr-FR" sz="1300" b="0" u="none" strike="noStrike" spc="-74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et</a:t>
                      </a:r>
                      <a:r>
                        <a:rPr lang="fr-FR" sz="1300" b="0" u="none" strike="noStrike" spc="-7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nginx</a:t>
                      </a:r>
                      <a:r>
                        <a:rPr lang="fr-FR" sz="1300" b="0" u="none" strike="noStrike" spc="-119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uniques</a:t>
                      </a:r>
                      <a:endParaRPr lang="fr-F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9840" defTabSz="9144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fr-FR" sz="1300" b="0" u="none" strike="noStrike" spc="-20" dirty="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Bases</a:t>
                      </a:r>
                      <a:r>
                        <a:rPr lang="fr-FR" sz="1300" b="0" u="none" strike="noStrike" spc="-65" dirty="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6" dirty="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répliquées,</a:t>
                      </a:r>
                      <a:r>
                        <a:rPr lang="fr-FR" sz="1300" b="0" u="none" strike="noStrike" spc="54" dirty="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20" dirty="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répartiteur</a:t>
                      </a:r>
                      <a:r>
                        <a:rPr lang="fr-FR" sz="1300" b="0" u="none" strike="noStrike" spc="-111" dirty="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fr-FR" sz="1300" b="0" u="none" strike="noStrike" spc="-11" dirty="0">
                          <a:solidFill>
                            <a:srgbClr val="111111"/>
                          </a:solidFill>
                          <a:effectLst/>
                          <a:uFillTx/>
                          <a:latin typeface="Arial MT"/>
                        </a:rPr>
                        <a:t>redondant</a:t>
                      </a:r>
                      <a:endParaRPr lang="fr-FR" sz="13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5832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D5D5D5"/>
                      </a:solidFill>
                      <a:prstDash val="solid"/>
                    </a:lnT>
                    <a:lnB w="9360">
                      <a:solidFill>
                        <a:srgbClr val="11111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9" name="object 4"/>
          <p:cNvSpPr/>
          <p:nvPr/>
        </p:nvSpPr>
        <p:spPr>
          <a:xfrm>
            <a:off x="609480" y="5109480"/>
            <a:ext cx="6468120" cy="54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3480" rIns="0" bIns="0" anchor="t">
            <a:spAutoFit/>
          </a:bodyPr>
          <a:lstStyle/>
          <a:p>
            <a:pPr marL="12600" defTabSz="914400">
              <a:lnSpc>
                <a:spcPts val="1950"/>
              </a:lnSpc>
              <a:spcBef>
                <a:spcPts val="264"/>
              </a:spcBef>
            </a:pPr>
            <a:r>
              <a:rPr lang="fr-FR" sz="1700" b="0" u="none" strike="noStrike" spc="-85">
                <a:solidFill>
                  <a:srgbClr val="111111"/>
                </a:solidFill>
                <a:effectLst/>
                <a:uFillTx/>
                <a:latin typeface="Arial"/>
              </a:rPr>
              <a:t>Risques</a:t>
            </a:r>
            <a:r>
              <a:rPr lang="fr-FR" sz="1700" b="0" u="none" strike="noStrike" spc="-18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85">
                <a:solidFill>
                  <a:srgbClr val="111111"/>
                </a:solidFill>
                <a:effectLst/>
                <a:uFillTx/>
                <a:latin typeface="Arial"/>
              </a:rPr>
              <a:t>résiduels</a:t>
            </a:r>
            <a:r>
              <a:rPr lang="fr-FR" sz="1700" b="0" u="none" strike="noStrike" spc="-176">
                <a:solidFill>
                  <a:srgbClr val="111111"/>
                </a:solidFill>
                <a:effectLst/>
                <a:uFillTx/>
                <a:latin typeface="Arial"/>
              </a:rPr>
              <a:t> :</a:t>
            </a:r>
            <a:r>
              <a:rPr lang="fr-FR" sz="1700" b="0" u="none" strike="noStrike" spc="14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85">
                <a:solidFill>
                  <a:srgbClr val="111111"/>
                </a:solidFill>
                <a:effectLst/>
                <a:uFillTx/>
                <a:latin typeface="Arial"/>
              </a:rPr>
              <a:t>tableau</a:t>
            </a:r>
            <a:r>
              <a:rPr lang="fr-FR" sz="1700" b="0" u="none" strike="noStrike" spc="-125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54">
                <a:solidFill>
                  <a:srgbClr val="111111"/>
                </a:solidFill>
                <a:effectLst/>
                <a:uFillTx/>
                <a:latin typeface="Arial"/>
              </a:rPr>
              <a:t>de</a:t>
            </a:r>
            <a:r>
              <a:rPr lang="fr-FR" sz="1700" b="0" u="none" strike="noStrike" spc="-176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105">
                <a:solidFill>
                  <a:srgbClr val="111111"/>
                </a:solidFill>
                <a:effectLst/>
                <a:uFillTx/>
                <a:latin typeface="Arial"/>
              </a:rPr>
              <a:t>bord</a:t>
            </a:r>
            <a:r>
              <a:rPr lang="fr-FR" sz="1700" b="0" u="none" strike="noStrike" spc="-130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79">
                <a:solidFill>
                  <a:srgbClr val="111111"/>
                </a:solidFill>
                <a:effectLst/>
                <a:uFillTx/>
                <a:latin typeface="Arial"/>
              </a:rPr>
              <a:t>sans</a:t>
            </a:r>
            <a:r>
              <a:rPr lang="fr-FR" sz="1700" b="0" u="none" strike="noStrike" spc="-18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91">
                <a:solidFill>
                  <a:srgbClr val="111111"/>
                </a:solidFill>
                <a:effectLst/>
                <a:uFillTx/>
                <a:latin typeface="Arial"/>
              </a:rPr>
              <a:t>authentification,</a:t>
            </a:r>
            <a:r>
              <a:rPr lang="fr-FR" sz="1700" b="0" u="none" strike="noStrike" spc="-26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60">
                <a:solidFill>
                  <a:srgbClr val="111111"/>
                </a:solidFill>
                <a:effectLst/>
                <a:uFillTx/>
                <a:latin typeface="Arial"/>
              </a:rPr>
              <a:t>clé</a:t>
            </a:r>
            <a:r>
              <a:rPr lang="fr-FR" sz="1700" b="0" u="none" strike="noStrike" spc="-176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11">
                <a:solidFill>
                  <a:srgbClr val="111111"/>
                </a:solidFill>
                <a:effectLst/>
                <a:uFillTx/>
                <a:latin typeface="Arial"/>
              </a:rPr>
              <a:t>capteur </a:t>
            </a:r>
            <a:r>
              <a:rPr lang="fr-FR" sz="1700" b="0" u="none" strike="noStrike" spc="-74">
                <a:solidFill>
                  <a:srgbClr val="111111"/>
                </a:solidFill>
                <a:effectLst/>
                <a:uFillTx/>
                <a:latin typeface="Arial"/>
              </a:rPr>
              <a:t>partagée,</a:t>
            </a:r>
            <a:r>
              <a:rPr lang="fr-FR" sz="1700" b="0" u="none" strike="noStrike" spc="-34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71">
                <a:solidFill>
                  <a:srgbClr val="111111"/>
                </a:solidFill>
                <a:effectLst/>
                <a:uFillTx/>
                <a:latin typeface="Arial"/>
              </a:rPr>
              <a:t>bases</a:t>
            </a:r>
            <a:r>
              <a:rPr lang="fr-FR" sz="1700" b="0" u="none" strike="noStrike" spc="-184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96">
                <a:solidFill>
                  <a:srgbClr val="111111"/>
                </a:solidFill>
                <a:effectLst/>
                <a:uFillTx/>
                <a:latin typeface="Arial"/>
              </a:rPr>
              <a:t>uniques.</a:t>
            </a:r>
            <a:r>
              <a:rPr lang="fr-FR" sz="1700" b="0" u="none" strike="noStrike" spc="-26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71">
                <a:solidFill>
                  <a:srgbClr val="111111"/>
                </a:solidFill>
                <a:effectLst/>
                <a:uFillTx/>
                <a:latin typeface="Arial"/>
              </a:rPr>
              <a:t>Une</a:t>
            </a:r>
            <a:r>
              <a:rPr lang="fr-FR" sz="1700" b="0" u="none" strike="noStrike" spc="-184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85">
                <a:solidFill>
                  <a:srgbClr val="111111"/>
                </a:solidFill>
                <a:effectLst/>
                <a:uFillTx/>
                <a:latin typeface="Arial"/>
              </a:rPr>
              <a:t>panne</a:t>
            </a:r>
            <a:r>
              <a:rPr lang="fr-FR" sz="1700" b="0" u="none" strike="noStrike" spc="-181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79">
                <a:solidFill>
                  <a:srgbClr val="111111"/>
                </a:solidFill>
                <a:effectLst/>
                <a:uFillTx/>
                <a:latin typeface="Arial"/>
              </a:rPr>
              <a:t>d’InfluxDB</a:t>
            </a:r>
            <a:r>
              <a:rPr lang="fr-FR" sz="1700" b="0" u="none" strike="noStrike" spc="-190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96">
                <a:solidFill>
                  <a:srgbClr val="111111"/>
                </a:solidFill>
                <a:effectLst/>
                <a:uFillTx/>
                <a:latin typeface="Arial"/>
              </a:rPr>
              <a:t>suspend</a:t>
            </a:r>
            <a:r>
              <a:rPr lang="fr-FR" sz="1700" b="0" u="none" strike="noStrike" spc="-136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31">
                <a:solidFill>
                  <a:srgbClr val="111111"/>
                </a:solidFill>
                <a:effectLst/>
                <a:uFillTx/>
                <a:latin typeface="Arial"/>
              </a:rPr>
              <a:t>la</a:t>
            </a:r>
            <a:r>
              <a:rPr lang="fr-FR" sz="1700" b="0" u="none" strike="noStrike" spc="-249">
                <a:solidFill>
                  <a:srgbClr val="111111"/>
                </a:solidFill>
                <a:effectLst/>
                <a:uFillTx/>
                <a:latin typeface="Arial"/>
              </a:rPr>
              <a:t> </a:t>
            </a:r>
            <a:r>
              <a:rPr lang="fr-FR" sz="1700" b="0" u="none" strike="noStrike" spc="-65">
                <a:solidFill>
                  <a:srgbClr val="111111"/>
                </a:solidFill>
                <a:effectLst/>
                <a:uFillTx/>
                <a:latin typeface="Arial"/>
              </a:rPr>
              <a:t>détection.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object 5"/>
          <p:cNvSpPr/>
          <p:nvPr/>
        </p:nvSpPr>
        <p:spPr>
          <a:xfrm>
            <a:off x="609480" y="6229440"/>
            <a:ext cx="10972080" cy="8640"/>
          </a:xfrm>
          <a:custGeom>
            <a:avLst/>
            <a:gdLst>
              <a:gd name="textAreaLeft" fmla="*/ 0 w 10972080"/>
              <a:gd name="textAreaRight" fmla="*/ 10972800 w 10972080"/>
              <a:gd name="textAreaTop" fmla="*/ 0 h 8640"/>
              <a:gd name="textAreaBottom" fmla="*/ 9360 h 8640"/>
            </a:gdLst>
            <a:ahLst/>
            <a:cxnLst/>
            <a:rect l="textAreaLeft" t="textAreaTop" r="textAreaRight" b="textAreaBottom"/>
            <a:pathLst>
              <a:path w="10972800" h="9525">
                <a:moveTo>
                  <a:pt x="10972799" y="9524"/>
                </a:moveTo>
                <a:lnTo>
                  <a:pt x="0" y="9524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9524"/>
                </a:lnTo>
                <a:close/>
              </a:path>
            </a:pathLst>
          </a:custGeom>
          <a:solidFill>
            <a:srgbClr val="D5D5D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ftr" idx="25"/>
          </p:nvPr>
        </p:nvSpPr>
        <p:spPr>
          <a:xfrm>
            <a:off x="596880" y="6363720"/>
            <a:ext cx="734040" cy="1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r>
              <a:rPr lang="fr-FR" sz="950" b="0" u="none" strike="noStrike" spc="-26">
                <a:solidFill>
                  <a:srgbClr val="6A6A6A"/>
                </a:solidFill>
                <a:effectLst/>
                <a:uFillTx/>
                <a:latin typeface="Arial MT"/>
              </a:rPr>
              <a:t>FactorySense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26"/>
          </p:nvPr>
        </p:nvSpPr>
        <p:spPr>
          <a:xfrm>
            <a:off x="11307600" y="6363720"/>
            <a:ext cx="288720" cy="1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63360" indent="0" algn="l" defTabSz="914400">
              <a:lnSpc>
                <a:spcPts val="1006"/>
              </a:lnSpc>
              <a:buNone/>
              <a:tabLst>
                <a:tab pos="0" algn="l"/>
              </a:tabLst>
              <a:def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defRPr>
            </a:lvl1pPr>
          </a:lstStyle>
          <a:p>
            <a:pPr marL="63360" indent="0" algn="l" defTabSz="914400">
              <a:lnSpc>
                <a:spcPts val="1006"/>
              </a:lnSpc>
              <a:buNone/>
              <a:tabLst>
                <a:tab pos="0" algn="l"/>
              </a:tabLst>
            </a:pPr>
            <a:r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4</a:t>
            </a:r>
            <a:r>
              <a:rPr lang="fr-FR" sz="950" b="0" u="none" strike="noStrike" spc="-71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34">
                <a:solidFill>
                  <a:srgbClr val="6A6A6A"/>
                </a:solidFill>
                <a:effectLst/>
                <a:uFillTx/>
                <a:latin typeface="Arial MT"/>
              </a:rPr>
              <a:t>/</a:t>
            </a:r>
            <a:r>
              <a:rPr lang="fr-FR" sz="950" b="0" u="none" strike="noStrike" spc="-85">
                <a:solidFill>
                  <a:srgbClr val="6A6A6A"/>
                </a:solidFill>
                <a:effectLst/>
                <a:uFillTx/>
                <a:latin typeface="Arial MT"/>
              </a:rPr>
              <a:t> </a:t>
            </a:r>
            <a:r>
              <a:rPr lang="fr-FR" sz="950" b="0" u="none" strike="noStrike" spc="-51">
                <a:solidFill>
                  <a:srgbClr val="6A6A6A"/>
                </a:solidFill>
                <a:effectLst/>
                <a:uFillTx/>
                <a:latin typeface="Arial MT"/>
              </a:rPr>
              <a:t>4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3" name="Image 7"/>
          <p:cNvPicPr/>
          <p:nvPr/>
        </p:nvPicPr>
        <p:blipFill>
          <a:blip r:embed="rId2"/>
          <a:stretch/>
        </p:blipFill>
        <p:spPr>
          <a:xfrm>
            <a:off x="11288880" y="103680"/>
            <a:ext cx="81144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ZoneTexte 1"/>
          <p:cNvSpPr/>
          <p:nvPr/>
        </p:nvSpPr>
        <p:spPr>
          <a:xfrm>
            <a:off x="7225200" y="5796360"/>
            <a:ext cx="437112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Dépôt Git : </a:t>
            </a:r>
            <a:r>
              <a:rPr lang="fr-FR" sz="1400" b="0" u="sng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Arial"/>
                <a:hlinkClick r:id="rId3"/>
              </a:rPr>
              <a:t>https://github.com/tVelard/FactorySense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</TotalTime>
  <Words>853</Words>
  <Application>Microsoft Macintosh PowerPoint</Application>
  <PresentationFormat>Grand écran</PresentationFormat>
  <Paragraphs>155</Paragraphs>
  <Slides>5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4" baseType="lpstr">
      <vt:lpstr>Arial MT</vt:lpstr>
      <vt:lpstr>Arial</vt:lpstr>
      <vt:lpstr>Calibri</vt:lpstr>
      <vt:lpstr>Lucida Console</vt:lpstr>
      <vt:lpstr>Microsoft Sans Serif</vt:lpstr>
      <vt:lpstr>Symbol</vt:lpstr>
      <vt:lpstr>Times New Roman</vt:lpstr>
      <vt:lpstr>Wingdings</vt:lpstr>
      <vt:lpstr>Office Theme</vt:lpstr>
      <vt:lpstr>Présentation PowerPoint</vt:lpstr>
      <vt:lpstr>Besoins métier</vt:lpstr>
      <vt:lpstr>Besoins techniques</vt:lpstr>
      <vt:lpstr>Architecture proposée</vt:lpstr>
      <vt:lpstr>Risques et atténuation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FactorySense — Soutenance</dc:title>
  <dc:subject/>
  <dc:creator/>
  <dc:description/>
  <cp:lastModifiedBy>Amine Slaoui</cp:lastModifiedBy>
  <cp:revision>12</cp:revision>
  <dcterms:created xsi:type="dcterms:W3CDTF">2026-09-28T13:28:27Z</dcterms:created>
  <dcterms:modified xsi:type="dcterms:W3CDTF">2026-10-05T09:23:40Z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Creator">
    <vt:lpwstr>Mozilla/5.0 (X11; Linux x86_64) AppleWebKit/537.36 (KHTML, like Gecko) HeadlessChrome/153.0.0.0 Safari/537.36</vt:lpwstr>
  </property>
  <property fmtid="{D5CDD505-2E9C-101B-9397-08002B2CF9AE}" pid="5" name="LastSaved">
    <vt:filetime>2026-09-28T00:00:00Z</vt:filetime>
  </property>
  <property fmtid="{D5CDD505-2E9C-101B-9397-08002B2CF9AE}" pid="6" name="Notes">
    <vt:i4>1</vt:i4>
  </property>
  <property fmtid="{D5CDD505-2E9C-101B-9397-08002B2CF9AE}" pid="7" name="PresentationFormat">
    <vt:lpwstr>Grand écran</vt:lpwstr>
  </property>
  <property fmtid="{D5CDD505-2E9C-101B-9397-08002B2CF9AE}" pid="8" name="Producer">
    <vt:lpwstr>Skia/PDF m153</vt:lpwstr>
  </property>
  <property fmtid="{D5CDD505-2E9C-101B-9397-08002B2CF9AE}" pid="9" name="Slides">
    <vt:i4>5</vt:i4>
  </property>
</Properties>
</file>