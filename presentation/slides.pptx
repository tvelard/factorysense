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11"/>
    <p:restoredTop sz="94630"/>
  </p:normalViewPr>
  <p:slideViewPr>
    <p:cSldViewPr>
      <p:cViewPr varScale="1">
        <p:scale>
          <a:sx n="113" d="100"/>
          <a:sy n="113" d="100"/>
        </p:scale>
        <p:origin x="456" y="17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450" b="1" i="0">
                <a:solidFill>
                  <a:srgbClr val="11111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50" b="0" i="0">
                <a:solidFill>
                  <a:srgbClr val="6A6A6A"/>
                </a:solidFill>
                <a:latin typeface="Arial MT"/>
                <a:cs typeface="Arial MT"/>
              </a:defRPr>
            </a:lvl1pPr>
          </a:lstStyle>
          <a:p>
            <a:pPr marL="12700">
              <a:lnSpc>
                <a:spcPts val="1005"/>
              </a:lnSpc>
            </a:pPr>
            <a:r>
              <a:rPr spc="-25" dirty="0"/>
              <a:t>FactorySense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10/3/26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950" b="0" i="0">
                <a:solidFill>
                  <a:srgbClr val="6A6A6A"/>
                </a:solidFill>
                <a:latin typeface="Arial MT"/>
                <a:cs typeface="Arial MT"/>
              </a:defRPr>
            </a:lvl1pPr>
          </a:lstStyle>
          <a:p>
            <a:pPr marL="63500">
              <a:lnSpc>
                <a:spcPts val="1005"/>
              </a:lnSpc>
            </a:pPr>
            <a:fld id="{81D60167-4931-47E6-BA6A-407CBD079E47}" type="slidenum">
              <a:rPr spc="-35" dirty="0"/>
              <a:t>‹N°›</a:t>
            </a:fld>
            <a:r>
              <a:rPr spc="-70" dirty="0"/>
              <a:t> </a:t>
            </a:r>
            <a:r>
              <a:rPr dirty="0"/>
              <a:t>/</a:t>
            </a:r>
            <a:r>
              <a:rPr spc="-85" dirty="0"/>
              <a:t> </a:t>
            </a:r>
            <a:r>
              <a:rPr spc="-50" dirty="0"/>
              <a:t>4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450" b="1" i="0">
                <a:solidFill>
                  <a:srgbClr val="11111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50" b="0" i="0">
                <a:solidFill>
                  <a:srgbClr val="6A6A6A"/>
                </a:solidFill>
                <a:latin typeface="Arial MT"/>
                <a:cs typeface="Arial MT"/>
              </a:defRPr>
            </a:lvl1pPr>
          </a:lstStyle>
          <a:p>
            <a:pPr marL="12700">
              <a:lnSpc>
                <a:spcPts val="1005"/>
              </a:lnSpc>
            </a:pPr>
            <a:r>
              <a:rPr spc="-25" dirty="0"/>
              <a:t>FactorySense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10/3/26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950" b="0" i="0">
                <a:solidFill>
                  <a:srgbClr val="6A6A6A"/>
                </a:solidFill>
                <a:latin typeface="Arial MT"/>
                <a:cs typeface="Arial MT"/>
              </a:defRPr>
            </a:lvl1pPr>
          </a:lstStyle>
          <a:p>
            <a:pPr marL="63500">
              <a:lnSpc>
                <a:spcPts val="1005"/>
              </a:lnSpc>
            </a:pPr>
            <a:fld id="{81D60167-4931-47E6-BA6A-407CBD079E47}" type="slidenum">
              <a:rPr spc="-35" dirty="0"/>
              <a:t>‹N°›</a:t>
            </a:fld>
            <a:r>
              <a:rPr spc="-70" dirty="0"/>
              <a:t> </a:t>
            </a:r>
            <a:r>
              <a:rPr dirty="0"/>
              <a:t>/</a:t>
            </a:r>
            <a:r>
              <a:rPr spc="-85" dirty="0"/>
              <a:t> </a:t>
            </a:r>
            <a:r>
              <a:rPr spc="-50" dirty="0"/>
              <a:t>4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450" b="1" i="0">
                <a:solidFill>
                  <a:srgbClr val="11111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50" b="0" i="0">
                <a:solidFill>
                  <a:srgbClr val="6A6A6A"/>
                </a:solidFill>
                <a:latin typeface="Arial MT"/>
                <a:cs typeface="Arial MT"/>
              </a:defRPr>
            </a:lvl1pPr>
          </a:lstStyle>
          <a:p>
            <a:pPr marL="12700">
              <a:lnSpc>
                <a:spcPts val="1005"/>
              </a:lnSpc>
            </a:pPr>
            <a:r>
              <a:rPr spc="-25" dirty="0"/>
              <a:t>FactorySense</a:t>
            </a: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10/3/26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950" b="0" i="0">
                <a:solidFill>
                  <a:srgbClr val="6A6A6A"/>
                </a:solidFill>
                <a:latin typeface="Arial MT"/>
                <a:cs typeface="Arial MT"/>
              </a:defRPr>
            </a:lvl1pPr>
          </a:lstStyle>
          <a:p>
            <a:pPr marL="63500">
              <a:lnSpc>
                <a:spcPts val="1005"/>
              </a:lnSpc>
            </a:pPr>
            <a:fld id="{81D60167-4931-47E6-BA6A-407CBD079E47}" type="slidenum">
              <a:rPr spc="-35" dirty="0"/>
              <a:t>‹N°›</a:t>
            </a:fld>
            <a:r>
              <a:rPr spc="-70" dirty="0"/>
              <a:t> </a:t>
            </a:r>
            <a:r>
              <a:rPr dirty="0"/>
              <a:t>/</a:t>
            </a:r>
            <a:r>
              <a:rPr spc="-85" dirty="0"/>
              <a:t> </a:t>
            </a:r>
            <a:r>
              <a:rPr spc="-50" dirty="0"/>
              <a:t>4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450" b="1" i="0">
                <a:solidFill>
                  <a:srgbClr val="11111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50" b="0" i="0">
                <a:solidFill>
                  <a:srgbClr val="6A6A6A"/>
                </a:solidFill>
                <a:latin typeface="Arial MT"/>
                <a:cs typeface="Arial MT"/>
              </a:defRPr>
            </a:lvl1pPr>
          </a:lstStyle>
          <a:p>
            <a:pPr marL="12700">
              <a:lnSpc>
                <a:spcPts val="1005"/>
              </a:lnSpc>
            </a:pPr>
            <a:r>
              <a:rPr spc="-25" dirty="0"/>
              <a:t>FactorySense</a:t>
            </a: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10/3/26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950" b="0" i="0">
                <a:solidFill>
                  <a:srgbClr val="6A6A6A"/>
                </a:solidFill>
                <a:latin typeface="Arial MT"/>
                <a:cs typeface="Arial MT"/>
              </a:defRPr>
            </a:lvl1pPr>
          </a:lstStyle>
          <a:p>
            <a:pPr marL="63500">
              <a:lnSpc>
                <a:spcPts val="1005"/>
              </a:lnSpc>
            </a:pPr>
            <a:fld id="{81D60167-4931-47E6-BA6A-407CBD079E47}" type="slidenum">
              <a:rPr spc="-35" dirty="0"/>
              <a:t>‹N°›</a:t>
            </a:fld>
            <a:r>
              <a:rPr spc="-70" dirty="0"/>
              <a:t> </a:t>
            </a:r>
            <a:r>
              <a:rPr dirty="0"/>
              <a:t>/</a:t>
            </a:r>
            <a:r>
              <a:rPr spc="-85" dirty="0"/>
              <a:t> </a:t>
            </a:r>
            <a:r>
              <a:rPr spc="-50" dirty="0"/>
              <a:t>4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50" b="0" i="0">
                <a:solidFill>
                  <a:srgbClr val="6A6A6A"/>
                </a:solidFill>
                <a:latin typeface="Arial MT"/>
                <a:cs typeface="Arial MT"/>
              </a:defRPr>
            </a:lvl1pPr>
          </a:lstStyle>
          <a:p>
            <a:pPr marL="12700">
              <a:lnSpc>
                <a:spcPts val="1005"/>
              </a:lnSpc>
            </a:pPr>
            <a:r>
              <a:rPr spc="-25" dirty="0"/>
              <a:t>FactorySense</a:t>
            </a: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10/3/26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950" b="0" i="0">
                <a:solidFill>
                  <a:srgbClr val="6A6A6A"/>
                </a:solidFill>
                <a:latin typeface="Arial MT"/>
                <a:cs typeface="Arial MT"/>
              </a:defRPr>
            </a:lvl1pPr>
          </a:lstStyle>
          <a:p>
            <a:pPr marL="63500">
              <a:lnSpc>
                <a:spcPts val="1005"/>
              </a:lnSpc>
            </a:pPr>
            <a:fld id="{81D60167-4931-47E6-BA6A-407CBD079E47}" type="slidenum">
              <a:rPr spc="-35" dirty="0"/>
              <a:t>‹N°›</a:t>
            </a:fld>
            <a:r>
              <a:rPr spc="-70" dirty="0"/>
              <a:t> </a:t>
            </a:r>
            <a:r>
              <a:rPr dirty="0"/>
              <a:t>/</a:t>
            </a:r>
            <a:r>
              <a:rPr spc="-85" dirty="0"/>
              <a:t> </a:t>
            </a:r>
            <a:r>
              <a:rPr spc="-50" dirty="0"/>
              <a:t>4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609599" y="1390648"/>
            <a:ext cx="10972800" cy="38100"/>
          </a:xfrm>
          <a:custGeom>
            <a:avLst/>
            <a:gdLst/>
            <a:ahLst/>
            <a:cxnLst/>
            <a:rect l="l" t="t" r="r" b="b"/>
            <a:pathLst>
              <a:path w="10972800" h="38100">
                <a:moveTo>
                  <a:pt x="10972799" y="38099"/>
                </a:moveTo>
                <a:lnTo>
                  <a:pt x="0" y="38099"/>
                </a:lnTo>
                <a:lnTo>
                  <a:pt x="0" y="0"/>
                </a:lnTo>
                <a:lnTo>
                  <a:pt x="10972799" y="0"/>
                </a:lnTo>
                <a:lnTo>
                  <a:pt x="10972799" y="38099"/>
                </a:lnTo>
                <a:close/>
              </a:path>
            </a:pathLst>
          </a:custGeom>
          <a:solidFill>
            <a:srgbClr val="11111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96899" y="208048"/>
            <a:ext cx="6407784" cy="11436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450" b="1" i="0">
                <a:solidFill>
                  <a:srgbClr val="11111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71499" y="1714999"/>
            <a:ext cx="11049000" cy="32004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96899" y="6363872"/>
            <a:ext cx="734694" cy="1327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50" b="0" i="0">
                <a:solidFill>
                  <a:srgbClr val="6A6A6A"/>
                </a:solidFill>
                <a:latin typeface="Arial MT"/>
                <a:cs typeface="Arial MT"/>
              </a:defRPr>
            </a:lvl1pPr>
          </a:lstStyle>
          <a:p>
            <a:pPr marL="12700">
              <a:lnSpc>
                <a:spcPts val="1005"/>
              </a:lnSpc>
            </a:pPr>
            <a:r>
              <a:rPr spc="-25" dirty="0"/>
              <a:t>FactorySense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10/3/26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1307564" y="6363872"/>
            <a:ext cx="289559" cy="13716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50" b="0" i="0">
                <a:solidFill>
                  <a:srgbClr val="6A6A6A"/>
                </a:solidFill>
                <a:latin typeface="Arial MT"/>
                <a:cs typeface="Arial MT"/>
              </a:defRPr>
            </a:lvl1pPr>
          </a:lstStyle>
          <a:p>
            <a:pPr marL="63500">
              <a:lnSpc>
                <a:spcPts val="1005"/>
              </a:lnSpc>
            </a:pPr>
            <a:fld id="{81D60167-4931-47E6-BA6A-407CBD079E47}" type="slidenum">
              <a:rPr spc="-35" dirty="0"/>
              <a:t>‹N°›</a:t>
            </a:fld>
            <a:r>
              <a:rPr spc="-70" dirty="0"/>
              <a:t> </a:t>
            </a:r>
            <a:r>
              <a:rPr dirty="0"/>
              <a:t>/</a:t>
            </a:r>
            <a:r>
              <a:rPr spc="-85" dirty="0"/>
              <a:t> </a:t>
            </a:r>
            <a:r>
              <a:rPr spc="-50" dirty="0"/>
              <a:t>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596899" y="2894284"/>
            <a:ext cx="6900545" cy="2222500"/>
          </a:xfrm>
          <a:prstGeom prst="rect">
            <a:avLst/>
          </a:prstGeom>
        </p:spPr>
        <p:txBody>
          <a:bodyPr vert="horz" wrap="square" lIns="0" tIns="3409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685"/>
              </a:spcBef>
            </a:pPr>
            <a:r>
              <a:rPr sz="7300" b="1" spc="-235" dirty="0">
                <a:solidFill>
                  <a:srgbClr val="111111"/>
                </a:solidFill>
                <a:latin typeface="Arial"/>
                <a:cs typeface="Arial"/>
              </a:rPr>
              <a:t>F</a:t>
            </a:r>
            <a:r>
              <a:rPr sz="7300" b="1" spc="-195" dirty="0">
                <a:solidFill>
                  <a:srgbClr val="111111"/>
                </a:solidFill>
                <a:latin typeface="Arial"/>
                <a:cs typeface="Arial"/>
              </a:rPr>
              <a:t>a</a:t>
            </a:r>
            <a:r>
              <a:rPr sz="7300" b="1" spc="30" dirty="0">
                <a:solidFill>
                  <a:srgbClr val="111111"/>
                </a:solidFill>
                <a:latin typeface="Arial"/>
                <a:cs typeface="Arial"/>
              </a:rPr>
              <a:t>c</a:t>
            </a:r>
            <a:r>
              <a:rPr sz="7300" b="1" spc="100" dirty="0">
                <a:solidFill>
                  <a:srgbClr val="111111"/>
                </a:solidFill>
                <a:latin typeface="Arial"/>
                <a:cs typeface="Arial"/>
              </a:rPr>
              <a:t>t</a:t>
            </a:r>
            <a:r>
              <a:rPr sz="7300" b="1" spc="-30" dirty="0">
                <a:solidFill>
                  <a:srgbClr val="111111"/>
                </a:solidFill>
                <a:latin typeface="Arial"/>
                <a:cs typeface="Arial"/>
              </a:rPr>
              <a:t>o</a:t>
            </a:r>
            <a:r>
              <a:rPr sz="7300" b="1" spc="-65" dirty="0">
                <a:solidFill>
                  <a:srgbClr val="111111"/>
                </a:solidFill>
                <a:latin typeface="Arial"/>
                <a:cs typeface="Arial"/>
              </a:rPr>
              <a:t>r</a:t>
            </a:r>
            <a:r>
              <a:rPr sz="7300" b="1" spc="-235" dirty="0">
                <a:solidFill>
                  <a:srgbClr val="111111"/>
                </a:solidFill>
                <a:latin typeface="Arial"/>
                <a:cs typeface="Arial"/>
              </a:rPr>
              <a:t>y</a:t>
            </a:r>
            <a:r>
              <a:rPr sz="7300" b="1" spc="-40" dirty="0">
                <a:solidFill>
                  <a:srgbClr val="111111"/>
                </a:solidFill>
                <a:latin typeface="Arial"/>
                <a:cs typeface="Arial"/>
              </a:rPr>
              <a:t>S</a:t>
            </a:r>
            <a:r>
              <a:rPr sz="7300" b="1" spc="10" dirty="0">
                <a:solidFill>
                  <a:srgbClr val="111111"/>
                </a:solidFill>
                <a:latin typeface="Arial"/>
                <a:cs typeface="Arial"/>
              </a:rPr>
              <a:t>e</a:t>
            </a:r>
            <a:r>
              <a:rPr sz="7300" b="1" spc="155" dirty="0">
                <a:solidFill>
                  <a:srgbClr val="111111"/>
                </a:solidFill>
                <a:latin typeface="Arial"/>
                <a:cs typeface="Arial"/>
              </a:rPr>
              <a:t>n</a:t>
            </a:r>
            <a:r>
              <a:rPr sz="7300" b="1" dirty="0">
                <a:solidFill>
                  <a:srgbClr val="111111"/>
                </a:solidFill>
                <a:latin typeface="Arial"/>
                <a:cs typeface="Arial"/>
              </a:rPr>
              <a:t>s</a:t>
            </a:r>
            <a:r>
              <a:rPr sz="7300" b="1" spc="380" dirty="0">
                <a:solidFill>
                  <a:srgbClr val="111111"/>
                </a:solidFill>
                <a:latin typeface="Arial"/>
                <a:cs typeface="Arial"/>
              </a:rPr>
              <a:t>e</a:t>
            </a:r>
            <a:endParaRPr sz="7300" dirty="0">
              <a:latin typeface="Arial"/>
              <a:cs typeface="Arial"/>
            </a:endParaRPr>
          </a:p>
          <a:p>
            <a:pPr marL="12700" marR="5080">
              <a:lnSpc>
                <a:spcPts val="2550"/>
              </a:lnSpc>
              <a:spcBef>
                <a:spcPts val="925"/>
              </a:spcBef>
            </a:pPr>
            <a:r>
              <a:rPr sz="2200" spc="-70" dirty="0">
                <a:solidFill>
                  <a:srgbClr val="4A4A4A"/>
                </a:solidFill>
                <a:latin typeface="Arial MT"/>
                <a:cs typeface="Arial MT"/>
              </a:rPr>
              <a:t>Surveiller</a:t>
            </a:r>
            <a:r>
              <a:rPr sz="2200" spc="-254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2200" spc="-60" dirty="0">
                <a:solidFill>
                  <a:srgbClr val="4A4A4A"/>
                </a:solidFill>
                <a:latin typeface="Arial MT"/>
                <a:cs typeface="Arial MT"/>
              </a:rPr>
              <a:t>les</a:t>
            </a:r>
            <a:r>
              <a:rPr sz="2200" spc="-18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2200" spc="-70" dirty="0">
                <a:solidFill>
                  <a:srgbClr val="4A4A4A"/>
                </a:solidFill>
                <a:latin typeface="Arial MT"/>
                <a:cs typeface="Arial MT"/>
              </a:rPr>
              <a:t>équipements</a:t>
            </a:r>
            <a:r>
              <a:rPr sz="2200" spc="-19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2200" spc="-70" dirty="0">
                <a:solidFill>
                  <a:srgbClr val="4A4A4A"/>
                </a:solidFill>
                <a:latin typeface="Arial MT"/>
                <a:cs typeface="Arial MT"/>
              </a:rPr>
              <a:t>de</a:t>
            </a:r>
            <a:r>
              <a:rPr sz="2200" spc="-19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2200" spc="-65" dirty="0">
                <a:solidFill>
                  <a:srgbClr val="4A4A4A"/>
                </a:solidFill>
                <a:latin typeface="Arial MT"/>
                <a:cs typeface="Arial MT"/>
              </a:rPr>
              <a:t>production</a:t>
            </a:r>
            <a:r>
              <a:rPr sz="2200" spc="-13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2200" spc="-100" dirty="0">
                <a:solidFill>
                  <a:srgbClr val="4A4A4A"/>
                </a:solidFill>
                <a:latin typeface="Arial MT"/>
                <a:cs typeface="Arial MT"/>
              </a:rPr>
              <a:t>en</a:t>
            </a:r>
            <a:r>
              <a:rPr sz="2200" spc="-13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2200" spc="-60" dirty="0">
                <a:solidFill>
                  <a:srgbClr val="4A4A4A"/>
                </a:solidFill>
                <a:latin typeface="Arial MT"/>
                <a:cs typeface="Arial MT"/>
              </a:rPr>
              <a:t>temps</a:t>
            </a:r>
            <a:r>
              <a:rPr sz="2200" spc="-19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2200" spc="-114" dirty="0">
                <a:solidFill>
                  <a:srgbClr val="4A4A4A"/>
                </a:solidFill>
                <a:latin typeface="Arial MT"/>
                <a:cs typeface="Arial MT"/>
              </a:rPr>
              <a:t>réel</a:t>
            </a:r>
            <a:r>
              <a:rPr sz="2200" spc="-3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2200" spc="-20" dirty="0">
                <a:solidFill>
                  <a:srgbClr val="4A4A4A"/>
                </a:solidFill>
                <a:latin typeface="Arial MT"/>
                <a:cs typeface="Arial MT"/>
              </a:rPr>
              <a:t>pour </a:t>
            </a:r>
            <a:r>
              <a:rPr sz="2200" spc="-65" dirty="0">
                <a:solidFill>
                  <a:srgbClr val="4A4A4A"/>
                </a:solidFill>
                <a:latin typeface="Arial MT"/>
                <a:cs typeface="Arial MT"/>
              </a:rPr>
              <a:t>éviter</a:t>
            </a:r>
            <a:r>
              <a:rPr sz="2200" spc="-254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2200" spc="-60" dirty="0">
                <a:solidFill>
                  <a:srgbClr val="4A4A4A"/>
                </a:solidFill>
                <a:latin typeface="Arial MT"/>
                <a:cs typeface="Arial MT"/>
              </a:rPr>
              <a:t>les</a:t>
            </a:r>
            <a:r>
              <a:rPr sz="2200" spc="-19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2200" spc="-75" dirty="0">
                <a:solidFill>
                  <a:srgbClr val="4A4A4A"/>
                </a:solidFill>
                <a:latin typeface="Arial MT"/>
                <a:cs typeface="Arial MT"/>
              </a:rPr>
              <a:t>arrêts</a:t>
            </a:r>
            <a:r>
              <a:rPr sz="2200" spc="-18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2200" spc="-10" dirty="0">
                <a:solidFill>
                  <a:srgbClr val="4A4A4A"/>
                </a:solidFill>
                <a:latin typeface="Arial MT"/>
                <a:cs typeface="Arial MT"/>
              </a:rPr>
              <a:t>coûteux.</a:t>
            </a:r>
            <a:endParaRPr sz="2200" dirty="0">
              <a:latin typeface="Arial MT"/>
              <a:cs typeface="Arial MT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609599" y="5495924"/>
            <a:ext cx="10972800" cy="38100"/>
          </a:xfrm>
          <a:custGeom>
            <a:avLst/>
            <a:gdLst/>
            <a:ahLst/>
            <a:cxnLst/>
            <a:rect l="l" t="t" r="r" b="b"/>
            <a:pathLst>
              <a:path w="10972800" h="38100">
                <a:moveTo>
                  <a:pt x="10972799" y="38099"/>
                </a:moveTo>
                <a:lnTo>
                  <a:pt x="0" y="38099"/>
                </a:lnTo>
                <a:lnTo>
                  <a:pt x="0" y="0"/>
                </a:lnTo>
                <a:lnTo>
                  <a:pt x="10972799" y="0"/>
                </a:lnTo>
                <a:lnTo>
                  <a:pt x="10972799" y="38099"/>
                </a:lnTo>
                <a:close/>
              </a:path>
            </a:pathLst>
          </a:custGeom>
          <a:solidFill>
            <a:srgbClr val="11111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596898" y="5674619"/>
            <a:ext cx="1384301" cy="253273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lang="fr-FR" sz="1550" dirty="0">
                <a:latin typeface="Arial"/>
                <a:cs typeface="Arial"/>
              </a:rPr>
              <a:t>Amine SLAOUI</a:t>
            </a:r>
            <a:endParaRPr sz="1550" dirty="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2463800" y="5674619"/>
            <a:ext cx="1574800" cy="253273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lang="fr-FR" sz="1550" dirty="0">
                <a:latin typeface="Arial"/>
                <a:cs typeface="Arial"/>
              </a:rPr>
              <a:t>Thomas VELARD</a:t>
            </a:r>
            <a:endParaRPr sz="1550" dirty="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0510788" y="5646444"/>
            <a:ext cx="1085850" cy="425450"/>
          </a:xfrm>
          <a:prstGeom prst="rect">
            <a:avLst/>
          </a:prstGeom>
        </p:spPr>
        <p:txBody>
          <a:bodyPr vert="horz" wrap="square" lIns="0" tIns="36830" rIns="0" bIns="0" rtlCol="0">
            <a:spAutoFit/>
          </a:bodyPr>
          <a:lstStyle/>
          <a:p>
            <a:pPr marR="5715" algn="r">
              <a:lnSpc>
                <a:spcPct val="100000"/>
              </a:lnSpc>
              <a:spcBef>
                <a:spcPts val="290"/>
              </a:spcBef>
            </a:pPr>
            <a:r>
              <a:rPr sz="1150" spc="-30" dirty="0">
                <a:solidFill>
                  <a:srgbClr val="4A4A4A"/>
                </a:solidFill>
                <a:latin typeface="Arial MT"/>
                <a:cs typeface="Arial MT"/>
              </a:rPr>
              <a:t>Télécom</a:t>
            </a:r>
            <a:r>
              <a:rPr sz="1150" spc="-6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50" spc="-20" dirty="0">
                <a:solidFill>
                  <a:srgbClr val="4A4A4A"/>
                </a:solidFill>
                <a:latin typeface="Arial MT"/>
                <a:cs typeface="Arial MT"/>
              </a:rPr>
              <a:t>Paris</a:t>
            </a:r>
            <a:endParaRPr sz="1150">
              <a:latin typeface="Arial MT"/>
              <a:cs typeface="Arial MT"/>
            </a:endParaRPr>
          </a:p>
          <a:p>
            <a:pPr marR="5080" algn="r">
              <a:lnSpc>
                <a:spcPct val="100000"/>
              </a:lnSpc>
              <a:spcBef>
                <a:spcPts val="195"/>
              </a:spcBef>
            </a:pPr>
            <a:r>
              <a:rPr sz="1150" spc="-20" dirty="0">
                <a:solidFill>
                  <a:srgbClr val="4A4A4A"/>
                </a:solidFill>
                <a:latin typeface="Arial MT"/>
                <a:cs typeface="Arial MT"/>
              </a:rPr>
              <a:t>Septembre</a:t>
            </a:r>
            <a:r>
              <a:rPr sz="1150" spc="-3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50" spc="-20" dirty="0">
                <a:solidFill>
                  <a:srgbClr val="4A4A4A"/>
                </a:solidFill>
                <a:latin typeface="Arial MT"/>
                <a:cs typeface="Arial MT"/>
              </a:rPr>
              <a:t>2026</a:t>
            </a:r>
            <a:endParaRPr sz="1150">
              <a:latin typeface="Arial MT"/>
              <a:cs typeface="Arial MT"/>
            </a:endParaRP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0BB28618-90C1-DA4D-BA48-38F8BE14D6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91800" y="342900"/>
            <a:ext cx="1271804" cy="17907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609599" y="619126"/>
            <a:ext cx="4918075" cy="548227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1878964" algn="l"/>
              </a:tabLst>
            </a:pPr>
            <a:r>
              <a:rPr spc="-75" dirty="0" err="1"/>
              <a:t>Besoins</a:t>
            </a:r>
            <a:r>
              <a:rPr spc="-509" dirty="0"/>
              <a:t> </a:t>
            </a:r>
            <a:r>
              <a:rPr spc="-10" dirty="0"/>
              <a:t>métier</a:t>
            </a:r>
            <a:endParaRPr sz="7300" dirty="0"/>
          </a:p>
        </p:txBody>
      </p:sp>
      <p:sp>
        <p:nvSpPr>
          <p:cNvPr id="3" name="object 3"/>
          <p:cNvSpPr txBox="1"/>
          <p:nvPr/>
        </p:nvSpPr>
        <p:spPr>
          <a:xfrm>
            <a:off x="596899" y="1641230"/>
            <a:ext cx="11000224" cy="711092"/>
          </a:xfrm>
          <a:prstGeom prst="rect">
            <a:avLst/>
          </a:prstGeom>
        </p:spPr>
        <p:txBody>
          <a:bodyPr vert="horz" wrap="square" lIns="0" tIns="43815" rIns="0" bIns="0" rtlCol="0">
            <a:spAutoFit/>
          </a:bodyPr>
          <a:lstStyle/>
          <a:p>
            <a:pPr marL="12700" marR="5080">
              <a:lnSpc>
                <a:spcPts val="2630"/>
              </a:lnSpc>
              <a:spcBef>
                <a:spcPts val="345"/>
              </a:spcBef>
            </a:pPr>
            <a:r>
              <a:rPr sz="2400" b="1" spc="-140" dirty="0">
                <a:solidFill>
                  <a:srgbClr val="111111"/>
                </a:solidFill>
                <a:latin typeface="Arial"/>
                <a:cs typeface="Arial"/>
              </a:rPr>
              <a:t>Voir</a:t>
            </a:r>
            <a:r>
              <a:rPr sz="2400" b="1" spc="-33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2400" b="1" spc="-125" dirty="0">
                <a:solidFill>
                  <a:srgbClr val="111111"/>
                </a:solidFill>
                <a:latin typeface="Arial"/>
                <a:cs typeface="Arial"/>
              </a:rPr>
              <a:t>une</a:t>
            </a:r>
            <a:r>
              <a:rPr sz="2400" b="1" spc="-26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2400" b="1" spc="-135" dirty="0">
                <a:solidFill>
                  <a:srgbClr val="111111"/>
                </a:solidFill>
                <a:latin typeface="Arial"/>
                <a:cs typeface="Arial"/>
              </a:rPr>
              <a:t>machine</a:t>
            </a:r>
            <a:r>
              <a:rPr sz="2400" b="1" spc="-254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2400" b="1" spc="-120" dirty="0">
                <a:solidFill>
                  <a:srgbClr val="111111"/>
                </a:solidFill>
                <a:latin typeface="Arial"/>
                <a:cs typeface="Arial"/>
              </a:rPr>
              <a:t>dériver</a:t>
            </a:r>
            <a:r>
              <a:rPr sz="2400" b="1" spc="-33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2400" b="1" spc="-130" dirty="0">
                <a:solidFill>
                  <a:srgbClr val="111111"/>
                </a:solidFill>
                <a:latin typeface="Arial"/>
                <a:cs typeface="Arial"/>
              </a:rPr>
              <a:t>avant</a:t>
            </a:r>
            <a:r>
              <a:rPr sz="2400" b="1" spc="-24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2400" b="1" spc="-130" dirty="0">
                <a:solidFill>
                  <a:srgbClr val="111111"/>
                </a:solidFill>
                <a:latin typeface="Arial"/>
                <a:cs typeface="Arial"/>
              </a:rPr>
              <a:t>qu’elle</a:t>
            </a:r>
            <a:r>
              <a:rPr sz="2400" b="1" spc="-254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2400" b="1" spc="-130" dirty="0">
                <a:solidFill>
                  <a:srgbClr val="111111"/>
                </a:solidFill>
                <a:latin typeface="Arial"/>
                <a:cs typeface="Arial"/>
              </a:rPr>
              <a:t>tombe</a:t>
            </a:r>
            <a:r>
              <a:rPr sz="2400" b="1" spc="-26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2400" b="1" spc="-125" dirty="0">
                <a:solidFill>
                  <a:srgbClr val="111111"/>
                </a:solidFill>
                <a:latin typeface="Arial"/>
                <a:cs typeface="Arial"/>
              </a:rPr>
              <a:t>en</a:t>
            </a:r>
            <a:r>
              <a:rPr sz="2400" b="1" spc="-19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2400" b="1" spc="-110" dirty="0">
                <a:solidFill>
                  <a:srgbClr val="111111"/>
                </a:solidFill>
                <a:latin typeface="Arial"/>
                <a:cs typeface="Arial"/>
              </a:rPr>
              <a:t>panne, </a:t>
            </a:r>
            <a:r>
              <a:rPr sz="2400" b="1" spc="-80" dirty="0">
                <a:solidFill>
                  <a:srgbClr val="111111"/>
                </a:solidFill>
                <a:latin typeface="Arial"/>
                <a:cs typeface="Arial"/>
              </a:rPr>
              <a:t>et</a:t>
            </a:r>
            <a:r>
              <a:rPr sz="2400" b="1" spc="-25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2400" b="1" spc="-140" dirty="0">
                <a:solidFill>
                  <a:srgbClr val="111111"/>
                </a:solidFill>
                <a:latin typeface="Arial"/>
                <a:cs typeface="Arial"/>
              </a:rPr>
              <a:t>prouver</a:t>
            </a:r>
            <a:r>
              <a:rPr sz="2400" b="1" spc="-33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2400" b="1" spc="-120" dirty="0">
                <a:solidFill>
                  <a:srgbClr val="111111"/>
                </a:solidFill>
                <a:latin typeface="Arial"/>
                <a:cs typeface="Arial"/>
              </a:rPr>
              <a:t>que</a:t>
            </a:r>
            <a:r>
              <a:rPr sz="2400" b="1" spc="-26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2400" b="1" spc="-125" dirty="0">
                <a:solidFill>
                  <a:srgbClr val="111111"/>
                </a:solidFill>
                <a:latin typeface="Arial"/>
                <a:cs typeface="Arial"/>
              </a:rPr>
              <a:t>chaque</a:t>
            </a:r>
            <a:r>
              <a:rPr sz="2400" b="1" spc="-26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2400" b="1" spc="-105" dirty="0">
                <a:solidFill>
                  <a:srgbClr val="111111"/>
                </a:solidFill>
                <a:latin typeface="Arial"/>
                <a:cs typeface="Arial"/>
              </a:rPr>
              <a:t>alerte</a:t>
            </a:r>
            <a:r>
              <a:rPr sz="2400" b="1" spc="-26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2400" b="1" dirty="0">
                <a:solidFill>
                  <a:srgbClr val="111111"/>
                </a:solidFill>
                <a:latin typeface="Arial"/>
                <a:cs typeface="Arial"/>
              </a:rPr>
              <a:t>a</a:t>
            </a:r>
            <a:r>
              <a:rPr sz="2400" b="1" spc="-36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2400" b="1" spc="-85" dirty="0">
                <a:solidFill>
                  <a:srgbClr val="111111"/>
                </a:solidFill>
                <a:latin typeface="Arial"/>
                <a:cs typeface="Arial"/>
              </a:rPr>
              <a:t>été</a:t>
            </a:r>
            <a:r>
              <a:rPr sz="2400" b="1" spc="-26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2400" b="1" spc="-120" dirty="0">
                <a:solidFill>
                  <a:srgbClr val="111111"/>
                </a:solidFill>
                <a:latin typeface="Arial"/>
                <a:cs typeface="Arial"/>
              </a:rPr>
              <a:t>prise</a:t>
            </a:r>
            <a:r>
              <a:rPr sz="2400" b="1" spc="-26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2400" b="1" spc="-125" dirty="0">
                <a:solidFill>
                  <a:srgbClr val="111111"/>
                </a:solidFill>
                <a:latin typeface="Arial"/>
                <a:cs typeface="Arial"/>
              </a:rPr>
              <a:t>en</a:t>
            </a:r>
            <a:r>
              <a:rPr sz="2400" b="1" spc="-204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2400" b="1" spc="-10" dirty="0">
                <a:solidFill>
                  <a:srgbClr val="111111"/>
                </a:solidFill>
                <a:latin typeface="Arial"/>
                <a:cs typeface="Arial"/>
              </a:rPr>
              <a:t>charge.</a:t>
            </a:r>
            <a:endParaRPr sz="2400" dirty="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8064499" y="2674353"/>
            <a:ext cx="2070101" cy="257763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600" b="1" dirty="0" err="1">
                <a:solidFill>
                  <a:srgbClr val="C00000"/>
                </a:solidFill>
                <a:latin typeface="Arial"/>
                <a:cs typeface="Arial"/>
              </a:rPr>
              <a:t>Bénéfices</a:t>
            </a:r>
            <a:r>
              <a:rPr sz="1600" b="1" spc="-35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sz="1600" b="1" spc="-10" dirty="0" err="1">
                <a:solidFill>
                  <a:srgbClr val="C00000"/>
                </a:solidFill>
                <a:latin typeface="Arial"/>
                <a:cs typeface="Arial"/>
              </a:rPr>
              <a:t>attendus</a:t>
            </a:r>
            <a:r>
              <a:rPr lang="fr-FR" sz="1600" b="1" spc="-10" dirty="0">
                <a:solidFill>
                  <a:srgbClr val="C00000"/>
                </a:solidFill>
                <a:latin typeface="Arial"/>
                <a:cs typeface="Arial"/>
              </a:rPr>
              <a:t> :</a:t>
            </a:r>
            <a:endParaRPr sz="1600" dirty="0">
              <a:solidFill>
                <a:srgbClr val="C00000"/>
              </a:solidFill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96899" y="3194968"/>
            <a:ext cx="3450590" cy="5016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11600"/>
              </a:lnSpc>
              <a:spcBef>
                <a:spcPts val="95"/>
              </a:spcBef>
            </a:pPr>
            <a:r>
              <a:rPr sz="1400" b="1" spc="-85" dirty="0">
                <a:solidFill>
                  <a:srgbClr val="111111"/>
                </a:solidFill>
                <a:latin typeface="Arial"/>
                <a:cs typeface="Arial"/>
              </a:rPr>
              <a:t>L’état</a:t>
            </a:r>
            <a:r>
              <a:rPr sz="1400" b="1" spc="-11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90" dirty="0">
                <a:solidFill>
                  <a:srgbClr val="111111"/>
                </a:solidFill>
                <a:latin typeface="Arial"/>
                <a:cs typeface="Arial"/>
              </a:rPr>
              <a:t>du</a:t>
            </a:r>
            <a:r>
              <a:rPr sz="1400" b="1" spc="-7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60" dirty="0">
                <a:solidFill>
                  <a:srgbClr val="111111"/>
                </a:solidFill>
                <a:latin typeface="Arial"/>
                <a:cs typeface="Arial"/>
              </a:rPr>
              <a:t>parc</a:t>
            </a:r>
            <a:r>
              <a:rPr sz="1400" b="1" spc="-114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70" dirty="0">
                <a:solidFill>
                  <a:srgbClr val="111111"/>
                </a:solidFill>
                <a:latin typeface="Arial"/>
                <a:cs typeface="Arial"/>
              </a:rPr>
              <a:t>en</a:t>
            </a:r>
            <a:r>
              <a:rPr sz="1400" b="1" spc="-8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95" dirty="0">
                <a:solidFill>
                  <a:srgbClr val="111111"/>
                </a:solidFill>
                <a:latin typeface="Arial"/>
                <a:cs typeface="Arial"/>
              </a:rPr>
              <a:t>un</a:t>
            </a:r>
            <a:r>
              <a:rPr sz="1400" b="1" spc="-7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65" dirty="0">
                <a:solidFill>
                  <a:srgbClr val="111111"/>
                </a:solidFill>
                <a:latin typeface="Arial"/>
                <a:cs typeface="Arial"/>
              </a:rPr>
              <a:t>coup</a:t>
            </a:r>
            <a:r>
              <a:rPr sz="1400" b="1" spc="-12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85" dirty="0">
                <a:solidFill>
                  <a:srgbClr val="111111"/>
                </a:solidFill>
                <a:latin typeface="Arial"/>
                <a:cs typeface="Arial"/>
              </a:rPr>
              <a:t>d’œil</a:t>
            </a:r>
            <a:r>
              <a:rPr sz="1400" b="1" spc="-1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spc="-120" dirty="0">
                <a:solidFill>
                  <a:srgbClr val="111111"/>
                </a:solidFill>
                <a:latin typeface="Arial MT"/>
                <a:cs typeface="Arial MT"/>
              </a:rPr>
              <a:t>:</a:t>
            </a:r>
            <a:r>
              <a:rPr sz="1400" spc="4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45" dirty="0">
                <a:solidFill>
                  <a:srgbClr val="111111"/>
                </a:solidFill>
                <a:latin typeface="Arial MT"/>
                <a:cs typeface="Arial MT"/>
              </a:rPr>
              <a:t>un</a:t>
            </a:r>
            <a:r>
              <a:rPr sz="1400" spc="-5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statut</a:t>
            </a:r>
            <a:r>
              <a:rPr sz="1400" spc="-9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par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machine,</a:t>
            </a:r>
            <a:r>
              <a:rPr sz="140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normal,</a:t>
            </a:r>
            <a:r>
              <a:rPr sz="1400" spc="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avertissement</a:t>
            </a:r>
            <a:r>
              <a:rPr sz="1400" spc="-10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40" dirty="0">
                <a:solidFill>
                  <a:srgbClr val="111111"/>
                </a:solidFill>
                <a:latin typeface="Arial MT"/>
                <a:cs typeface="Arial MT"/>
              </a:rPr>
              <a:t>ou</a:t>
            </a:r>
            <a:r>
              <a:rPr sz="1400" spc="-7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critique.</a:t>
            </a:r>
            <a:endParaRPr sz="1400" dirty="0">
              <a:latin typeface="Arial MT"/>
              <a:cs typeface="Arial MT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4330700" y="3194968"/>
            <a:ext cx="3350895" cy="5016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11600"/>
              </a:lnSpc>
              <a:spcBef>
                <a:spcPts val="95"/>
              </a:spcBef>
            </a:pPr>
            <a:r>
              <a:rPr sz="1400" b="1" spc="-50" dirty="0">
                <a:solidFill>
                  <a:srgbClr val="111111"/>
                </a:solidFill>
                <a:latin typeface="Arial"/>
                <a:cs typeface="Arial"/>
              </a:rPr>
              <a:t>Une</a:t>
            </a:r>
            <a:r>
              <a:rPr sz="1400" b="1" spc="-12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40" dirty="0">
                <a:solidFill>
                  <a:srgbClr val="111111"/>
                </a:solidFill>
                <a:latin typeface="Arial"/>
                <a:cs typeface="Arial"/>
              </a:rPr>
              <a:t>alerte</a:t>
            </a:r>
            <a:r>
              <a:rPr sz="1400" b="1" spc="-12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70" dirty="0">
                <a:solidFill>
                  <a:srgbClr val="111111"/>
                </a:solidFill>
                <a:latin typeface="Arial"/>
                <a:cs typeface="Arial"/>
              </a:rPr>
              <a:t>en</a:t>
            </a:r>
            <a:r>
              <a:rPr sz="1400" b="1" spc="-9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65" dirty="0">
                <a:solidFill>
                  <a:srgbClr val="111111"/>
                </a:solidFill>
                <a:latin typeface="Arial"/>
                <a:cs typeface="Arial"/>
              </a:rPr>
              <a:t>temps</a:t>
            </a:r>
            <a:r>
              <a:rPr sz="1400" b="1" spc="-12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65" dirty="0">
                <a:solidFill>
                  <a:srgbClr val="111111"/>
                </a:solidFill>
                <a:latin typeface="Arial"/>
                <a:cs typeface="Arial"/>
              </a:rPr>
              <a:t>réel</a:t>
            </a:r>
            <a:r>
              <a:rPr sz="1400" b="1" spc="-2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dès</a:t>
            </a:r>
            <a:r>
              <a:rPr sz="1400" spc="-10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qu’un</a:t>
            </a:r>
            <a:r>
              <a:rPr sz="1400" spc="-6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seuil</a:t>
            </a:r>
            <a:r>
              <a:rPr sz="1400" spc="-1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est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franchi,</a:t>
            </a:r>
            <a:r>
              <a:rPr sz="1400" spc="1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sans</a:t>
            </a:r>
            <a:r>
              <a:rPr sz="1400" spc="-10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5" dirty="0">
                <a:solidFill>
                  <a:srgbClr val="111111"/>
                </a:solidFill>
                <a:latin typeface="Arial MT"/>
                <a:cs typeface="Arial MT"/>
              </a:rPr>
              <a:t>recharger</a:t>
            </a:r>
            <a:r>
              <a:rPr sz="1400" spc="-14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111111"/>
                </a:solidFill>
                <a:latin typeface="Arial MT"/>
                <a:cs typeface="Arial MT"/>
              </a:rPr>
              <a:t>la</a:t>
            </a:r>
            <a:r>
              <a:rPr sz="1400" spc="-16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0" dirty="0">
                <a:solidFill>
                  <a:srgbClr val="111111"/>
                </a:solidFill>
                <a:latin typeface="Arial MT"/>
                <a:cs typeface="Arial MT"/>
              </a:rPr>
              <a:t>page.</a:t>
            </a:r>
            <a:endParaRPr sz="1400" dirty="0">
              <a:latin typeface="Arial MT"/>
              <a:cs typeface="Arial MT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8064499" y="3194968"/>
            <a:ext cx="3474720" cy="7397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11600"/>
              </a:lnSpc>
              <a:spcBef>
                <a:spcPts val="95"/>
              </a:spcBef>
            </a:pPr>
            <a:r>
              <a:rPr sz="1400" b="1" spc="-60" dirty="0">
                <a:solidFill>
                  <a:srgbClr val="111111"/>
                </a:solidFill>
                <a:latin typeface="Arial"/>
                <a:cs typeface="Arial"/>
              </a:rPr>
              <a:t>Moins</a:t>
            </a:r>
            <a:r>
              <a:rPr sz="1400" b="1" spc="-10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55" dirty="0">
                <a:solidFill>
                  <a:srgbClr val="111111"/>
                </a:solidFill>
                <a:latin typeface="Arial"/>
                <a:cs typeface="Arial"/>
              </a:rPr>
              <a:t>d’arrêts</a:t>
            </a:r>
            <a:r>
              <a:rPr sz="1400" b="1" spc="-10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80" dirty="0">
                <a:solidFill>
                  <a:srgbClr val="111111"/>
                </a:solidFill>
                <a:latin typeface="Arial"/>
                <a:cs typeface="Arial"/>
              </a:rPr>
              <a:t>non</a:t>
            </a:r>
            <a:r>
              <a:rPr sz="1400" b="1" spc="-60" dirty="0">
                <a:solidFill>
                  <a:srgbClr val="111111"/>
                </a:solidFill>
                <a:latin typeface="Arial"/>
                <a:cs typeface="Arial"/>
              </a:rPr>
              <a:t> planifiés</a:t>
            </a:r>
            <a:r>
              <a:rPr sz="1400" b="1" spc="-8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spc="-120" dirty="0">
                <a:solidFill>
                  <a:srgbClr val="111111"/>
                </a:solidFill>
                <a:latin typeface="Arial MT"/>
                <a:cs typeface="Arial MT"/>
              </a:rPr>
              <a:t>:</a:t>
            </a:r>
            <a:r>
              <a:rPr sz="1400" spc="6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111111"/>
                </a:solidFill>
                <a:latin typeface="Arial MT"/>
                <a:cs typeface="Arial MT"/>
              </a:rPr>
              <a:t>la</a:t>
            </a:r>
            <a:r>
              <a:rPr sz="1400" spc="-14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maintenance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intervient</a:t>
            </a:r>
            <a:r>
              <a:rPr sz="1400" spc="-9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pendant</a:t>
            </a:r>
            <a:r>
              <a:rPr sz="1400" spc="-8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111111"/>
                </a:solidFill>
                <a:latin typeface="Arial MT"/>
                <a:cs typeface="Arial MT"/>
              </a:rPr>
              <a:t>la</a:t>
            </a:r>
            <a:r>
              <a:rPr sz="1400" spc="-15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5" dirty="0">
                <a:solidFill>
                  <a:srgbClr val="111111"/>
                </a:solidFill>
                <a:latin typeface="Arial MT"/>
                <a:cs typeface="Arial MT"/>
              </a:rPr>
              <a:t>dérive,</a:t>
            </a:r>
            <a:r>
              <a:rPr sz="1400" spc="3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pas</a:t>
            </a:r>
            <a:r>
              <a:rPr sz="1400" spc="-9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40" dirty="0">
                <a:solidFill>
                  <a:srgbClr val="111111"/>
                </a:solidFill>
                <a:latin typeface="Arial MT"/>
                <a:cs typeface="Arial MT"/>
              </a:rPr>
              <a:t>après</a:t>
            </a:r>
            <a:r>
              <a:rPr sz="1400" spc="-9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la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casse.</a:t>
            </a:r>
            <a:endParaRPr sz="1400" dirty="0">
              <a:latin typeface="Arial MT"/>
              <a:cs typeface="Arial MT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596899" y="4028228"/>
            <a:ext cx="3571240" cy="71660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87630">
              <a:lnSpc>
                <a:spcPct val="111600"/>
              </a:lnSpc>
              <a:spcBef>
                <a:spcPts val="95"/>
              </a:spcBef>
            </a:pPr>
            <a:r>
              <a:rPr sz="1400" b="1" spc="-60" dirty="0">
                <a:solidFill>
                  <a:srgbClr val="111111"/>
                </a:solidFill>
                <a:latin typeface="Arial"/>
                <a:cs typeface="Arial"/>
              </a:rPr>
              <a:t>Les</a:t>
            </a:r>
            <a:r>
              <a:rPr sz="1400" b="1" spc="-10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55" dirty="0">
                <a:solidFill>
                  <a:srgbClr val="111111"/>
                </a:solidFill>
                <a:latin typeface="Arial"/>
                <a:cs typeface="Arial"/>
              </a:rPr>
              <a:t>tendances</a:t>
            </a:r>
            <a:r>
              <a:rPr sz="1400" b="1" spc="-10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60" dirty="0">
                <a:solidFill>
                  <a:srgbClr val="111111"/>
                </a:solidFill>
                <a:latin typeface="Arial"/>
                <a:cs typeface="Arial"/>
              </a:rPr>
              <a:t>historiques</a:t>
            </a:r>
            <a:r>
              <a:rPr sz="1400" b="1" spc="-8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de</a:t>
            </a:r>
            <a:r>
              <a:rPr sz="1400" spc="-8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vibration, </a:t>
            </a:r>
            <a:r>
              <a:rPr sz="1400" spc="-35" dirty="0">
                <a:solidFill>
                  <a:srgbClr val="111111"/>
                </a:solidFill>
                <a:latin typeface="Arial MT"/>
                <a:cs typeface="Arial MT"/>
              </a:rPr>
              <a:t>température</a:t>
            </a:r>
            <a:r>
              <a:rPr sz="1400" spc="-7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0" dirty="0">
                <a:solidFill>
                  <a:srgbClr val="111111"/>
                </a:solidFill>
                <a:latin typeface="Arial MT"/>
                <a:cs typeface="Arial MT"/>
              </a:rPr>
              <a:t>et</a:t>
            </a:r>
            <a:r>
              <a:rPr sz="1400" spc="-6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pression</a:t>
            </a:r>
            <a:r>
              <a:rPr sz="1400" spc="-2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pour</a:t>
            </a:r>
            <a:r>
              <a:rPr sz="1400" spc="-114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comprendre</a:t>
            </a:r>
            <a:r>
              <a:rPr sz="1400" spc="-7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une </a:t>
            </a:r>
            <a:r>
              <a:rPr sz="1400" spc="-10" dirty="0" err="1">
                <a:solidFill>
                  <a:srgbClr val="111111"/>
                </a:solidFill>
                <a:latin typeface="Arial MT"/>
                <a:cs typeface="Arial MT"/>
              </a:rPr>
              <a:t>dérive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.</a:t>
            </a:r>
            <a:endParaRPr sz="1400" dirty="0">
              <a:latin typeface="Arial MT"/>
              <a:cs typeface="Arial MT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4330700" y="3856578"/>
            <a:ext cx="3237865" cy="5016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11600"/>
              </a:lnSpc>
              <a:spcBef>
                <a:spcPts val="95"/>
              </a:spcBef>
            </a:pPr>
            <a:r>
              <a:rPr sz="1400" b="1" spc="-55" dirty="0">
                <a:solidFill>
                  <a:srgbClr val="111111"/>
                </a:solidFill>
                <a:latin typeface="Arial"/>
                <a:cs typeface="Arial"/>
              </a:rPr>
              <a:t>Prioriser</a:t>
            </a:r>
            <a:r>
              <a:rPr sz="1400" b="1" spc="-10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spc="-120" dirty="0">
                <a:solidFill>
                  <a:srgbClr val="111111"/>
                </a:solidFill>
                <a:latin typeface="Arial MT"/>
                <a:cs typeface="Arial MT"/>
              </a:rPr>
              <a:t>:</a:t>
            </a:r>
            <a:r>
              <a:rPr sz="1400" spc="6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le</a:t>
            </a:r>
            <a:r>
              <a:rPr sz="1400" spc="-8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0" dirty="0">
                <a:solidFill>
                  <a:srgbClr val="111111"/>
                </a:solidFill>
                <a:latin typeface="Arial MT"/>
                <a:cs typeface="Arial MT"/>
              </a:rPr>
              <a:t>critique</a:t>
            </a:r>
            <a:r>
              <a:rPr sz="1400" spc="-8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40" dirty="0">
                <a:solidFill>
                  <a:srgbClr val="111111"/>
                </a:solidFill>
                <a:latin typeface="Arial MT"/>
                <a:cs typeface="Arial MT"/>
              </a:rPr>
              <a:t>avant</a:t>
            </a:r>
            <a:r>
              <a:rPr sz="1400" spc="-7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0" dirty="0">
                <a:solidFill>
                  <a:srgbClr val="111111"/>
                </a:solidFill>
                <a:latin typeface="Arial MT"/>
                <a:cs typeface="Arial MT"/>
              </a:rPr>
              <a:t>l’avertissement, </a:t>
            </a:r>
            <a:r>
              <a:rPr sz="1400" spc="-35" dirty="0">
                <a:solidFill>
                  <a:srgbClr val="111111"/>
                </a:solidFill>
                <a:latin typeface="Arial MT"/>
                <a:cs typeface="Arial MT"/>
              </a:rPr>
              <a:t>une</a:t>
            </a:r>
            <a:r>
              <a:rPr sz="1400" spc="-9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seule</a:t>
            </a:r>
            <a:r>
              <a:rPr sz="1400" spc="-9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alerte</a:t>
            </a:r>
            <a:r>
              <a:rPr sz="1400" spc="-9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par</a:t>
            </a:r>
            <a:r>
              <a:rPr sz="1400" spc="-13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franchissement.</a:t>
            </a:r>
            <a:endParaRPr sz="1400" dirty="0">
              <a:latin typeface="Arial MT"/>
              <a:cs typeface="Arial MT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4343399" y="4623633"/>
            <a:ext cx="3358515" cy="5207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16100"/>
              </a:lnSpc>
              <a:spcBef>
                <a:spcPts val="95"/>
              </a:spcBef>
            </a:pPr>
            <a:r>
              <a:rPr sz="1400" b="1" spc="-60" dirty="0">
                <a:solidFill>
                  <a:srgbClr val="111111"/>
                </a:solidFill>
                <a:latin typeface="Arial"/>
                <a:cs typeface="Arial"/>
              </a:rPr>
              <a:t>Acquitter</a:t>
            </a:r>
            <a:r>
              <a:rPr sz="1400" b="1" spc="-10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l’alerte</a:t>
            </a:r>
            <a:r>
              <a:rPr sz="1400" spc="-8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20" dirty="0">
                <a:solidFill>
                  <a:srgbClr val="111111"/>
                </a:solidFill>
                <a:latin typeface="Arial MT"/>
                <a:cs typeface="Arial MT"/>
              </a:rPr>
              <a:t>:</a:t>
            </a:r>
            <a:r>
              <a:rPr sz="1400" spc="6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l’heure</a:t>
            </a:r>
            <a:r>
              <a:rPr sz="1400" spc="-9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de</a:t>
            </a:r>
            <a:r>
              <a:rPr sz="1400" spc="-8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prise</a:t>
            </a:r>
            <a:r>
              <a:rPr sz="1400" spc="-8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45" dirty="0">
                <a:solidFill>
                  <a:srgbClr val="111111"/>
                </a:solidFill>
                <a:latin typeface="Arial MT"/>
                <a:cs typeface="Arial MT"/>
              </a:rPr>
              <a:t>en</a:t>
            </a:r>
            <a:r>
              <a:rPr sz="1400" spc="-4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charge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reste</a:t>
            </a:r>
            <a:r>
              <a:rPr sz="1400" spc="-9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enregistrée.</a:t>
            </a:r>
            <a:endParaRPr sz="1400" dirty="0">
              <a:latin typeface="Arial MT"/>
              <a:cs typeface="Arial MT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8064499" y="4090318"/>
            <a:ext cx="3256279" cy="749300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 marR="5080">
              <a:lnSpc>
                <a:spcPct val="113799"/>
              </a:lnSpc>
              <a:spcBef>
                <a:spcPts val="60"/>
              </a:spcBef>
            </a:pPr>
            <a:r>
              <a:rPr sz="1400" b="1" spc="-60" dirty="0">
                <a:solidFill>
                  <a:srgbClr val="111111"/>
                </a:solidFill>
                <a:latin typeface="Arial"/>
                <a:cs typeface="Arial"/>
              </a:rPr>
              <a:t>Économies</a:t>
            </a:r>
            <a:r>
              <a:rPr sz="1400" b="1" spc="-6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spc="-120" dirty="0">
                <a:solidFill>
                  <a:srgbClr val="111111"/>
                </a:solidFill>
                <a:latin typeface="Arial MT"/>
                <a:cs typeface="Arial MT"/>
              </a:rPr>
              <a:t>:</a:t>
            </a:r>
            <a:r>
              <a:rPr sz="1400" spc="9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interventions</a:t>
            </a:r>
            <a:r>
              <a:rPr sz="1400" spc="-6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planifiées</a:t>
            </a:r>
            <a:r>
              <a:rPr sz="1400" spc="-5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plutôt </a:t>
            </a:r>
            <a:r>
              <a:rPr sz="1400" spc="-45" dirty="0">
                <a:solidFill>
                  <a:srgbClr val="111111"/>
                </a:solidFill>
                <a:latin typeface="Arial MT"/>
                <a:cs typeface="Arial MT"/>
              </a:rPr>
              <a:t>qu’en</a:t>
            </a:r>
            <a:r>
              <a:rPr sz="1400" spc="-5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5" dirty="0">
                <a:solidFill>
                  <a:srgbClr val="111111"/>
                </a:solidFill>
                <a:latin typeface="Arial MT"/>
                <a:cs typeface="Arial MT"/>
              </a:rPr>
              <a:t>urgence,</a:t>
            </a:r>
            <a:r>
              <a:rPr sz="1400" spc="4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pièces</a:t>
            </a:r>
            <a:r>
              <a:rPr sz="1400" spc="-9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5" dirty="0">
                <a:solidFill>
                  <a:srgbClr val="111111"/>
                </a:solidFill>
                <a:latin typeface="Arial MT"/>
                <a:cs typeface="Arial MT"/>
              </a:rPr>
              <a:t>remplacées</a:t>
            </a:r>
            <a:r>
              <a:rPr sz="1400" spc="-8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0" dirty="0">
                <a:solidFill>
                  <a:srgbClr val="111111"/>
                </a:solidFill>
                <a:latin typeface="Arial MT"/>
                <a:cs typeface="Arial MT"/>
              </a:rPr>
              <a:t>avant </a:t>
            </a:r>
            <a:r>
              <a:rPr sz="1400" spc="-35" dirty="0">
                <a:solidFill>
                  <a:srgbClr val="111111"/>
                </a:solidFill>
                <a:latin typeface="Arial MT"/>
                <a:cs typeface="Arial MT"/>
              </a:rPr>
              <a:t>d’endommager</a:t>
            </a:r>
            <a:r>
              <a:rPr sz="1400" spc="-114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le</a:t>
            </a:r>
            <a:r>
              <a:rPr sz="1400" spc="-6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reste.</a:t>
            </a:r>
            <a:endParaRPr sz="1400">
              <a:latin typeface="Arial MT"/>
              <a:cs typeface="Arial MT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8064499" y="4995193"/>
            <a:ext cx="3314065" cy="5016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11600"/>
              </a:lnSpc>
              <a:spcBef>
                <a:spcPts val="95"/>
              </a:spcBef>
            </a:pPr>
            <a:r>
              <a:rPr sz="1400" b="1" spc="-65" dirty="0">
                <a:solidFill>
                  <a:srgbClr val="111111"/>
                </a:solidFill>
                <a:latin typeface="Arial"/>
                <a:cs typeface="Arial"/>
              </a:rPr>
              <a:t>Conformité</a:t>
            </a:r>
            <a:r>
              <a:rPr sz="1400" b="1" spc="-9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spc="-120" dirty="0">
                <a:solidFill>
                  <a:srgbClr val="111111"/>
                </a:solidFill>
                <a:latin typeface="Arial MT"/>
                <a:cs typeface="Arial MT"/>
              </a:rPr>
              <a:t>:</a:t>
            </a:r>
            <a:r>
              <a:rPr sz="1400" spc="5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journal</a:t>
            </a:r>
            <a:r>
              <a:rPr sz="1400" spc="1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horodaté</a:t>
            </a:r>
            <a:r>
              <a:rPr sz="1400" spc="-9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des</a:t>
            </a:r>
            <a:r>
              <a:rPr sz="1400" spc="-8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alertes</a:t>
            </a:r>
            <a:r>
              <a:rPr sz="1400" spc="-8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et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des</a:t>
            </a:r>
            <a:r>
              <a:rPr sz="1400" spc="-9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acquittements,</a:t>
            </a:r>
            <a:r>
              <a:rPr sz="1400" spc="4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exploitable</a:t>
            </a:r>
            <a:r>
              <a:rPr sz="1400" spc="-10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45" dirty="0">
                <a:solidFill>
                  <a:srgbClr val="111111"/>
                </a:solidFill>
                <a:latin typeface="Arial MT"/>
                <a:cs typeface="Arial MT"/>
              </a:rPr>
              <a:t>en</a:t>
            </a:r>
            <a:r>
              <a:rPr sz="1400" spc="-5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audit.</a:t>
            </a:r>
            <a:endParaRPr sz="1400" dirty="0">
              <a:latin typeface="Arial MT"/>
              <a:cs typeface="Arial MT"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609599" y="6229349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10972799" y="9524"/>
                </a:moveTo>
                <a:lnTo>
                  <a:pt x="0" y="9524"/>
                </a:lnTo>
                <a:lnTo>
                  <a:pt x="0" y="0"/>
                </a:lnTo>
                <a:lnTo>
                  <a:pt x="10972799" y="0"/>
                </a:lnTo>
                <a:lnTo>
                  <a:pt x="10972799" y="9524"/>
                </a:lnTo>
                <a:close/>
              </a:path>
            </a:pathLst>
          </a:custGeom>
          <a:solidFill>
            <a:srgbClr val="D5D5D5"/>
          </a:solidFill>
        </p:spPr>
        <p:txBody>
          <a:bodyPr wrap="square" lIns="0" tIns="0" rIns="0" bIns="0" rtlCol="0"/>
          <a:lstStyle/>
          <a:p>
            <a:pPr algn="l" rtl="0"/>
            <a:endParaRPr/>
          </a:p>
        </p:txBody>
      </p:sp>
      <p:sp>
        <p:nvSpPr>
          <p:cNvPr id="22" name="object 22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005"/>
              </a:lnSpc>
            </a:pPr>
            <a:r>
              <a:rPr spc="-25" dirty="0"/>
              <a:t>FactorySense</a:t>
            </a:r>
          </a:p>
        </p:txBody>
      </p:sp>
      <p:sp>
        <p:nvSpPr>
          <p:cNvPr id="23" name="object 2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3500">
              <a:lnSpc>
                <a:spcPts val="1005"/>
              </a:lnSpc>
            </a:pPr>
            <a:r>
              <a:rPr spc="-35" dirty="0"/>
              <a:t>1</a:t>
            </a:r>
            <a:r>
              <a:rPr spc="-70" dirty="0"/>
              <a:t> </a:t>
            </a:r>
            <a:r>
              <a:rPr dirty="0"/>
              <a:t>/</a:t>
            </a:r>
            <a:r>
              <a:rPr spc="-85" dirty="0"/>
              <a:t> </a:t>
            </a:r>
            <a:r>
              <a:rPr spc="-50" dirty="0"/>
              <a:t>4</a:t>
            </a:r>
          </a:p>
        </p:txBody>
      </p:sp>
      <p:pic>
        <p:nvPicPr>
          <p:cNvPr id="24" name="Image 23">
            <a:extLst>
              <a:ext uri="{FF2B5EF4-FFF2-40B4-BE49-F238E27FC236}">
                <a16:creationId xmlns:a16="http://schemas.microsoft.com/office/drawing/2014/main" id="{83272B8A-9B43-9CB3-3809-90EDECB61D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88700" y="103820"/>
            <a:ext cx="812242" cy="1143636"/>
          </a:xfrm>
          <a:prstGeom prst="rect">
            <a:avLst/>
          </a:prstGeom>
        </p:spPr>
      </p:pic>
      <p:sp>
        <p:nvSpPr>
          <p:cNvPr id="28" name="ZoneTexte 27">
            <a:extLst>
              <a:ext uri="{FF2B5EF4-FFF2-40B4-BE49-F238E27FC236}">
                <a16:creationId xmlns:a16="http://schemas.microsoft.com/office/drawing/2014/main" id="{4D3EFCDC-EEB0-2DD2-2F79-A24BD69BF5A3}"/>
              </a:ext>
            </a:extLst>
          </p:cNvPr>
          <p:cNvSpPr txBox="1"/>
          <p:nvPr/>
        </p:nvSpPr>
        <p:spPr>
          <a:xfrm>
            <a:off x="506304" y="5025934"/>
            <a:ext cx="3670302" cy="4514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 algn="l">
              <a:lnSpc>
                <a:spcPts val="1415"/>
              </a:lnSpc>
              <a:tabLst>
                <a:tab pos="3557904" algn="l"/>
              </a:tabLst>
            </a:pPr>
            <a:r>
              <a:rPr lang="fr-FR" sz="1400" b="1" spc="-40" dirty="0">
                <a:solidFill>
                  <a:srgbClr val="111111"/>
                </a:solidFill>
                <a:latin typeface="Arial"/>
                <a:cs typeface="Arial"/>
              </a:rPr>
              <a:t>Des</a:t>
            </a:r>
            <a:r>
              <a:rPr lang="fr-FR" sz="1400" b="1" spc="-9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lang="fr-FR" sz="1400" b="1" spc="-60" dirty="0">
                <a:solidFill>
                  <a:srgbClr val="111111"/>
                </a:solidFill>
                <a:latin typeface="Arial"/>
                <a:cs typeface="Arial"/>
              </a:rPr>
              <a:t>seuils</a:t>
            </a:r>
            <a:r>
              <a:rPr lang="fr-FR" sz="1400" b="1" spc="-9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lang="fr-FR" sz="1400" b="1" spc="-55" dirty="0">
                <a:solidFill>
                  <a:srgbClr val="111111"/>
                </a:solidFill>
                <a:latin typeface="Arial"/>
                <a:cs typeface="Arial"/>
              </a:rPr>
              <a:t>explicites</a:t>
            </a:r>
            <a:r>
              <a:rPr lang="fr-FR" sz="1400" b="1" spc="-7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lang="fr-FR" sz="1400" spc="-30" dirty="0">
                <a:solidFill>
                  <a:srgbClr val="111111"/>
                </a:solidFill>
                <a:latin typeface="Arial MT"/>
                <a:cs typeface="Arial MT"/>
              </a:rPr>
              <a:t>par</a:t>
            </a:r>
            <a:r>
              <a:rPr lang="fr-FR" sz="1400" spc="-11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lang="fr-FR" sz="1400" spc="-35" dirty="0">
                <a:solidFill>
                  <a:srgbClr val="111111"/>
                </a:solidFill>
                <a:latin typeface="Arial MT"/>
                <a:cs typeface="Arial MT"/>
              </a:rPr>
              <a:t>capteur, </a:t>
            </a:r>
            <a:r>
              <a:rPr lang="fr-FR" sz="1400" spc="-30" dirty="0">
                <a:solidFill>
                  <a:srgbClr val="111111"/>
                </a:solidFill>
                <a:latin typeface="Arial MT"/>
                <a:cs typeface="Arial MT"/>
              </a:rPr>
              <a:t>avertissement</a:t>
            </a:r>
            <a:r>
              <a:rPr lang="fr-FR" sz="1400" spc="-5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lang="fr-FR" sz="1400" spc="-20" dirty="0">
                <a:solidFill>
                  <a:srgbClr val="111111"/>
                </a:solidFill>
                <a:latin typeface="Arial MT"/>
                <a:cs typeface="Arial MT"/>
              </a:rPr>
              <a:t>puis</a:t>
            </a:r>
            <a:r>
              <a:rPr lang="fr-FR" sz="1400" spc="-5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lang="fr-FR" sz="1400" spc="-10" dirty="0">
                <a:solidFill>
                  <a:srgbClr val="111111"/>
                </a:solidFill>
                <a:latin typeface="Arial MT"/>
                <a:cs typeface="Arial MT"/>
              </a:rPr>
              <a:t>critique.</a:t>
            </a:r>
            <a:endParaRPr lang="fr-FR" sz="1400" dirty="0">
              <a:latin typeface="Arial MT"/>
              <a:cs typeface="Arial MT"/>
            </a:endParaRP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8292370F-34CE-3552-7764-147EFE3A54CB}"/>
              </a:ext>
            </a:extLst>
          </p:cNvPr>
          <p:cNvSpPr txBox="1"/>
          <p:nvPr/>
        </p:nvSpPr>
        <p:spPr>
          <a:xfrm>
            <a:off x="506304" y="2648108"/>
            <a:ext cx="27702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fr-FR" sz="1600" b="1" dirty="0">
                <a:solidFill>
                  <a:srgbClr val="C00000"/>
                </a:solidFill>
                <a:latin typeface="Arial"/>
                <a:cs typeface="Arial"/>
              </a:rPr>
              <a:t>Ingénieurs</a:t>
            </a:r>
            <a:r>
              <a:rPr lang="fr-FR" sz="1600" b="1" spc="-125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lang="fr-FR" sz="1600" b="1" dirty="0">
                <a:solidFill>
                  <a:srgbClr val="C00000"/>
                </a:solidFill>
                <a:latin typeface="Arial"/>
                <a:cs typeface="Arial"/>
              </a:rPr>
              <a:t>de</a:t>
            </a:r>
            <a:r>
              <a:rPr lang="fr-FR" sz="1600" b="1" spc="-125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lang="fr-FR" sz="1600" b="1" spc="-10" dirty="0">
                <a:solidFill>
                  <a:srgbClr val="C00000"/>
                </a:solidFill>
                <a:latin typeface="Arial"/>
                <a:cs typeface="Arial"/>
              </a:rPr>
              <a:t>production :</a:t>
            </a:r>
            <a:endParaRPr lang="fr-FR" sz="2000" dirty="0">
              <a:solidFill>
                <a:srgbClr val="C00000"/>
              </a:solidFill>
            </a:endParaRPr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003BD695-F388-7CC4-CF59-32402226AEA7}"/>
              </a:ext>
            </a:extLst>
          </p:cNvPr>
          <p:cNvSpPr txBox="1"/>
          <p:nvPr/>
        </p:nvSpPr>
        <p:spPr>
          <a:xfrm>
            <a:off x="4308122" y="2648108"/>
            <a:ext cx="27702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fr-FR" sz="1600" b="1" spc="-10" dirty="0">
                <a:solidFill>
                  <a:srgbClr val="C00000"/>
                </a:solidFill>
                <a:latin typeface="Arial"/>
                <a:cs typeface="Arial"/>
              </a:rPr>
              <a:t>Équipes</a:t>
            </a:r>
            <a:r>
              <a:rPr lang="fr-FR" sz="1600" b="1" spc="-120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lang="fr-FR" sz="1600" b="1" dirty="0">
                <a:solidFill>
                  <a:srgbClr val="C00000"/>
                </a:solidFill>
                <a:latin typeface="Arial"/>
                <a:cs typeface="Arial"/>
              </a:rPr>
              <a:t>de</a:t>
            </a:r>
            <a:r>
              <a:rPr lang="fr-FR" sz="1600" b="1" spc="-120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lang="fr-FR" sz="1600" b="1" spc="-10" dirty="0">
                <a:solidFill>
                  <a:srgbClr val="C00000"/>
                </a:solidFill>
                <a:latin typeface="Arial"/>
                <a:cs typeface="Arial"/>
              </a:rPr>
              <a:t>maintenance :</a:t>
            </a:r>
            <a:endParaRPr lang="fr-FR" sz="2000" dirty="0">
              <a:solidFill>
                <a:srgbClr val="C00000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596899" y="610664"/>
            <a:ext cx="5863590" cy="548227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1878964" algn="l"/>
              </a:tabLst>
            </a:pPr>
            <a:r>
              <a:rPr spc="-75" dirty="0" err="1"/>
              <a:t>Besoins</a:t>
            </a:r>
            <a:r>
              <a:rPr spc="-509" dirty="0"/>
              <a:t> </a:t>
            </a:r>
            <a:r>
              <a:rPr spc="-30" dirty="0"/>
              <a:t>techniques</a:t>
            </a:r>
            <a:endParaRPr sz="7300" dirty="0"/>
          </a:p>
        </p:txBody>
      </p:sp>
      <p:sp>
        <p:nvSpPr>
          <p:cNvPr id="5" name="object 5"/>
          <p:cNvSpPr txBox="1"/>
          <p:nvPr/>
        </p:nvSpPr>
        <p:spPr>
          <a:xfrm>
            <a:off x="596899" y="1738826"/>
            <a:ext cx="2030095" cy="24237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500" b="1" dirty="0">
                <a:solidFill>
                  <a:srgbClr val="C00000"/>
                </a:solidFill>
                <a:latin typeface="Arial"/>
                <a:cs typeface="Arial"/>
              </a:rPr>
              <a:t>Services</a:t>
            </a:r>
            <a:r>
              <a:rPr sz="1500" b="1" spc="-125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sz="1500" b="1" spc="114" dirty="0">
                <a:solidFill>
                  <a:srgbClr val="C00000"/>
                </a:solidFill>
                <a:latin typeface="Arial"/>
                <a:cs typeface="Arial"/>
              </a:rPr>
              <a:t>à</a:t>
            </a:r>
            <a:r>
              <a:rPr sz="1500" b="1" spc="-190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sz="1500" b="1" spc="-10" dirty="0">
                <a:solidFill>
                  <a:srgbClr val="C00000"/>
                </a:solidFill>
                <a:latin typeface="Arial"/>
                <a:cs typeface="Arial"/>
              </a:rPr>
              <a:t>développer</a:t>
            </a:r>
            <a:endParaRPr sz="1500" dirty="0">
              <a:solidFill>
                <a:srgbClr val="C00000"/>
              </a:solidFill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6197600" y="1738826"/>
            <a:ext cx="2813050" cy="24237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500" b="1" dirty="0">
                <a:solidFill>
                  <a:srgbClr val="C00000"/>
                </a:solidFill>
                <a:latin typeface="Arial"/>
                <a:cs typeface="Arial"/>
              </a:rPr>
              <a:t>Données</a:t>
            </a:r>
            <a:r>
              <a:rPr sz="1500" b="1" spc="-130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sz="1500" b="1" spc="114" dirty="0">
                <a:solidFill>
                  <a:srgbClr val="C00000"/>
                </a:solidFill>
                <a:latin typeface="Arial"/>
                <a:cs typeface="Arial"/>
              </a:rPr>
              <a:t>à</a:t>
            </a:r>
            <a:r>
              <a:rPr sz="1500" b="1" spc="-195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C00000"/>
                </a:solidFill>
                <a:latin typeface="Arial"/>
                <a:cs typeface="Arial"/>
              </a:rPr>
              <a:t>stocker</a:t>
            </a:r>
            <a:r>
              <a:rPr sz="1500" b="1" spc="-185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sz="1500" b="1" spc="50" dirty="0">
                <a:solidFill>
                  <a:srgbClr val="C00000"/>
                </a:solidFill>
                <a:latin typeface="Arial"/>
                <a:cs typeface="Arial"/>
              </a:rPr>
              <a:t>et</a:t>
            </a:r>
            <a:r>
              <a:rPr sz="1500" b="1" spc="-110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sz="1500" b="1" spc="-10" dirty="0">
                <a:solidFill>
                  <a:srgbClr val="C00000"/>
                </a:solidFill>
                <a:latin typeface="Arial"/>
                <a:cs typeface="Arial"/>
              </a:rPr>
              <a:t>sécuriser</a:t>
            </a:r>
            <a:endParaRPr sz="1500" dirty="0">
              <a:solidFill>
                <a:srgbClr val="C00000"/>
              </a:solidFill>
              <a:latin typeface="Arial"/>
              <a:cs typeface="Arial"/>
            </a:endParaRPr>
          </a:p>
        </p:txBody>
      </p:sp>
      <p:graphicFrame>
        <p:nvGraphicFramePr>
          <p:cNvPr id="4" name="objec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9574426"/>
              </p:ext>
            </p:extLst>
          </p:nvPr>
        </p:nvGraphicFramePr>
        <p:xfrm>
          <a:off x="609599" y="2315210"/>
          <a:ext cx="5371464" cy="271399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611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174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28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1935">
                <a:tc>
                  <a:txBody>
                    <a:bodyPr/>
                    <a:lstStyle/>
                    <a:p>
                      <a:pPr>
                        <a:lnSpc>
                          <a:spcPts val="1125"/>
                        </a:lnSpc>
                      </a:pPr>
                      <a:r>
                        <a:rPr sz="115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Service</a:t>
                      </a:r>
                      <a:endParaRPr sz="11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ts val="1125"/>
                        </a:lnSpc>
                      </a:pPr>
                      <a:r>
                        <a:rPr sz="1150" b="1" spc="-2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Rôle</a:t>
                      </a:r>
                      <a:endParaRPr sz="11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1755">
                        <a:lnSpc>
                          <a:spcPts val="1125"/>
                        </a:lnSpc>
                      </a:pPr>
                      <a:r>
                        <a:rPr sz="115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Brique</a:t>
                      </a:r>
                      <a:endParaRPr sz="11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179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Ingestion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58419" marB="0">
                    <a:lnT w="9525">
                      <a:solidFill>
                        <a:srgbClr val="111111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3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Télémétrie</a:t>
                      </a:r>
                      <a:r>
                        <a:rPr sz="1300" spc="-6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de</a:t>
                      </a:r>
                      <a:r>
                        <a:rPr sz="1300" spc="-5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capteurs</a:t>
                      </a:r>
                      <a:r>
                        <a:rPr sz="1300" spc="-4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authentifiés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111111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1755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FastAPI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111111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179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Détection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Seuils</a:t>
                      </a:r>
                      <a:r>
                        <a:rPr sz="1300" spc="-9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:</a:t>
                      </a:r>
                      <a:r>
                        <a:rPr sz="1300" spc="3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3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une</a:t>
                      </a:r>
                      <a:r>
                        <a:rPr sz="1300" spc="-9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alerte</a:t>
                      </a:r>
                      <a:r>
                        <a:rPr sz="1300" spc="-10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par</a:t>
                      </a:r>
                      <a:r>
                        <a:rPr sz="1300" spc="-13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franchissement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1755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FastAPI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131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b="1" spc="-4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Séries</a:t>
                      </a:r>
                      <a:r>
                        <a:rPr sz="1300" b="1" spc="-8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30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temporelles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Historique</a:t>
                      </a:r>
                      <a:r>
                        <a:rPr sz="1300" spc="-8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des</a:t>
                      </a:r>
                      <a:r>
                        <a:rPr sz="1300" spc="-7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mesures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1755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InfluxDB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179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Alertes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État</a:t>
                      </a:r>
                      <a:r>
                        <a:rPr sz="1300" spc="-8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actif</a:t>
                      </a:r>
                      <a:r>
                        <a:rPr sz="1300" spc="-1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250" dirty="0">
                          <a:solidFill>
                            <a:srgbClr val="111111"/>
                          </a:solidFill>
                          <a:latin typeface="Microsoft Sans Serif"/>
                          <a:cs typeface="Microsoft Sans Serif"/>
                        </a:rPr>
                        <a:t>→</a:t>
                      </a:r>
                      <a:r>
                        <a:rPr sz="1250" spc="-55" dirty="0">
                          <a:solidFill>
                            <a:srgbClr val="111111"/>
                          </a:solidFill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acquitté,</a:t>
                      </a:r>
                      <a:r>
                        <a:rPr sz="1300" spc="1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partagé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1755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PostgreSQL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179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b="1" spc="-65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1300" b="1" spc="-75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300" b="1" spc="-2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réel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Pousser</a:t>
                      </a:r>
                      <a:r>
                        <a:rPr sz="1300" spc="-1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les</a:t>
                      </a:r>
                      <a:r>
                        <a:rPr sz="1300" spc="-7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alertes</a:t>
                      </a:r>
                      <a:r>
                        <a:rPr sz="1300" spc="-7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5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au</a:t>
                      </a:r>
                      <a:r>
                        <a:rPr sz="1300" spc="-3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navigateur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1755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WebSocket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179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Visualisation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4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Tableau</a:t>
                      </a:r>
                      <a:r>
                        <a:rPr sz="1300" spc="-6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de</a:t>
                      </a:r>
                      <a:r>
                        <a:rPr sz="1300" spc="-10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bord,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courbes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1755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Node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179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Répartition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3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Charge</a:t>
                      </a:r>
                      <a:r>
                        <a:rPr sz="1300" spc="-5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répartie</a:t>
                      </a:r>
                      <a:r>
                        <a:rPr sz="1300" spc="-4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entre</a:t>
                      </a:r>
                      <a:r>
                        <a:rPr sz="1300" spc="-5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répliques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1755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nginx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7" name="object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5333822"/>
              </p:ext>
            </p:extLst>
          </p:nvPr>
        </p:nvGraphicFramePr>
        <p:xfrm>
          <a:off x="6210299" y="2315209"/>
          <a:ext cx="5372733" cy="271398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420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29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577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62978">
                <a:tc>
                  <a:txBody>
                    <a:bodyPr/>
                    <a:lstStyle/>
                    <a:p>
                      <a:pPr>
                        <a:lnSpc>
                          <a:spcPts val="1125"/>
                        </a:lnSpc>
                      </a:pPr>
                      <a:r>
                        <a:rPr sz="115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Donnée</a:t>
                      </a:r>
                      <a:endParaRPr sz="11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63830">
                        <a:lnSpc>
                          <a:spcPts val="1125"/>
                        </a:lnSpc>
                      </a:pPr>
                      <a:r>
                        <a:rPr sz="115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Enjeu</a:t>
                      </a:r>
                      <a:endParaRPr sz="11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4930">
                        <a:lnSpc>
                          <a:spcPts val="1125"/>
                        </a:lnSpc>
                      </a:pPr>
                      <a:r>
                        <a:rPr sz="115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Protection</a:t>
                      </a:r>
                      <a:endParaRPr sz="11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016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Télémétrie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58419" marB="0">
                    <a:lnT w="9525">
                      <a:solidFill>
                        <a:srgbClr val="111111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63830" marR="67310">
                        <a:lnSpc>
                          <a:spcPct val="105800"/>
                        </a:lnSpc>
                        <a:spcBef>
                          <a:spcPts val="370"/>
                        </a:spcBef>
                      </a:pP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Intégrité</a:t>
                      </a:r>
                      <a:r>
                        <a:rPr sz="1300" spc="-9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:</a:t>
                      </a:r>
                      <a:r>
                        <a:rPr sz="1300" spc="3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3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une</a:t>
                      </a:r>
                      <a:r>
                        <a:rPr sz="1300" spc="-9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mesure</a:t>
                      </a:r>
                      <a:r>
                        <a:rPr sz="1300" spc="-9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falsifiée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masque</a:t>
                      </a:r>
                      <a:r>
                        <a:rPr sz="1300" spc="-6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3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une</a:t>
                      </a:r>
                      <a:r>
                        <a:rPr sz="1300" spc="-6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panne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46990" marB="0">
                    <a:lnT w="9525">
                      <a:solidFill>
                        <a:srgbClr val="111111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493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Capteurs</a:t>
                      </a:r>
                      <a:r>
                        <a:rPr sz="1300" spc="-5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authentifiés,</a:t>
                      </a:r>
                      <a:endParaRPr sz="1300">
                        <a:latin typeface="Arial MT"/>
                        <a:cs typeface="Arial MT"/>
                      </a:endParaRPr>
                    </a:p>
                    <a:p>
                      <a:pPr marL="74930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entrées</a:t>
                      </a:r>
                      <a:r>
                        <a:rPr sz="1300" spc="-5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validées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111111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439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b="1" spc="-55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Journal</a:t>
                      </a:r>
                      <a:r>
                        <a:rPr sz="1300" b="1" spc="2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300" b="1" spc="-25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des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16383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Registre</a:t>
                      </a:r>
                      <a:r>
                        <a:rPr sz="1300" spc="-6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de</a:t>
                      </a:r>
                      <a:r>
                        <a:rPr sz="1300" spc="-5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maintenance,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7493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Base</a:t>
                      </a:r>
                      <a:r>
                        <a:rPr sz="1300" spc="-10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interne,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non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6126">
                <a:tc>
                  <a:txBody>
                    <a:bodyPr/>
                    <a:lstStyle/>
                    <a:p>
                      <a:pPr>
                        <a:lnSpc>
                          <a:spcPts val="1540"/>
                        </a:lnSpc>
                      </a:pPr>
                      <a:r>
                        <a:rPr sz="130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alertes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63830">
                        <a:lnSpc>
                          <a:spcPts val="1540"/>
                        </a:lnSpc>
                      </a:pPr>
                      <a:r>
                        <a:rPr sz="1300" spc="-3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preuve</a:t>
                      </a:r>
                      <a:r>
                        <a:rPr sz="1300" spc="-7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4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en</a:t>
                      </a:r>
                      <a:r>
                        <a:rPr sz="1300" spc="-3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audit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0" marB="0"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4930">
                        <a:lnSpc>
                          <a:spcPts val="1540"/>
                        </a:lnSpc>
                      </a:pP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exposée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0" marB="0"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016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Secrets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63830" marR="270510">
                        <a:lnSpc>
                          <a:spcPct val="105800"/>
                        </a:lnSpc>
                        <a:spcBef>
                          <a:spcPts val="370"/>
                        </a:spcBef>
                      </a:pPr>
                      <a:r>
                        <a:rPr sz="1300" spc="-4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Tokens,</a:t>
                      </a:r>
                      <a:r>
                        <a:rPr sz="1300" spc="-3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mots</a:t>
                      </a:r>
                      <a:r>
                        <a:rPr sz="1300" spc="-10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de</a:t>
                      </a:r>
                      <a:r>
                        <a:rPr sz="1300" spc="-10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passe,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clé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des</a:t>
                      </a:r>
                      <a:r>
                        <a:rPr sz="1300" spc="-8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capteurs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46990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493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200" spc="-290" dirty="0">
                          <a:solidFill>
                            <a:srgbClr val="111111"/>
                          </a:solidFill>
                          <a:latin typeface="Lucida Console"/>
                          <a:cs typeface="Lucida Console"/>
                        </a:rPr>
                        <a:t>.</a:t>
                      </a:r>
                      <a:r>
                        <a:rPr sz="1200" spc="-509" dirty="0">
                          <a:solidFill>
                            <a:srgbClr val="111111"/>
                          </a:solidFill>
                          <a:latin typeface="Lucida Console"/>
                          <a:cs typeface="Lucida Console"/>
                        </a:rPr>
                        <a:t> </a:t>
                      </a:r>
                      <a:r>
                        <a:rPr sz="1200" spc="-90" dirty="0">
                          <a:solidFill>
                            <a:srgbClr val="111111"/>
                          </a:solidFill>
                          <a:latin typeface="Lucida Console"/>
                          <a:cs typeface="Lucida Console"/>
                        </a:rPr>
                        <a:t>env</a:t>
                      </a:r>
                      <a:r>
                        <a:rPr sz="1200" spc="-455" dirty="0">
                          <a:solidFill>
                            <a:srgbClr val="111111"/>
                          </a:solidFill>
                          <a:latin typeface="Lucida Console"/>
                          <a:cs typeface="Lucida Console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hors</a:t>
                      </a:r>
                      <a:r>
                        <a:rPr sz="1300" spc="-9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3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du</a:t>
                      </a:r>
                      <a:r>
                        <a:rPr sz="1300" spc="-5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dépôt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016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Seuils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63830" marR="249554">
                        <a:lnSpc>
                          <a:spcPct val="105800"/>
                        </a:lnSpc>
                        <a:spcBef>
                          <a:spcPts val="370"/>
                        </a:spcBef>
                      </a:pPr>
                      <a:r>
                        <a:rPr sz="1300" spc="-3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Un</a:t>
                      </a:r>
                      <a:r>
                        <a:rPr sz="1300" spc="-6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seuil</a:t>
                      </a:r>
                      <a:r>
                        <a:rPr sz="1300" spc="-1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erroné</a:t>
                      </a:r>
                      <a:r>
                        <a:rPr sz="1300" spc="-10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3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rend</a:t>
                      </a:r>
                      <a:r>
                        <a:rPr sz="1300" spc="-6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l’alerte muette</a:t>
                      </a:r>
                      <a:endParaRPr sz="1300" dirty="0">
                        <a:latin typeface="Arial MT"/>
                        <a:cs typeface="Arial MT"/>
                      </a:endParaRPr>
                    </a:p>
                  </a:txBody>
                  <a:tcPr marL="0" marR="0" marT="46990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493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3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Versionnés</a:t>
                      </a:r>
                      <a:r>
                        <a:rPr sz="1300" spc="-6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avec</a:t>
                      </a:r>
                      <a:r>
                        <a:rPr sz="1300" spc="-7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le</a:t>
                      </a:r>
                      <a:r>
                        <a:rPr sz="1300" spc="-7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code</a:t>
                      </a:r>
                      <a:endParaRPr sz="1300" dirty="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object 9"/>
          <p:cNvSpPr txBox="1"/>
          <p:nvPr/>
        </p:nvSpPr>
        <p:spPr>
          <a:xfrm>
            <a:off x="3506786" y="5334347"/>
            <a:ext cx="5178425" cy="47532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ctr">
              <a:lnSpc>
                <a:spcPct val="111600"/>
              </a:lnSpc>
              <a:spcBef>
                <a:spcPts val="95"/>
              </a:spcBef>
            </a:pPr>
            <a:r>
              <a:rPr sz="1400" spc="-30" dirty="0">
                <a:solidFill>
                  <a:srgbClr val="4A4A4A"/>
                </a:solidFill>
                <a:latin typeface="Arial MT"/>
                <a:cs typeface="Arial MT"/>
              </a:rPr>
              <a:t>Exigences</a:t>
            </a:r>
            <a:r>
              <a:rPr sz="1400" spc="-8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400" spc="-35" dirty="0">
                <a:solidFill>
                  <a:srgbClr val="4A4A4A"/>
                </a:solidFill>
                <a:latin typeface="Arial MT"/>
                <a:cs typeface="Arial MT"/>
              </a:rPr>
              <a:t>transverses</a:t>
            </a:r>
            <a:r>
              <a:rPr sz="1400" spc="-8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400" spc="-120" dirty="0">
                <a:solidFill>
                  <a:srgbClr val="4A4A4A"/>
                </a:solidFill>
                <a:latin typeface="Arial MT"/>
                <a:cs typeface="Arial MT"/>
              </a:rPr>
              <a:t>:</a:t>
            </a:r>
            <a:r>
              <a:rPr sz="1400" spc="5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400" spc="-25" dirty="0">
                <a:solidFill>
                  <a:srgbClr val="4A4A4A"/>
                </a:solidFill>
                <a:latin typeface="Arial MT"/>
                <a:cs typeface="Arial MT"/>
              </a:rPr>
              <a:t>montée</a:t>
            </a:r>
            <a:r>
              <a:rPr sz="1400" spc="-9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400" spc="-45" dirty="0">
                <a:solidFill>
                  <a:srgbClr val="4A4A4A"/>
                </a:solidFill>
                <a:latin typeface="Arial MT"/>
                <a:cs typeface="Arial MT"/>
              </a:rPr>
              <a:t>en </a:t>
            </a:r>
            <a:r>
              <a:rPr sz="1400" spc="-35" dirty="0">
                <a:solidFill>
                  <a:srgbClr val="4A4A4A"/>
                </a:solidFill>
                <a:latin typeface="Arial MT"/>
                <a:cs typeface="Arial MT"/>
              </a:rPr>
              <a:t>charge</a:t>
            </a:r>
            <a:r>
              <a:rPr sz="1400" spc="-9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4A4A4A"/>
                </a:solidFill>
                <a:latin typeface="Arial MT"/>
                <a:cs typeface="Arial MT"/>
              </a:rPr>
              <a:t>horizontale,</a:t>
            </a:r>
            <a:r>
              <a:rPr sz="1400" spc="4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4A4A4A"/>
                </a:solidFill>
                <a:latin typeface="Arial MT"/>
                <a:cs typeface="Arial MT"/>
              </a:rPr>
              <a:t>redémarrage </a:t>
            </a:r>
            <a:r>
              <a:rPr sz="1400" spc="-30" dirty="0">
                <a:solidFill>
                  <a:srgbClr val="4A4A4A"/>
                </a:solidFill>
                <a:latin typeface="Arial MT"/>
                <a:cs typeface="Arial MT"/>
              </a:rPr>
              <a:t>automatique,</a:t>
            </a:r>
            <a:r>
              <a:rPr sz="1400" spc="3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400" spc="-40" dirty="0">
                <a:solidFill>
                  <a:srgbClr val="4A4A4A"/>
                </a:solidFill>
                <a:latin typeface="Arial MT"/>
                <a:cs typeface="Arial MT"/>
              </a:rPr>
              <a:t>démarrage</a:t>
            </a:r>
            <a:r>
              <a:rPr sz="1400" spc="-9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400" spc="-45" dirty="0">
                <a:solidFill>
                  <a:srgbClr val="4A4A4A"/>
                </a:solidFill>
                <a:latin typeface="Arial MT"/>
                <a:cs typeface="Arial MT"/>
              </a:rPr>
              <a:t>en</a:t>
            </a:r>
            <a:r>
              <a:rPr sz="1400" spc="-5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400" spc="-35" dirty="0">
                <a:solidFill>
                  <a:srgbClr val="4A4A4A"/>
                </a:solidFill>
                <a:latin typeface="Arial MT"/>
                <a:cs typeface="Arial MT"/>
              </a:rPr>
              <a:t>une</a:t>
            </a:r>
            <a:r>
              <a:rPr sz="1400" spc="-10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4A4A4A"/>
                </a:solidFill>
                <a:latin typeface="Arial MT"/>
                <a:cs typeface="Arial MT"/>
              </a:rPr>
              <a:t>commande.</a:t>
            </a:r>
            <a:endParaRPr sz="1400" dirty="0">
              <a:latin typeface="Arial MT"/>
              <a:cs typeface="Arial MT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609599" y="6229348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10972799" y="9524"/>
                </a:moveTo>
                <a:lnTo>
                  <a:pt x="0" y="9524"/>
                </a:lnTo>
                <a:lnTo>
                  <a:pt x="0" y="0"/>
                </a:lnTo>
                <a:lnTo>
                  <a:pt x="10972799" y="0"/>
                </a:lnTo>
                <a:lnTo>
                  <a:pt x="10972799" y="9524"/>
                </a:lnTo>
                <a:close/>
              </a:path>
            </a:pathLst>
          </a:custGeom>
          <a:solidFill>
            <a:srgbClr val="D5D5D5"/>
          </a:solidFill>
        </p:spPr>
        <p:txBody>
          <a:bodyPr wrap="square" lIns="0" tIns="0" rIns="0" bIns="0" rtlCol="0"/>
          <a:lstStyle/>
          <a:p>
            <a:pPr algn="l" rtl="0"/>
            <a:endParaRPr/>
          </a:p>
        </p:txBody>
      </p:sp>
      <p:sp>
        <p:nvSpPr>
          <p:cNvPr id="11" name="object 11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005"/>
              </a:lnSpc>
            </a:pPr>
            <a:r>
              <a:rPr spc="-25" dirty="0"/>
              <a:t>FactorySense</a:t>
            </a:r>
          </a:p>
        </p:txBody>
      </p:sp>
      <p:sp>
        <p:nvSpPr>
          <p:cNvPr id="12" name="object 12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3500">
              <a:lnSpc>
                <a:spcPts val="1005"/>
              </a:lnSpc>
            </a:pPr>
            <a:r>
              <a:rPr spc="-35" dirty="0"/>
              <a:t>2</a:t>
            </a:r>
            <a:r>
              <a:rPr spc="-70" dirty="0"/>
              <a:t> </a:t>
            </a:r>
            <a:r>
              <a:rPr dirty="0"/>
              <a:t>/</a:t>
            </a:r>
            <a:r>
              <a:rPr spc="-85" dirty="0"/>
              <a:t> </a:t>
            </a:r>
            <a:r>
              <a:rPr spc="-50" dirty="0"/>
              <a:t>4</a:t>
            </a: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4661DE57-0521-071E-41E3-88903679B4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88700" y="103820"/>
            <a:ext cx="812242" cy="114363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object 62"/>
          <p:cNvSpPr txBox="1"/>
          <p:nvPr/>
        </p:nvSpPr>
        <p:spPr>
          <a:xfrm>
            <a:off x="939799" y="5396810"/>
            <a:ext cx="5180330" cy="61849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344930">
              <a:lnSpc>
                <a:spcPct val="100000"/>
              </a:lnSpc>
              <a:spcBef>
                <a:spcPts val="110"/>
              </a:spcBef>
            </a:pPr>
            <a:r>
              <a:rPr sz="1100" spc="-35" dirty="0">
                <a:solidFill>
                  <a:srgbClr val="4A4A4A"/>
                </a:solidFill>
                <a:latin typeface="Arial MT"/>
                <a:cs typeface="Arial MT"/>
              </a:rPr>
              <a:t>Réplique</a:t>
            </a:r>
            <a:r>
              <a:rPr sz="1100" spc="-6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spc="-35" dirty="0">
                <a:solidFill>
                  <a:srgbClr val="4A4A4A"/>
                </a:solidFill>
                <a:latin typeface="Arial MT"/>
                <a:cs typeface="Arial MT"/>
              </a:rPr>
              <a:t>de</a:t>
            </a:r>
            <a:r>
              <a:rPr sz="1100" spc="-6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rgbClr val="4A4A4A"/>
                </a:solidFill>
                <a:latin typeface="Arial MT"/>
                <a:cs typeface="Arial MT"/>
              </a:rPr>
              <a:t>l’historique,</a:t>
            </a:r>
            <a:r>
              <a:rPr sz="1100" spc="5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rgbClr val="4A4A4A"/>
                </a:solidFill>
                <a:latin typeface="Arial MT"/>
                <a:cs typeface="Arial MT"/>
              </a:rPr>
              <a:t>consultation </a:t>
            </a:r>
            <a:r>
              <a:rPr sz="1100" spc="-20" dirty="0">
                <a:solidFill>
                  <a:srgbClr val="4A4A4A"/>
                </a:solidFill>
                <a:latin typeface="Arial MT"/>
                <a:cs typeface="Arial MT"/>
              </a:rPr>
              <a:t>hors</a:t>
            </a:r>
            <a:r>
              <a:rPr sz="1100" spc="-5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rgbClr val="4A4A4A"/>
                </a:solidFill>
                <a:latin typeface="Arial MT"/>
                <a:cs typeface="Arial MT"/>
              </a:rPr>
              <a:t>site,</a:t>
            </a:r>
            <a:r>
              <a:rPr sz="1100" spc="5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spc="-30" dirty="0">
                <a:solidFill>
                  <a:srgbClr val="4A4A4A"/>
                </a:solidFill>
                <a:latin typeface="Arial MT"/>
                <a:cs typeface="Arial MT"/>
              </a:rPr>
              <a:t>bases</a:t>
            </a:r>
            <a:r>
              <a:rPr sz="1100" spc="-5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4A4A4A"/>
                </a:solidFill>
                <a:latin typeface="Arial MT"/>
                <a:cs typeface="Arial MT"/>
              </a:rPr>
              <a:t>managées</a:t>
            </a:r>
            <a:endParaRPr sz="1100" dirty="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740"/>
              </a:spcBef>
            </a:pPr>
            <a:endParaRPr sz="1050" dirty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tabLst>
                <a:tab pos="2863215" algn="l"/>
              </a:tabLst>
            </a:pPr>
            <a:r>
              <a:rPr lang="fr-FR" sz="1150" spc="-20" dirty="0">
                <a:solidFill>
                  <a:srgbClr val="4A4A4A"/>
                </a:solidFill>
                <a:latin typeface="Arial MT"/>
                <a:cs typeface="Arial MT"/>
              </a:rPr>
              <a:t>S</a:t>
            </a:r>
            <a:r>
              <a:rPr sz="1150" spc="-20" dirty="0" err="1">
                <a:solidFill>
                  <a:srgbClr val="4A4A4A"/>
                </a:solidFill>
                <a:latin typeface="Arial MT"/>
                <a:cs typeface="Arial MT"/>
              </a:rPr>
              <a:t>ans</a:t>
            </a:r>
            <a:r>
              <a:rPr sz="1150" spc="-7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50" spc="-10" dirty="0">
                <a:solidFill>
                  <a:srgbClr val="4A4A4A"/>
                </a:solidFill>
                <a:latin typeface="Arial MT"/>
                <a:cs typeface="Arial MT"/>
              </a:rPr>
              <a:t>état</a:t>
            </a:r>
            <a:r>
              <a:rPr lang="fr-FR" sz="1150" spc="-65" dirty="0">
                <a:solidFill>
                  <a:srgbClr val="4A4A4A"/>
                </a:solidFill>
                <a:latin typeface="Arial MT"/>
                <a:cs typeface="Arial MT"/>
              </a:rPr>
              <a:t>, </a:t>
            </a:r>
            <a:r>
              <a:rPr sz="1150" spc="-20" dirty="0">
                <a:solidFill>
                  <a:srgbClr val="4A4A4A"/>
                </a:solidFill>
                <a:latin typeface="Arial MT"/>
                <a:cs typeface="Arial MT"/>
              </a:rPr>
              <a:t>se</a:t>
            </a:r>
            <a:r>
              <a:rPr sz="1150" spc="-7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50" spc="-20" dirty="0">
                <a:solidFill>
                  <a:srgbClr val="4A4A4A"/>
                </a:solidFill>
                <a:latin typeface="Arial MT"/>
                <a:cs typeface="Arial MT"/>
              </a:rPr>
              <a:t>réplique</a:t>
            </a:r>
            <a:r>
              <a:rPr sz="1150" spc="-7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50" spc="-25" dirty="0">
                <a:solidFill>
                  <a:srgbClr val="4A4A4A"/>
                </a:solidFill>
                <a:latin typeface="Arial MT"/>
                <a:cs typeface="Arial MT"/>
              </a:rPr>
              <a:t>avec</a:t>
            </a:r>
            <a:r>
              <a:rPr sz="1150" spc="-7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575" spc="-127" baseline="2645" dirty="0">
                <a:solidFill>
                  <a:srgbClr val="4A4A4A"/>
                </a:solidFill>
                <a:latin typeface="Lucida Console"/>
                <a:cs typeface="Lucida Console"/>
              </a:rPr>
              <a:t>-</a:t>
            </a:r>
            <a:r>
              <a:rPr sz="1575" spc="-262" baseline="2645" dirty="0">
                <a:solidFill>
                  <a:srgbClr val="4A4A4A"/>
                </a:solidFill>
                <a:latin typeface="Lucida Console"/>
                <a:cs typeface="Lucida Console"/>
              </a:rPr>
              <a:t>-</a:t>
            </a:r>
            <a:r>
              <a:rPr sz="1575" spc="-794" baseline="2645" dirty="0">
                <a:solidFill>
                  <a:srgbClr val="4A4A4A"/>
                </a:solidFill>
                <a:latin typeface="Lucida Console"/>
                <a:cs typeface="Lucida Console"/>
              </a:rPr>
              <a:t> </a:t>
            </a:r>
            <a:r>
              <a:rPr sz="1575" spc="-30" baseline="2645" dirty="0">
                <a:solidFill>
                  <a:srgbClr val="4A4A4A"/>
                </a:solidFill>
                <a:latin typeface="Lucida Console"/>
                <a:cs typeface="Lucida Console"/>
              </a:rPr>
              <a:t>scale</a:t>
            </a:r>
            <a:r>
              <a:rPr sz="1575" baseline="2645" dirty="0">
                <a:solidFill>
                  <a:srgbClr val="4A4A4A"/>
                </a:solidFill>
                <a:latin typeface="Lucida Console"/>
                <a:cs typeface="Lucida Console"/>
              </a:rPr>
              <a:t>	</a:t>
            </a:r>
            <a:r>
              <a:rPr lang="fr-FR" sz="1575" baseline="2645" dirty="0">
                <a:solidFill>
                  <a:srgbClr val="4A4A4A"/>
                </a:solidFill>
                <a:latin typeface="Lucida Console"/>
                <a:cs typeface="Lucida Console"/>
              </a:rPr>
              <a:t>A</a:t>
            </a:r>
            <a:r>
              <a:rPr sz="1150" spc="-25" dirty="0" err="1">
                <a:solidFill>
                  <a:srgbClr val="4A4A4A"/>
                </a:solidFill>
                <a:latin typeface="Arial MT"/>
                <a:cs typeface="Arial MT"/>
              </a:rPr>
              <a:t>vec</a:t>
            </a:r>
            <a:r>
              <a:rPr sz="1150" spc="-8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50" spc="-10" dirty="0">
                <a:solidFill>
                  <a:srgbClr val="4A4A4A"/>
                </a:solidFill>
                <a:latin typeface="Arial MT"/>
                <a:cs typeface="Arial MT"/>
              </a:rPr>
              <a:t>état</a:t>
            </a:r>
            <a:r>
              <a:rPr sz="1150" spc="-7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lang="fr-FR" sz="1150" spc="-130" dirty="0">
                <a:solidFill>
                  <a:srgbClr val="4A4A4A"/>
                </a:solidFill>
                <a:latin typeface="Arial MT"/>
                <a:cs typeface="Arial MT"/>
              </a:rPr>
              <a:t> -  </a:t>
            </a:r>
            <a:r>
              <a:rPr sz="1150" spc="-10" dirty="0">
                <a:solidFill>
                  <a:srgbClr val="4A4A4A"/>
                </a:solidFill>
                <a:latin typeface="Arial MT"/>
                <a:cs typeface="Arial MT"/>
              </a:rPr>
              <a:t>volume</a:t>
            </a:r>
            <a:r>
              <a:rPr sz="1150" spc="-8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50" spc="-10" dirty="0">
                <a:solidFill>
                  <a:srgbClr val="4A4A4A"/>
                </a:solidFill>
                <a:latin typeface="Arial MT"/>
                <a:cs typeface="Arial MT"/>
              </a:rPr>
              <a:t>persistant</a:t>
            </a:r>
            <a:endParaRPr sz="1150" dirty="0">
              <a:latin typeface="Arial MT"/>
              <a:cs typeface="Arial MT"/>
            </a:endParaRPr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596899" y="620676"/>
            <a:ext cx="6407784" cy="548227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1878964" algn="l"/>
              </a:tabLst>
            </a:pPr>
            <a:r>
              <a:rPr spc="-45" dirty="0"/>
              <a:t>Architecture</a:t>
            </a:r>
            <a:r>
              <a:rPr spc="-470" dirty="0"/>
              <a:t> </a:t>
            </a:r>
            <a:r>
              <a:rPr spc="-30" dirty="0"/>
              <a:t>proposée</a:t>
            </a:r>
            <a:endParaRPr sz="7300" dirty="0"/>
          </a:p>
        </p:txBody>
      </p:sp>
      <p:sp>
        <p:nvSpPr>
          <p:cNvPr id="3" name="object 3"/>
          <p:cNvSpPr/>
          <p:nvPr/>
        </p:nvSpPr>
        <p:spPr>
          <a:xfrm>
            <a:off x="2172500" y="1708961"/>
            <a:ext cx="4711700" cy="3270250"/>
          </a:xfrm>
          <a:custGeom>
            <a:avLst/>
            <a:gdLst/>
            <a:ahLst/>
            <a:cxnLst/>
            <a:rect l="l" t="t" r="r" b="b"/>
            <a:pathLst>
              <a:path w="4711700" h="3270250">
                <a:moveTo>
                  <a:pt x="94581" y="9007"/>
                </a:moveTo>
                <a:lnTo>
                  <a:pt x="67558" y="9007"/>
                </a:lnTo>
                <a:lnTo>
                  <a:pt x="67558" y="0"/>
                </a:lnTo>
                <a:lnTo>
                  <a:pt x="94581" y="0"/>
                </a:lnTo>
                <a:lnTo>
                  <a:pt x="94581" y="9007"/>
                </a:lnTo>
                <a:close/>
              </a:path>
              <a:path w="4711700" h="3270250">
                <a:moveTo>
                  <a:pt x="157636" y="9007"/>
                </a:moveTo>
                <a:lnTo>
                  <a:pt x="130612" y="9007"/>
                </a:lnTo>
                <a:lnTo>
                  <a:pt x="130612" y="0"/>
                </a:lnTo>
                <a:lnTo>
                  <a:pt x="157636" y="0"/>
                </a:lnTo>
                <a:lnTo>
                  <a:pt x="157636" y="9007"/>
                </a:lnTo>
                <a:close/>
              </a:path>
              <a:path w="4711700" h="3270250">
                <a:moveTo>
                  <a:pt x="220690" y="9007"/>
                </a:moveTo>
                <a:lnTo>
                  <a:pt x="193667" y="9007"/>
                </a:lnTo>
                <a:lnTo>
                  <a:pt x="193667" y="0"/>
                </a:lnTo>
                <a:lnTo>
                  <a:pt x="220690" y="0"/>
                </a:lnTo>
                <a:lnTo>
                  <a:pt x="220690" y="9007"/>
                </a:lnTo>
                <a:close/>
              </a:path>
              <a:path w="4711700" h="3270250">
                <a:moveTo>
                  <a:pt x="283745" y="9007"/>
                </a:moveTo>
                <a:lnTo>
                  <a:pt x="256721" y="9007"/>
                </a:lnTo>
                <a:lnTo>
                  <a:pt x="256721" y="0"/>
                </a:lnTo>
                <a:lnTo>
                  <a:pt x="283745" y="0"/>
                </a:lnTo>
                <a:lnTo>
                  <a:pt x="283745" y="9007"/>
                </a:lnTo>
                <a:close/>
              </a:path>
              <a:path w="4711700" h="3270250">
                <a:moveTo>
                  <a:pt x="346799" y="9007"/>
                </a:moveTo>
                <a:lnTo>
                  <a:pt x="319776" y="9007"/>
                </a:lnTo>
                <a:lnTo>
                  <a:pt x="319776" y="0"/>
                </a:lnTo>
                <a:lnTo>
                  <a:pt x="346799" y="0"/>
                </a:lnTo>
                <a:lnTo>
                  <a:pt x="346799" y="9007"/>
                </a:lnTo>
                <a:close/>
              </a:path>
              <a:path w="4711700" h="3270250">
                <a:moveTo>
                  <a:pt x="409854" y="9007"/>
                </a:moveTo>
                <a:lnTo>
                  <a:pt x="382831" y="9007"/>
                </a:lnTo>
                <a:lnTo>
                  <a:pt x="382831" y="0"/>
                </a:lnTo>
                <a:lnTo>
                  <a:pt x="409854" y="0"/>
                </a:lnTo>
                <a:lnTo>
                  <a:pt x="409854" y="9007"/>
                </a:lnTo>
                <a:close/>
              </a:path>
              <a:path w="4711700" h="3270250">
                <a:moveTo>
                  <a:pt x="472908" y="9007"/>
                </a:moveTo>
                <a:lnTo>
                  <a:pt x="445885" y="9007"/>
                </a:lnTo>
                <a:lnTo>
                  <a:pt x="445885" y="0"/>
                </a:lnTo>
                <a:lnTo>
                  <a:pt x="472908" y="0"/>
                </a:lnTo>
                <a:lnTo>
                  <a:pt x="472908" y="9007"/>
                </a:lnTo>
                <a:close/>
              </a:path>
              <a:path w="4711700" h="3270250">
                <a:moveTo>
                  <a:pt x="535963" y="9007"/>
                </a:moveTo>
                <a:lnTo>
                  <a:pt x="508940" y="9007"/>
                </a:lnTo>
                <a:lnTo>
                  <a:pt x="508940" y="0"/>
                </a:lnTo>
                <a:lnTo>
                  <a:pt x="535963" y="0"/>
                </a:lnTo>
                <a:lnTo>
                  <a:pt x="535963" y="9007"/>
                </a:lnTo>
                <a:close/>
              </a:path>
              <a:path w="4711700" h="3270250">
                <a:moveTo>
                  <a:pt x="599017" y="9007"/>
                </a:moveTo>
                <a:lnTo>
                  <a:pt x="571994" y="9007"/>
                </a:lnTo>
                <a:lnTo>
                  <a:pt x="571994" y="0"/>
                </a:lnTo>
                <a:lnTo>
                  <a:pt x="599017" y="0"/>
                </a:lnTo>
                <a:lnTo>
                  <a:pt x="599017" y="9007"/>
                </a:lnTo>
                <a:close/>
              </a:path>
              <a:path w="4711700" h="3270250">
                <a:moveTo>
                  <a:pt x="662072" y="9007"/>
                </a:moveTo>
                <a:lnTo>
                  <a:pt x="635049" y="9007"/>
                </a:lnTo>
                <a:lnTo>
                  <a:pt x="635049" y="0"/>
                </a:lnTo>
                <a:lnTo>
                  <a:pt x="662072" y="0"/>
                </a:lnTo>
                <a:lnTo>
                  <a:pt x="662072" y="9007"/>
                </a:lnTo>
                <a:close/>
              </a:path>
              <a:path w="4711700" h="3270250">
                <a:moveTo>
                  <a:pt x="725127" y="9007"/>
                </a:moveTo>
                <a:lnTo>
                  <a:pt x="698103" y="9007"/>
                </a:lnTo>
                <a:lnTo>
                  <a:pt x="698103" y="0"/>
                </a:lnTo>
                <a:lnTo>
                  <a:pt x="725127" y="0"/>
                </a:lnTo>
                <a:lnTo>
                  <a:pt x="725127" y="9007"/>
                </a:lnTo>
                <a:close/>
              </a:path>
              <a:path w="4711700" h="3270250">
                <a:moveTo>
                  <a:pt x="788181" y="9007"/>
                </a:moveTo>
                <a:lnTo>
                  <a:pt x="761158" y="9007"/>
                </a:lnTo>
                <a:lnTo>
                  <a:pt x="761158" y="0"/>
                </a:lnTo>
                <a:lnTo>
                  <a:pt x="788181" y="0"/>
                </a:lnTo>
                <a:lnTo>
                  <a:pt x="788181" y="9007"/>
                </a:lnTo>
                <a:close/>
              </a:path>
              <a:path w="4711700" h="3270250">
                <a:moveTo>
                  <a:pt x="851236" y="9007"/>
                </a:moveTo>
                <a:lnTo>
                  <a:pt x="824212" y="9007"/>
                </a:lnTo>
                <a:lnTo>
                  <a:pt x="824212" y="0"/>
                </a:lnTo>
                <a:lnTo>
                  <a:pt x="851236" y="0"/>
                </a:lnTo>
                <a:lnTo>
                  <a:pt x="851236" y="9007"/>
                </a:lnTo>
                <a:close/>
              </a:path>
              <a:path w="4711700" h="3270250">
                <a:moveTo>
                  <a:pt x="914290" y="9007"/>
                </a:moveTo>
                <a:lnTo>
                  <a:pt x="887267" y="9007"/>
                </a:lnTo>
                <a:lnTo>
                  <a:pt x="887267" y="0"/>
                </a:lnTo>
                <a:lnTo>
                  <a:pt x="914290" y="0"/>
                </a:lnTo>
                <a:lnTo>
                  <a:pt x="914290" y="9007"/>
                </a:lnTo>
                <a:close/>
              </a:path>
              <a:path w="4711700" h="3270250">
                <a:moveTo>
                  <a:pt x="977345" y="9007"/>
                </a:moveTo>
                <a:lnTo>
                  <a:pt x="950321" y="9007"/>
                </a:lnTo>
                <a:lnTo>
                  <a:pt x="950321" y="0"/>
                </a:lnTo>
                <a:lnTo>
                  <a:pt x="977345" y="0"/>
                </a:lnTo>
                <a:lnTo>
                  <a:pt x="977345" y="9007"/>
                </a:lnTo>
                <a:close/>
              </a:path>
              <a:path w="4711700" h="3270250">
                <a:moveTo>
                  <a:pt x="1040399" y="9007"/>
                </a:moveTo>
                <a:lnTo>
                  <a:pt x="1013376" y="9007"/>
                </a:lnTo>
                <a:lnTo>
                  <a:pt x="1013376" y="0"/>
                </a:lnTo>
                <a:lnTo>
                  <a:pt x="1040399" y="0"/>
                </a:lnTo>
                <a:lnTo>
                  <a:pt x="1040399" y="9007"/>
                </a:lnTo>
                <a:close/>
              </a:path>
              <a:path w="4711700" h="3270250">
                <a:moveTo>
                  <a:pt x="1103454" y="9007"/>
                </a:moveTo>
                <a:lnTo>
                  <a:pt x="1076430" y="9007"/>
                </a:lnTo>
                <a:lnTo>
                  <a:pt x="1076430" y="0"/>
                </a:lnTo>
                <a:lnTo>
                  <a:pt x="1103454" y="0"/>
                </a:lnTo>
                <a:lnTo>
                  <a:pt x="1103454" y="9007"/>
                </a:lnTo>
                <a:close/>
              </a:path>
              <a:path w="4711700" h="3270250">
                <a:moveTo>
                  <a:pt x="1166508" y="9007"/>
                </a:moveTo>
                <a:lnTo>
                  <a:pt x="1139485" y="9007"/>
                </a:lnTo>
                <a:lnTo>
                  <a:pt x="1139485" y="0"/>
                </a:lnTo>
                <a:lnTo>
                  <a:pt x="1166508" y="0"/>
                </a:lnTo>
                <a:lnTo>
                  <a:pt x="1166508" y="9007"/>
                </a:lnTo>
                <a:close/>
              </a:path>
              <a:path w="4711700" h="3270250">
                <a:moveTo>
                  <a:pt x="1229563" y="9007"/>
                </a:moveTo>
                <a:lnTo>
                  <a:pt x="1202539" y="9007"/>
                </a:lnTo>
                <a:lnTo>
                  <a:pt x="1202539" y="0"/>
                </a:lnTo>
                <a:lnTo>
                  <a:pt x="1229563" y="0"/>
                </a:lnTo>
                <a:lnTo>
                  <a:pt x="1229563" y="9007"/>
                </a:lnTo>
                <a:close/>
              </a:path>
              <a:path w="4711700" h="3270250">
                <a:moveTo>
                  <a:pt x="1292617" y="9007"/>
                </a:moveTo>
                <a:lnTo>
                  <a:pt x="1265594" y="9007"/>
                </a:lnTo>
                <a:lnTo>
                  <a:pt x="1265594" y="0"/>
                </a:lnTo>
                <a:lnTo>
                  <a:pt x="1292617" y="0"/>
                </a:lnTo>
                <a:lnTo>
                  <a:pt x="1292617" y="9007"/>
                </a:lnTo>
                <a:close/>
              </a:path>
              <a:path w="4711700" h="3270250">
                <a:moveTo>
                  <a:pt x="1355672" y="9007"/>
                </a:moveTo>
                <a:lnTo>
                  <a:pt x="1328648" y="9007"/>
                </a:lnTo>
                <a:lnTo>
                  <a:pt x="1328648" y="0"/>
                </a:lnTo>
                <a:lnTo>
                  <a:pt x="1355672" y="0"/>
                </a:lnTo>
                <a:lnTo>
                  <a:pt x="1355672" y="9007"/>
                </a:lnTo>
                <a:close/>
              </a:path>
              <a:path w="4711700" h="3270250">
                <a:moveTo>
                  <a:pt x="1418726" y="9007"/>
                </a:moveTo>
                <a:lnTo>
                  <a:pt x="1391703" y="9007"/>
                </a:lnTo>
                <a:lnTo>
                  <a:pt x="1391703" y="0"/>
                </a:lnTo>
                <a:lnTo>
                  <a:pt x="1418726" y="0"/>
                </a:lnTo>
                <a:lnTo>
                  <a:pt x="1418726" y="9007"/>
                </a:lnTo>
                <a:close/>
              </a:path>
              <a:path w="4711700" h="3270250">
                <a:moveTo>
                  <a:pt x="1481781" y="9007"/>
                </a:moveTo>
                <a:lnTo>
                  <a:pt x="1454757" y="9007"/>
                </a:lnTo>
                <a:lnTo>
                  <a:pt x="1454757" y="0"/>
                </a:lnTo>
                <a:lnTo>
                  <a:pt x="1481781" y="0"/>
                </a:lnTo>
                <a:lnTo>
                  <a:pt x="1481781" y="9007"/>
                </a:lnTo>
                <a:close/>
              </a:path>
              <a:path w="4711700" h="3270250">
                <a:moveTo>
                  <a:pt x="1544835" y="9007"/>
                </a:moveTo>
                <a:lnTo>
                  <a:pt x="1517812" y="9007"/>
                </a:lnTo>
                <a:lnTo>
                  <a:pt x="1517812" y="0"/>
                </a:lnTo>
                <a:lnTo>
                  <a:pt x="1544835" y="0"/>
                </a:lnTo>
                <a:lnTo>
                  <a:pt x="1544835" y="9007"/>
                </a:lnTo>
                <a:close/>
              </a:path>
              <a:path w="4711700" h="3270250">
                <a:moveTo>
                  <a:pt x="1607890" y="9007"/>
                </a:moveTo>
                <a:lnTo>
                  <a:pt x="1580866" y="9007"/>
                </a:lnTo>
                <a:lnTo>
                  <a:pt x="1580866" y="0"/>
                </a:lnTo>
                <a:lnTo>
                  <a:pt x="1607890" y="0"/>
                </a:lnTo>
                <a:lnTo>
                  <a:pt x="1607890" y="9007"/>
                </a:lnTo>
                <a:close/>
              </a:path>
              <a:path w="4711700" h="3270250">
                <a:moveTo>
                  <a:pt x="1670944" y="9007"/>
                </a:moveTo>
                <a:lnTo>
                  <a:pt x="1643921" y="9007"/>
                </a:lnTo>
                <a:lnTo>
                  <a:pt x="1643921" y="0"/>
                </a:lnTo>
                <a:lnTo>
                  <a:pt x="1670944" y="0"/>
                </a:lnTo>
                <a:lnTo>
                  <a:pt x="1670944" y="9007"/>
                </a:lnTo>
                <a:close/>
              </a:path>
              <a:path w="4711700" h="3270250">
                <a:moveTo>
                  <a:pt x="1733999" y="9007"/>
                </a:moveTo>
                <a:lnTo>
                  <a:pt x="1706976" y="9007"/>
                </a:lnTo>
                <a:lnTo>
                  <a:pt x="1706976" y="0"/>
                </a:lnTo>
                <a:lnTo>
                  <a:pt x="1733999" y="0"/>
                </a:lnTo>
                <a:lnTo>
                  <a:pt x="1733999" y="9007"/>
                </a:lnTo>
                <a:close/>
              </a:path>
              <a:path w="4711700" h="3270250">
                <a:moveTo>
                  <a:pt x="1797053" y="9007"/>
                </a:moveTo>
                <a:lnTo>
                  <a:pt x="1770030" y="9007"/>
                </a:lnTo>
                <a:lnTo>
                  <a:pt x="1770030" y="0"/>
                </a:lnTo>
                <a:lnTo>
                  <a:pt x="1797053" y="0"/>
                </a:lnTo>
                <a:lnTo>
                  <a:pt x="1797053" y="9007"/>
                </a:lnTo>
                <a:close/>
              </a:path>
              <a:path w="4711700" h="3270250">
                <a:moveTo>
                  <a:pt x="1860108" y="9007"/>
                </a:moveTo>
                <a:lnTo>
                  <a:pt x="1833085" y="9007"/>
                </a:lnTo>
                <a:lnTo>
                  <a:pt x="1833085" y="0"/>
                </a:lnTo>
                <a:lnTo>
                  <a:pt x="1860108" y="0"/>
                </a:lnTo>
                <a:lnTo>
                  <a:pt x="1860108" y="9007"/>
                </a:lnTo>
                <a:close/>
              </a:path>
              <a:path w="4711700" h="3270250">
                <a:moveTo>
                  <a:pt x="1923162" y="9007"/>
                </a:moveTo>
                <a:lnTo>
                  <a:pt x="1896139" y="9007"/>
                </a:lnTo>
                <a:lnTo>
                  <a:pt x="1896139" y="0"/>
                </a:lnTo>
                <a:lnTo>
                  <a:pt x="1923162" y="0"/>
                </a:lnTo>
                <a:lnTo>
                  <a:pt x="1923162" y="9007"/>
                </a:lnTo>
                <a:close/>
              </a:path>
              <a:path w="4711700" h="3270250">
                <a:moveTo>
                  <a:pt x="1986217" y="9007"/>
                </a:moveTo>
                <a:lnTo>
                  <a:pt x="1959194" y="9007"/>
                </a:lnTo>
                <a:lnTo>
                  <a:pt x="1959194" y="0"/>
                </a:lnTo>
                <a:lnTo>
                  <a:pt x="1986217" y="0"/>
                </a:lnTo>
                <a:lnTo>
                  <a:pt x="1986217" y="9007"/>
                </a:lnTo>
                <a:close/>
              </a:path>
              <a:path w="4711700" h="3270250">
                <a:moveTo>
                  <a:pt x="2049272" y="9007"/>
                </a:moveTo>
                <a:lnTo>
                  <a:pt x="2022248" y="9007"/>
                </a:lnTo>
                <a:lnTo>
                  <a:pt x="2022248" y="0"/>
                </a:lnTo>
                <a:lnTo>
                  <a:pt x="2049272" y="0"/>
                </a:lnTo>
                <a:lnTo>
                  <a:pt x="2049272" y="9007"/>
                </a:lnTo>
                <a:close/>
              </a:path>
              <a:path w="4711700" h="3270250">
                <a:moveTo>
                  <a:pt x="2112326" y="9007"/>
                </a:moveTo>
                <a:lnTo>
                  <a:pt x="2085303" y="9007"/>
                </a:lnTo>
                <a:lnTo>
                  <a:pt x="2085303" y="0"/>
                </a:lnTo>
                <a:lnTo>
                  <a:pt x="2112326" y="0"/>
                </a:lnTo>
                <a:lnTo>
                  <a:pt x="2112326" y="9007"/>
                </a:lnTo>
                <a:close/>
              </a:path>
              <a:path w="4711700" h="3270250">
                <a:moveTo>
                  <a:pt x="2175381" y="9007"/>
                </a:moveTo>
                <a:lnTo>
                  <a:pt x="2148357" y="9007"/>
                </a:lnTo>
                <a:lnTo>
                  <a:pt x="2148357" y="0"/>
                </a:lnTo>
                <a:lnTo>
                  <a:pt x="2175381" y="0"/>
                </a:lnTo>
                <a:lnTo>
                  <a:pt x="2175381" y="9007"/>
                </a:lnTo>
                <a:close/>
              </a:path>
              <a:path w="4711700" h="3270250">
                <a:moveTo>
                  <a:pt x="2238435" y="9007"/>
                </a:moveTo>
                <a:lnTo>
                  <a:pt x="2211412" y="9007"/>
                </a:lnTo>
                <a:lnTo>
                  <a:pt x="2211412" y="0"/>
                </a:lnTo>
                <a:lnTo>
                  <a:pt x="2238435" y="0"/>
                </a:lnTo>
                <a:lnTo>
                  <a:pt x="2238435" y="9007"/>
                </a:lnTo>
                <a:close/>
              </a:path>
              <a:path w="4711700" h="3270250">
                <a:moveTo>
                  <a:pt x="2301490" y="9007"/>
                </a:moveTo>
                <a:lnTo>
                  <a:pt x="2274466" y="9007"/>
                </a:lnTo>
                <a:lnTo>
                  <a:pt x="2274466" y="0"/>
                </a:lnTo>
                <a:lnTo>
                  <a:pt x="2301490" y="0"/>
                </a:lnTo>
                <a:lnTo>
                  <a:pt x="2301490" y="9007"/>
                </a:lnTo>
                <a:close/>
              </a:path>
              <a:path w="4711700" h="3270250">
                <a:moveTo>
                  <a:pt x="2364544" y="9007"/>
                </a:moveTo>
                <a:lnTo>
                  <a:pt x="2337521" y="9007"/>
                </a:lnTo>
                <a:lnTo>
                  <a:pt x="2337521" y="0"/>
                </a:lnTo>
                <a:lnTo>
                  <a:pt x="2364544" y="0"/>
                </a:lnTo>
                <a:lnTo>
                  <a:pt x="2364544" y="9007"/>
                </a:lnTo>
                <a:close/>
              </a:path>
              <a:path w="4711700" h="3270250">
                <a:moveTo>
                  <a:pt x="2427599" y="9007"/>
                </a:moveTo>
                <a:lnTo>
                  <a:pt x="2400575" y="9007"/>
                </a:lnTo>
                <a:lnTo>
                  <a:pt x="2400575" y="0"/>
                </a:lnTo>
                <a:lnTo>
                  <a:pt x="2427599" y="0"/>
                </a:lnTo>
                <a:lnTo>
                  <a:pt x="2427599" y="9007"/>
                </a:lnTo>
                <a:close/>
              </a:path>
              <a:path w="4711700" h="3270250">
                <a:moveTo>
                  <a:pt x="2490653" y="9007"/>
                </a:moveTo>
                <a:lnTo>
                  <a:pt x="2463630" y="9007"/>
                </a:lnTo>
                <a:lnTo>
                  <a:pt x="2463630" y="0"/>
                </a:lnTo>
                <a:lnTo>
                  <a:pt x="2490653" y="0"/>
                </a:lnTo>
                <a:lnTo>
                  <a:pt x="2490653" y="9007"/>
                </a:lnTo>
                <a:close/>
              </a:path>
              <a:path w="4711700" h="3270250">
                <a:moveTo>
                  <a:pt x="2553708" y="9007"/>
                </a:moveTo>
                <a:lnTo>
                  <a:pt x="2526684" y="9007"/>
                </a:lnTo>
                <a:lnTo>
                  <a:pt x="2526684" y="0"/>
                </a:lnTo>
                <a:lnTo>
                  <a:pt x="2553708" y="0"/>
                </a:lnTo>
                <a:lnTo>
                  <a:pt x="2553708" y="9007"/>
                </a:lnTo>
                <a:close/>
              </a:path>
              <a:path w="4711700" h="3270250">
                <a:moveTo>
                  <a:pt x="2616762" y="9007"/>
                </a:moveTo>
                <a:lnTo>
                  <a:pt x="2589739" y="9007"/>
                </a:lnTo>
                <a:lnTo>
                  <a:pt x="2589739" y="0"/>
                </a:lnTo>
                <a:lnTo>
                  <a:pt x="2616762" y="0"/>
                </a:lnTo>
                <a:lnTo>
                  <a:pt x="2616762" y="9007"/>
                </a:lnTo>
                <a:close/>
              </a:path>
              <a:path w="4711700" h="3270250">
                <a:moveTo>
                  <a:pt x="2679817" y="9007"/>
                </a:moveTo>
                <a:lnTo>
                  <a:pt x="2652793" y="9007"/>
                </a:lnTo>
                <a:lnTo>
                  <a:pt x="2652793" y="0"/>
                </a:lnTo>
                <a:lnTo>
                  <a:pt x="2679817" y="0"/>
                </a:lnTo>
                <a:lnTo>
                  <a:pt x="2679817" y="9007"/>
                </a:lnTo>
                <a:close/>
              </a:path>
              <a:path w="4711700" h="3270250">
                <a:moveTo>
                  <a:pt x="2742871" y="9007"/>
                </a:moveTo>
                <a:lnTo>
                  <a:pt x="2715848" y="9007"/>
                </a:lnTo>
                <a:lnTo>
                  <a:pt x="2715848" y="0"/>
                </a:lnTo>
                <a:lnTo>
                  <a:pt x="2742871" y="0"/>
                </a:lnTo>
                <a:lnTo>
                  <a:pt x="2742871" y="9007"/>
                </a:lnTo>
                <a:close/>
              </a:path>
              <a:path w="4711700" h="3270250">
                <a:moveTo>
                  <a:pt x="2805926" y="9007"/>
                </a:moveTo>
                <a:lnTo>
                  <a:pt x="2778902" y="9007"/>
                </a:lnTo>
                <a:lnTo>
                  <a:pt x="2778902" y="0"/>
                </a:lnTo>
                <a:lnTo>
                  <a:pt x="2805926" y="0"/>
                </a:lnTo>
                <a:lnTo>
                  <a:pt x="2805926" y="9007"/>
                </a:lnTo>
                <a:close/>
              </a:path>
              <a:path w="4711700" h="3270250">
                <a:moveTo>
                  <a:pt x="2868980" y="9007"/>
                </a:moveTo>
                <a:lnTo>
                  <a:pt x="2841957" y="9007"/>
                </a:lnTo>
                <a:lnTo>
                  <a:pt x="2841957" y="0"/>
                </a:lnTo>
                <a:lnTo>
                  <a:pt x="2868980" y="0"/>
                </a:lnTo>
                <a:lnTo>
                  <a:pt x="2868980" y="9007"/>
                </a:lnTo>
                <a:close/>
              </a:path>
              <a:path w="4711700" h="3270250">
                <a:moveTo>
                  <a:pt x="2932035" y="9007"/>
                </a:moveTo>
                <a:lnTo>
                  <a:pt x="2905011" y="9007"/>
                </a:lnTo>
                <a:lnTo>
                  <a:pt x="2905011" y="0"/>
                </a:lnTo>
                <a:lnTo>
                  <a:pt x="2932035" y="0"/>
                </a:lnTo>
                <a:lnTo>
                  <a:pt x="2932035" y="9007"/>
                </a:lnTo>
                <a:close/>
              </a:path>
              <a:path w="4711700" h="3270250">
                <a:moveTo>
                  <a:pt x="2995089" y="9007"/>
                </a:moveTo>
                <a:lnTo>
                  <a:pt x="2968066" y="9007"/>
                </a:lnTo>
                <a:lnTo>
                  <a:pt x="2968066" y="0"/>
                </a:lnTo>
                <a:lnTo>
                  <a:pt x="2995089" y="0"/>
                </a:lnTo>
                <a:lnTo>
                  <a:pt x="2995089" y="9007"/>
                </a:lnTo>
                <a:close/>
              </a:path>
              <a:path w="4711700" h="3270250">
                <a:moveTo>
                  <a:pt x="3058144" y="9007"/>
                </a:moveTo>
                <a:lnTo>
                  <a:pt x="3031121" y="9007"/>
                </a:lnTo>
                <a:lnTo>
                  <a:pt x="3031121" y="0"/>
                </a:lnTo>
                <a:lnTo>
                  <a:pt x="3058144" y="0"/>
                </a:lnTo>
                <a:lnTo>
                  <a:pt x="3058144" y="9007"/>
                </a:lnTo>
                <a:close/>
              </a:path>
              <a:path w="4711700" h="3270250">
                <a:moveTo>
                  <a:pt x="3121198" y="9007"/>
                </a:moveTo>
                <a:lnTo>
                  <a:pt x="3094175" y="9007"/>
                </a:lnTo>
                <a:lnTo>
                  <a:pt x="3094175" y="0"/>
                </a:lnTo>
                <a:lnTo>
                  <a:pt x="3121198" y="0"/>
                </a:lnTo>
                <a:lnTo>
                  <a:pt x="3121198" y="9007"/>
                </a:lnTo>
                <a:close/>
              </a:path>
              <a:path w="4711700" h="3270250">
                <a:moveTo>
                  <a:pt x="3184253" y="9007"/>
                </a:moveTo>
                <a:lnTo>
                  <a:pt x="3157230" y="9007"/>
                </a:lnTo>
                <a:lnTo>
                  <a:pt x="3157230" y="0"/>
                </a:lnTo>
                <a:lnTo>
                  <a:pt x="3184253" y="0"/>
                </a:lnTo>
                <a:lnTo>
                  <a:pt x="3184253" y="9007"/>
                </a:lnTo>
                <a:close/>
              </a:path>
              <a:path w="4711700" h="3270250">
                <a:moveTo>
                  <a:pt x="3247307" y="9007"/>
                </a:moveTo>
                <a:lnTo>
                  <a:pt x="3220284" y="9007"/>
                </a:lnTo>
                <a:lnTo>
                  <a:pt x="3220284" y="0"/>
                </a:lnTo>
                <a:lnTo>
                  <a:pt x="3247307" y="0"/>
                </a:lnTo>
                <a:lnTo>
                  <a:pt x="3247307" y="9007"/>
                </a:lnTo>
                <a:close/>
              </a:path>
              <a:path w="4711700" h="3270250">
                <a:moveTo>
                  <a:pt x="3310362" y="9007"/>
                </a:moveTo>
                <a:lnTo>
                  <a:pt x="3283339" y="9007"/>
                </a:lnTo>
                <a:lnTo>
                  <a:pt x="3283339" y="0"/>
                </a:lnTo>
                <a:lnTo>
                  <a:pt x="3310362" y="0"/>
                </a:lnTo>
                <a:lnTo>
                  <a:pt x="3310362" y="9007"/>
                </a:lnTo>
                <a:close/>
              </a:path>
              <a:path w="4711700" h="3270250">
                <a:moveTo>
                  <a:pt x="3373417" y="9007"/>
                </a:moveTo>
                <a:lnTo>
                  <a:pt x="3346393" y="9007"/>
                </a:lnTo>
                <a:lnTo>
                  <a:pt x="3346393" y="0"/>
                </a:lnTo>
                <a:lnTo>
                  <a:pt x="3373417" y="0"/>
                </a:lnTo>
                <a:lnTo>
                  <a:pt x="3373417" y="9007"/>
                </a:lnTo>
                <a:close/>
              </a:path>
              <a:path w="4711700" h="3270250">
                <a:moveTo>
                  <a:pt x="3436471" y="9007"/>
                </a:moveTo>
                <a:lnTo>
                  <a:pt x="3409448" y="9007"/>
                </a:lnTo>
                <a:lnTo>
                  <a:pt x="3409448" y="0"/>
                </a:lnTo>
                <a:lnTo>
                  <a:pt x="3436471" y="0"/>
                </a:lnTo>
                <a:lnTo>
                  <a:pt x="3436471" y="9007"/>
                </a:lnTo>
                <a:close/>
              </a:path>
              <a:path w="4711700" h="3270250">
                <a:moveTo>
                  <a:pt x="3499526" y="9007"/>
                </a:moveTo>
                <a:lnTo>
                  <a:pt x="3472502" y="9007"/>
                </a:lnTo>
                <a:lnTo>
                  <a:pt x="3472502" y="0"/>
                </a:lnTo>
                <a:lnTo>
                  <a:pt x="3499526" y="0"/>
                </a:lnTo>
                <a:lnTo>
                  <a:pt x="3499526" y="9007"/>
                </a:lnTo>
                <a:close/>
              </a:path>
              <a:path w="4711700" h="3270250">
                <a:moveTo>
                  <a:pt x="3562580" y="9007"/>
                </a:moveTo>
                <a:lnTo>
                  <a:pt x="3535557" y="9007"/>
                </a:lnTo>
                <a:lnTo>
                  <a:pt x="3535557" y="0"/>
                </a:lnTo>
                <a:lnTo>
                  <a:pt x="3562580" y="0"/>
                </a:lnTo>
                <a:lnTo>
                  <a:pt x="3562580" y="9007"/>
                </a:lnTo>
                <a:close/>
              </a:path>
              <a:path w="4711700" h="3270250">
                <a:moveTo>
                  <a:pt x="3625635" y="9007"/>
                </a:moveTo>
                <a:lnTo>
                  <a:pt x="3598611" y="9007"/>
                </a:lnTo>
                <a:lnTo>
                  <a:pt x="3598611" y="0"/>
                </a:lnTo>
                <a:lnTo>
                  <a:pt x="3625635" y="0"/>
                </a:lnTo>
                <a:lnTo>
                  <a:pt x="3625635" y="9007"/>
                </a:lnTo>
                <a:close/>
              </a:path>
              <a:path w="4711700" h="3270250">
                <a:moveTo>
                  <a:pt x="3688689" y="9007"/>
                </a:moveTo>
                <a:lnTo>
                  <a:pt x="3661666" y="9007"/>
                </a:lnTo>
                <a:lnTo>
                  <a:pt x="3661666" y="0"/>
                </a:lnTo>
                <a:lnTo>
                  <a:pt x="3688689" y="0"/>
                </a:lnTo>
                <a:lnTo>
                  <a:pt x="3688689" y="9007"/>
                </a:lnTo>
                <a:close/>
              </a:path>
              <a:path w="4711700" h="3270250">
                <a:moveTo>
                  <a:pt x="3751744" y="9007"/>
                </a:moveTo>
                <a:lnTo>
                  <a:pt x="3724720" y="9007"/>
                </a:lnTo>
                <a:lnTo>
                  <a:pt x="3724720" y="0"/>
                </a:lnTo>
                <a:lnTo>
                  <a:pt x="3751744" y="0"/>
                </a:lnTo>
                <a:lnTo>
                  <a:pt x="3751744" y="9007"/>
                </a:lnTo>
                <a:close/>
              </a:path>
              <a:path w="4711700" h="3270250">
                <a:moveTo>
                  <a:pt x="3814798" y="9007"/>
                </a:moveTo>
                <a:lnTo>
                  <a:pt x="3787775" y="9007"/>
                </a:lnTo>
                <a:lnTo>
                  <a:pt x="3787775" y="0"/>
                </a:lnTo>
                <a:lnTo>
                  <a:pt x="3814798" y="0"/>
                </a:lnTo>
                <a:lnTo>
                  <a:pt x="3814798" y="9007"/>
                </a:lnTo>
                <a:close/>
              </a:path>
              <a:path w="4711700" h="3270250">
                <a:moveTo>
                  <a:pt x="3877853" y="9007"/>
                </a:moveTo>
                <a:lnTo>
                  <a:pt x="3850829" y="9007"/>
                </a:lnTo>
                <a:lnTo>
                  <a:pt x="3850829" y="0"/>
                </a:lnTo>
                <a:lnTo>
                  <a:pt x="3877853" y="0"/>
                </a:lnTo>
                <a:lnTo>
                  <a:pt x="3877853" y="9007"/>
                </a:lnTo>
                <a:close/>
              </a:path>
              <a:path w="4711700" h="3270250">
                <a:moveTo>
                  <a:pt x="3940907" y="9007"/>
                </a:moveTo>
                <a:lnTo>
                  <a:pt x="3913884" y="9007"/>
                </a:lnTo>
                <a:lnTo>
                  <a:pt x="3913884" y="0"/>
                </a:lnTo>
                <a:lnTo>
                  <a:pt x="3940907" y="0"/>
                </a:lnTo>
                <a:lnTo>
                  <a:pt x="3940907" y="9007"/>
                </a:lnTo>
                <a:close/>
              </a:path>
              <a:path w="4711700" h="3270250">
                <a:moveTo>
                  <a:pt x="4003962" y="9007"/>
                </a:moveTo>
                <a:lnTo>
                  <a:pt x="3976938" y="9007"/>
                </a:lnTo>
                <a:lnTo>
                  <a:pt x="3976938" y="0"/>
                </a:lnTo>
                <a:lnTo>
                  <a:pt x="4003962" y="0"/>
                </a:lnTo>
                <a:lnTo>
                  <a:pt x="4003962" y="9007"/>
                </a:lnTo>
                <a:close/>
              </a:path>
              <a:path w="4711700" h="3270250">
                <a:moveTo>
                  <a:pt x="4067016" y="9007"/>
                </a:moveTo>
                <a:lnTo>
                  <a:pt x="4039993" y="9007"/>
                </a:lnTo>
                <a:lnTo>
                  <a:pt x="4039993" y="0"/>
                </a:lnTo>
                <a:lnTo>
                  <a:pt x="4067016" y="0"/>
                </a:lnTo>
                <a:lnTo>
                  <a:pt x="4067016" y="9007"/>
                </a:lnTo>
                <a:close/>
              </a:path>
              <a:path w="4711700" h="3270250">
                <a:moveTo>
                  <a:pt x="4130071" y="9007"/>
                </a:moveTo>
                <a:lnTo>
                  <a:pt x="4103047" y="9007"/>
                </a:lnTo>
                <a:lnTo>
                  <a:pt x="4103047" y="0"/>
                </a:lnTo>
                <a:lnTo>
                  <a:pt x="4130071" y="0"/>
                </a:lnTo>
                <a:lnTo>
                  <a:pt x="4130071" y="9007"/>
                </a:lnTo>
                <a:close/>
              </a:path>
              <a:path w="4711700" h="3270250">
                <a:moveTo>
                  <a:pt x="4193125" y="9007"/>
                </a:moveTo>
                <a:lnTo>
                  <a:pt x="4166102" y="9007"/>
                </a:lnTo>
                <a:lnTo>
                  <a:pt x="4166102" y="0"/>
                </a:lnTo>
                <a:lnTo>
                  <a:pt x="4193125" y="0"/>
                </a:lnTo>
                <a:lnTo>
                  <a:pt x="4193125" y="9007"/>
                </a:lnTo>
                <a:close/>
              </a:path>
              <a:path w="4711700" h="3270250">
                <a:moveTo>
                  <a:pt x="4256180" y="9007"/>
                </a:moveTo>
                <a:lnTo>
                  <a:pt x="4229156" y="9007"/>
                </a:lnTo>
                <a:lnTo>
                  <a:pt x="4229156" y="0"/>
                </a:lnTo>
                <a:lnTo>
                  <a:pt x="4256180" y="0"/>
                </a:lnTo>
                <a:lnTo>
                  <a:pt x="4256180" y="9007"/>
                </a:lnTo>
                <a:close/>
              </a:path>
              <a:path w="4711700" h="3270250">
                <a:moveTo>
                  <a:pt x="4319234" y="9007"/>
                </a:moveTo>
                <a:lnTo>
                  <a:pt x="4292211" y="9007"/>
                </a:lnTo>
                <a:lnTo>
                  <a:pt x="4292211" y="0"/>
                </a:lnTo>
                <a:lnTo>
                  <a:pt x="4319234" y="0"/>
                </a:lnTo>
                <a:lnTo>
                  <a:pt x="4319234" y="9007"/>
                </a:lnTo>
                <a:close/>
              </a:path>
              <a:path w="4711700" h="3270250">
                <a:moveTo>
                  <a:pt x="4382289" y="9007"/>
                </a:moveTo>
                <a:lnTo>
                  <a:pt x="4355266" y="9007"/>
                </a:lnTo>
                <a:lnTo>
                  <a:pt x="4355266" y="0"/>
                </a:lnTo>
                <a:lnTo>
                  <a:pt x="4382289" y="0"/>
                </a:lnTo>
                <a:lnTo>
                  <a:pt x="4382289" y="9007"/>
                </a:lnTo>
                <a:close/>
              </a:path>
              <a:path w="4711700" h="3270250">
                <a:moveTo>
                  <a:pt x="4445343" y="9007"/>
                </a:moveTo>
                <a:lnTo>
                  <a:pt x="4418320" y="9007"/>
                </a:lnTo>
                <a:lnTo>
                  <a:pt x="4418320" y="0"/>
                </a:lnTo>
                <a:lnTo>
                  <a:pt x="4445343" y="0"/>
                </a:lnTo>
                <a:lnTo>
                  <a:pt x="4445343" y="9007"/>
                </a:lnTo>
                <a:close/>
              </a:path>
              <a:path w="4711700" h="3270250">
                <a:moveTo>
                  <a:pt x="4508398" y="9007"/>
                </a:moveTo>
                <a:lnTo>
                  <a:pt x="4481375" y="9007"/>
                </a:lnTo>
                <a:lnTo>
                  <a:pt x="4481375" y="0"/>
                </a:lnTo>
                <a:lnTo>
                  <a:pt x="4508398" y="0"/>
                </a:lnTo>
                <a:lnTo>
                  <a:pt x="4508398" y="9007"/>
                </a:lnTo>
                <a:close/>
              </a:path>
              <a:path w="4711700" h="3270250">
                <a:moveTo>
                  <a:pt x="4571452" y="9007"/>
                </a:moveTo>
                <a:lnTo>
                  <a:pt x="4544429" y="9007"/>
                </a:lnTo>
                <a:lnTo>
                  <a:pt x="4544429" y="0"/>
                </a:lnTo>
                <a:lnTo>
                  <a:pt x="4571452" y="0"/>
                </a:lnTo>
                <a:lnTo>
                  <a:pt x="4571452" y="9007"/>
                </a:lnTo>
                <a:close/>
              </a:path>
              <a:path w="4711700" h="3270250">
                <a:moveTo>
                  <a:pt x="4634507" y="9007"/>
                </a:moveTo>
                <a:lnTo>
                  <a:pt x="4607484" y="9007"/>
                </a:lnTo>
                <a:lnTo>
                  <a:pt x="4607484" y="0"/>
                </a:lnTo>
                <a:lnTo>
                  <a:pt x="4634507" y="0"/>
                </a:lnTo>
                <a:lnTo>
                  <a:pt x="4634507" y="9007"/>
                </a:lnTo>
                <a:close/>
              </a:path>
              <a:path w="4711700" h="3270250">
                <a:moveTo>
                  <a:pt x="4697562" y="9007"/>
                </a:moveTo>
                <a:lnTo>
                  <a:pt x="4670538" y="9007"/>
                </a:lnTo>
                <a:lnTo>
                  <a:pt x="4670538" y="0"/>
                </a:lnTo>
                <a:lnTo>
                  <a:pt x="4697562" y="0"/>
                </a:lnTo>
                <a:lnTo>
                  <a:pt x="4697562" y="9007"/>
                </a:lnTo>
                <a:close/>
              </a:path>
              <a:path w="4711700" h="3270250">
                <a:moveTo>
                  <a:pt x="4711073" y="58550"/>
                </a:moveTo>
                <a:lnTo>
                  <a:pt x="4702065" y="58550"/>
                </a:lnTo>
                <a:lnTo>
                  <a:pt x="4702065" y="31527"/>
                </a:lnTo>
                <a:lnTo>
                  <a:pt x="4711073" y="31527"/>
                </a:lnTo>
                <a:lnTo>
                  <a:pt x="4711073" y="58550"/>
                </a:lnTo>
                <a:close/>
              </a:path>
              <a:path w="4711700" h="3270250">
                <a:moveTo>
                  <a:pt x="4711073" y="121605"/>
                </a:moveTo>
                <a:lnTo>
                  <a:pt x="4702065" y="121605"/>
                </a:lnTo>
                <a:lnTo>
                  <a:pt x="4702065" y="94581"/>
                </a:lnTo>
                <a:lnTo>
                  <a:pt x="4711073" y="94581"/>
                </a:lnTo>
                <a:lnTo>
                  <a:pt x="4711073" y="121605"/>
                </a:lnTo>
                <a:close/>
              </a:path>
              <a:path w="4711700" h="3270250">
                <a:moveTo>
                  <a:pt x="4711073" y="184659"/>
                </a:moveTo>
                <a:lnTo>
                  <a:pt x="4702065" y="184659"/>
                </a:lnTo>
                <a:lnTo>
                  <a:pt x="4702065" y="157636"/>
                </a:lnTo>
                <a:lnTo>
                  <a:pt x="4711073" y="157636"/>
                </a:lnTo>
                <a:lnTo>
                  <a:pt x="4711073" y="184659"/>
                </a:lnTo>
                <a:close/>
              </a:path>
              <a:path w="4711700" h="3270250">
                <a:moveTo>
                  <a:pt x="4711073" y="247714"/>
                </a:moveTo>
                <a:lnTo>
                  <a:pt x="4702065" y="247714"/>
                </a:lnTo>
                <a:lnTo>
                  <a:pt x="4702065" y="220690"/>
                </a:lnTo>
                <a:lnTo>
                  <a:pt x="4711073" y="220690"/>
                </a:lnTo>
                <a:lnTo>
                  <a:pt x="4711073" y="247714"/>
                </a:lnTo>
                <a:close/>
              </a:path>
              <a:path w="4711700" h="3270250">
                <a:moveTo>
                  <a:pt x="4711073" y="310768"/>
                </a:moveTo>
                <a:lnTo>
                  <a:pt x="4702065" y="310768"/>
                </a:lnTo>
                <a:lnTo>
                  <a:pt x="4702065" y="283745"/>
                </a:lnTo>
                <a:lnTo>
                  <a:pt x="4711073" y="283745"/>
                </a:lnTo>
                <a:lnTo>
                  <a:pt x="4711073" y="310768"/>
                </a:lnTo>
                <a:close/>
              </a:path>
              <a:path w="4711700" h="3270250">
                <a:moveTo>
                  <a:pt x="4711073" y="373823"/>
                </a:moveTo>
                <a:lnTo>
                  <a:pt x="4702065" y="373823"/>
                </a:lnTo>
                <a:lnTo>
                  <a:pt x="4702065" y="346799"/>
                </a:lnTo>
                <a:lnTo>
                  <a:pt x="4711073" y="346799"/>
                </a:lnTo>
                <a:lnTo>
                  <a:pt x="4711073" y="373823"/>
                </a:lnTo>
                <a:close/>
              </a:path>
              <a:path w="4711700" h="3270250">
                <a:moveTo>
                  <a:pt x="4711073" y="436877"/>
                </a:moveTo>
                <a:lnTo>
                  <a:pt x="4702065" y="436877"/>
                </a:lnTo>
                <a:lnTo>
                  <a:pt x="4702065" y="409854"/>
                </a:lnTo>
                <a:lnTo>
                  <a:pt x="4711073" y="409854"/>
                </a:lnTo>
                <a:lnTo>
                  <a:pt x="4711073" y="436877"/>
                </a:lnTo>
                <a:close/>
              </a:path>
              <a:path w="4711700" h="3270250">
                <a:moveTo>
                  <a:pt x="4711073" y="499932"/>
                </a:moveTo>
                <a:lnTo>
                  <a:pt x="4702065" y="499932"/>
                </a:lnTo>
                <a:lnTo>
                  <a:pt x="4702065" y="472908"/>
                </a:lnTo>
                <a:lnTo>
                  <a:pt x="4711073" y="472908"/>
                </a:lnTo>
                <a:lnTo>
                  <a:pt x="4711073" y="499932"/>
                </a:lnTo>
                <a:close/>
              </a:path>
              <a:path w="4711700" h="3270250">
                <a:moveTo>
                  <a:pt x="4711073" y="562986"/>
                </a:moveTo>
                <a:lnTo>
                  <a:pt x="4702065" y="562986"/>
                </a:lnTo>
                <a:lnTo>
                  <a:pt x="4702065" y="535963"/>
                </a:lnTo>
                <a:lnTo>
                  <a:pt x="4711073" y="535963"/>
                </a:lnTo>
                <a:lnTo>
                  <a:pt x="4711073" y="562986"/>
                </a:lnTo>
                <a:close/>
              </a:path>
              <a:path w="4711700" h="3270250">
                <a:moveTo>
                  <a:pt x="4711073" y="626041"/>
                </a:moveTo>
                <a:lnTo>
                  <a:pt x="4702065" y="626041"/>
                </a:lnTo>
                <a:lnTo>
                  <a:pt x="4702065" y="599017"/>
                </a:lnTo>
                <a:lnTo>
                  <a:pt x="4711073" y="599017"/>
                </a:lnTo>
                <a:lnTo>
                  <a:pt x="4711073" y="626041"/>
                </a:lnTo>
                <a:close/>
              </a:path>
              <a:path w="4711700" h="3270250">
                <a:moveTo>
                  <a:pt x="4711073" y="689095"/>
                </a:moveTo>
                <a:lnTo>
                  <a:pt x="4702065" y="689095"/>
                </a:lnTo>
                <a:lnTo>
                  <a:pt x="4702065" y="662072"/>
                </a:lnTo>
                <a:lnTo>
                  <a:pt x="4711073" y="662072"/>
                </a:lnTo>
                <a:lnTo>
                  <a:pt x="4711073" y="689095"/>
                </a:lnTo>
                <a:close/>
              </a:path>
              <a:path w="4711700" h="3270250">
                <a:moveTo>
                  <a:pt x="4711073" y="752150"/>
                </a:moveTo>
                <a:lnTo>
                  <a:pt x="4702065" y="752150"/>
                </a:lnTo>
                <a:lnTo>
                  <a:pt x="4702065" y="725127"/>
                </a:lnTo>
                <a:lnTo>
                  <a:pt x="4711073" y="725127"/>
                </a:lnTo>
                <a:lnTo>
                  <a:pt x="4711073" y="752150"/>
                </a:lnTo>
                <a:close/>
              </a:path>
              <a:path w="4711700" h="3270250">
                <a:moveTo>
                  <a:pt x="4711073" y="815204"/>
                </a:moveTo>
                <a:lnTo>
                  <a:pt x="4702065" y="815204"/>
                </a:lnTo>
                <a:lnTo>
                  <a:pt x="4702065" y="788181"/>
                </a:lnTo>
                <a:lnTo>
                  <a:pt x="4711073" y="788181"/>
                </a:lnTo>
                <a:lnTo>
                  <a:pt x="4711073" y="815204"/>
                </a:lnTo>
                <a:close/>
              </a:path>
              <a:path w="4711700" h="3270250">
                <a:moveTo>
                  <a:pt x="4711073" y="878259"/>
                </a:moveTo>
                <a:lnTo>
                  <a:pt x="4702065" y="878259"/>
                </a:lnTo>
                <a:lnTo>
                  <a:pt x="4702065" y="851236"/>
                </a:lnTo>
                <a:lnTo>
                  <a:pt x="4711073" y="851236"/>
                </a:lnTo>
                <a:lnTo>
                  <a:pt x="4711073" y="878259"/>
                </a:lnTo>
                <a:close/>
              </a:path>
              <a:path w="4711700" h="3270250">
                <a:moveTo>
                  <a:pt x="4711073" y="941313"/>
                </a:moveTo>
                <a:lnTo>
                  <a:pt x="4702065" y="941313"/>
                </a:lnTo>
                <a:lnTo>
                  <a:pt x="4702065" y="914290"/>
                </a:lnTo>
                <a:lnTo>
                  <a:pt x="4711073" y="914290"/>
                </a:lnTo>
                <a:lnTo>
                  <a:pt x="4711073" y="941313"/>
                </a:lnTo>
                <a:close/>
              </a:path>
              <a:path w="4711700" h="3270250">
                <a:moveTo>
                  <a:pt x="4711073" y="1004368"/>
                </a:moveTo>
                <a:lnTo>
                  <a:pt x="4702065" y="1004368"/>
                </a:lnTo>
                <a:lnTo>
                  <a:pt x="4702065" y="977345"/>
                </a:lnTo>
                <a:lnTo>
                  <a:pt x="4711073" y="977345"/>
                </a:lnTo>
                <a:lnTo>
                  <a:pt x="4711073" y="1004368"/>
                </a:lnTo>
                <a:close/>
              </a:path>
              <a:path w="4711700" h="3270250">
                <a:moveTo>
                  <a:pt x="4711073" y="1067423"/>
                </a:moveTo>
                <a:lnTo>
                  <a:pt x="4702065" y="1067423"/>
                </a:lnTo>
                <a:lnTo>
                  <a:pt x="4702065" y="1040399"/>
                </a:lnTo>
                <a:lnTo>
                  <a:pt x="4711073" y="1040399"/>
                </a:lnTo>
                <a:lnTo>
                  <a:pt x="4711073" y="1067423"/>
                </a:lnTo>
                <a:close/>
              </a:path>
              <a:path w="4711700" h="3270250">
                <a:moveTo>
                  <a:pt x="4711073" y="1130477"/>
                </a:moveTo>
                <a:lnTo>
                  <a:pt x="4702065" y="1130477"/>
                </a:lnTo>
                <a:lnTo>
                  <a:pt x="4702065" y="1103454"/>
                </a:lnTo>
                <a:lnTo>
                  <a:pt x="4711073" y="1103454"/>
                </a:lnTo>
                <a:lnTo>
                  <a:pt x="4711073" y="1130477"/>
                </a:lnTo>
                <a:close/>
              </a:path>
              <a:path w="4711700" h="3270250">
                <a:moveTo>
                  <a:pt x="4711073" y="1193532"/>
                </a:moveTo>
                <a:lnTo>
                  <a:pt x="4702065" y="1193532"/>
                </a:lnTo>
                <a:lnTo>
                  <a:pt x="4702065" y="1166508"/>
                </a:lnTo>
                <a:lnTo>
                  <a:pt x="4711073" y="1166508"/>
                </a:lnTo>
                <a:lnTo>
                  <a:pt x="4711073" y="1193532"/>
                </a:lnTo>
                <a:close/>
              </a:path>
              <a:path w="4711700" h="3270250">
                <a:moveTo>
                  <a:pt x="4711073" y="1256586"/>
                </a:moveTo>
                <a:lnTo>
                  <a:pt x="4702065" y="1256586"/>
                </a:lnTo>
                <a:lnTo>
                  <a:pt x="4702065" y="1229563"/>
                </a:lnTo>
                <a:lnTo>
                  <a:pt x="4711073" y="1229563"/>
                </a:lnTo>
                <a:lnTo>
                  <a:pt x="4711073" y="1256586"/>
                </a:lnTo>
                <a:close/>
              </a:path>
              <a:path w="4711700" h="3270250">
                <a:moveTo>
                  <a:pt x="4711073" y="1319641"/>
                </a:moveTo>
                <a:lnTo>
                  <a:pt x="4702065" y="1319641"/>
                </a:lnTo>
                <a:lnTo>
                  <a:pt x="4702065" y="1292617"/>
                </a:lnTo>
                <a:lnTo>
                  <a:pt x="4711073" y="1292617"/>
                </a:lnTo>
                <a:lnTo>
                  <a:pt x="4711073" y="1319641"/>
                </a:lnTo>
                <a:close/>
              </a:path>
              <a:path w="4711700" h="3270250">
                <a:moveTo>
                  <a:pt x="4711073" y="1382695"/>
                </a:moveTo>
                <a:lnTo>
                  <a:pt x="4702065" y="1382695"/>
                </a:lnTo>
                <a:lnTo>
                  <a:pt x="4702065" y="1355672"/>
                </a:lnTo>
                <a:lnTo>
                  <a:pt x="4711073" y="1355672"/>
                </a:lnTo>
                <a:lnTo>
                  <a:pt x="4711073" y="1382695"/>
                </a:lnTo>
                <a:close/>
              </a:path>
              <a:path w="4711700" h="3270250">
                <a:moveTo>
                  <a:pt x="4711073" y="1445750"/>
                </a:moveTo>
                <a:lnTo>
                  <a:pt x="4702065" y="1445750"/>
                </a:lnTo>
                <a:lnTo>
                  <a:pt x="4702065" y="1418726"/>
                </a:lnTo>
                <a:lnTo>
                  <a:pt x="4711073" y="1418726"/>
                </a:lnTo>
                <a:lnTo>
                  <a:pt x="4711073" y="1445750"/>
                </a:lnTo>
                <a:close/>
              </a:path>
              <a:path w="4711700" h="3270250">
                <a:moveTo>
                  <a:pt x="4711073" y="1508804"/>
                </a:moveTo>
                <a:lnTo>
                  <a:pt x="4702065" y="1508804"/>
                </a:lnTo>
                <a:lnTo>
                  <a:pt x="4702065" y="1481781"/>
                </a:lnTo>
                <a:lnTo>
                  <a:pt x="4711073" y="1481781"/>
                </a:lnTo>
                <a:lnTo>
                  <a:pt x="4711073" y="1508804"/>
                </a:lnTo>
                <a:close/>
              </a:path>
              <a:path w="4711700" h="3270250">
                <a:moveTo>
                  <a:pt x="4711073" y="1571859"/>
                </a:moveTo>
                <a:lnTo>
                  <a:pt x="4702065" y="1571859"/>
                </a:lnTo>
                <a:lnTo>
                  <a:pt x="4702065" y="1544835"/>
                </a:lnTo>
                <a:lnTo>
                  <a:pt x="4711073" y="1544835"/>
                </a:lnTo>
                <a:lnTo>
                  <a:pt x="4711073" y="1571859"/>
                </a:lnTo>
                <a:close/>
              </a:path>
              <a:path w="4711700" h="3270250">
                <a:moveTo>
                  <a:pt x="4711073" y="1634913"/>
                </a:moveTo>
                <a:lnTo>
                  <a:pt x="4702065" y="1634913"/>
                </a:lnTo>
                <a:lnTo>
                  <a:pt x="4702065" y="1607890"/>
                </a:lnTo>
                <a:lnTo>
                  <a:pt x="4711073" y="1607890"/>
                </a:lnTo>
                <a:lnTo>
                  <a:pt x="4711073" y="1634913"/>
                </a:lnTo>
                <a:close/>
              </a:path>
              <a:path w="4711700" h="3270250">
                <a:moveTo>
                  <a:pt x="4711073" y="1697968"/>
                </a:moveTo>
                <a:lnTo>
                  <a:pt x="4702065" y="1697968"/>
                </a:lnTo>
                <a:lnTo>
                  <a:pt x="4702065" y="1670945"/>
                </a:lnTo>
                <a:lnTo>
                  <a:pt x="4711073" y="1670945"/>
                </a:lnTo>
                <a:lnTo>
                  <a:pt x="4711073" y="1697968"/>
                </a:lnTo>
                <a:close/>
              </a:path>
              <a:path w="4711700" h="3270250">
                <a:moveTo>
                  <a:pt x="4711073" y="1761022"/>
                </a:moveTo>
                <a:lnTo>
                  <a:pt x="4702065" y="1761022"/>
                </a:lnTo>
                <a:lnTo>
                  <a:pt x="4702065" y="1733999"/>
                </a:lnTo>
                <a:lnTo>
                  <a:pt x="4711073" y="1733999"/>
                </a:lnTo>
                <a:lnTo>
                  <a:pt x="4711073" y="1761022"/>
                </a:lnTo>
                <a:close/>
              </a:path>
              <a:path w="4711700" h="3270250">
                <a:moveTo>
                  <a:pt x="4711073" y="1824077"/>
                </a:moveTo>
                <a:lnTo>
                  <a:pt x="4702065" y="1824077"/>
                </a:lnTo>
                <a:lnTo>
                  <a:pt x="4702065" y="1797053"/>
                </a:lnTo>
                <a:lnTo>
                  <a:pt x="4711073" y="1797053"/>
                </a:lnTo>
                <a:lnTo>
                  <a:pt x="4711073" y="1824077"/>
                </a:lnTo>
                <a:close/>
              </a:path>
              <a:path w="4711700" h="3270250">
                <a:moveTo>
                  <a:pt x="4711073" y="1887131"/>
                </a:moveTo>
                <a:lnTo>
                  <a:pt x="4702065" y="1887131"/>
                </a:lnTo>
                <a:lnTo>
                  <a:pt x="4702065" y="1860108"/>
                </a:lnTo>
                <a:lnTo>
                  <a:pt x="4711073" y="1860108"/>
                </a:lnTo>
                <a:lnTo>
                  <a:pt x="4711073" y="1887131"/>
                </a:lnTo>
                <a:close/>
              </a:path>
              <a:path w="4711700" h="3270250">
                <a:moveTo>
                  <a:pt x="4711073" y="1950186"/>
                </a:moveTo>
                <a:lnTo>
                  <a:pt x="4702065" y="1950186"/>
                </a:lnTo>
                <a:lnTo>
                  <a:pt x="4702065" y="1923162"/>
                </a:lnTo>
                <a:lnTo>
                  <a:pt x="4711073" y="1923162"/>
                </a:lnTo>
                <a:lnTo>
                  <a:pt x="4711073" y="1950186"/>
                </a:lnTo>
                <a:close/>
              </a:path>
              <a:path w="4711700" h="3270250">
                <a:moveTo>
                  <a:pt x="4711073" y="2013240"/>
                </a:moveTo>
                <a:lnTo>
                  <a:pt x="4702065" y="2013240"/>
                </a:lnTo>
                <a:lnTo>
                  <a:pt x="4702065" y="1986217"/>
                </a:lnTo>
                <a:lnTo>
                  <a:pt x="4711073" y="1986217"/>
                </a:lnTo>
                <a:lnTo>
                  <a:pt x="4711073" y="2013240"/>
                </a:lnTo>
                <a:close/>
              </a:path>
              <a:path w="4711700" h="3270250">
                <a:moveTo>
                  <a:pt x="4711073" y="2076295"/>
                </a:moveTo>
                <a:lnTo>
                  <a:pt x="4702065" y="2076295"/>
                </a:lnTo>
                <a:lnTo>
                  <a:pt x="4702065" y="2049271"/>
                </a:lnTo>
                <a:lnTo>
                  <a:pt x="4711073" y="2049271"/>
                </a:lnTo>
                <a:lnTo>
                  <a:pt x="4711073" y="2076295"/>
                </a:lnTo>
                <a:close/>
              </a:path>
              <a:path w="4711700" h="3270250">
                <a:moveTo>
                  <a:pt x="4711073" y="2139349"/>
                </a:moveTo>
                <a:lnTo>
                  <a:pt x="4702065" y="2139349"/>
                </a:lnTo>
                <a:lnTo>
                  <a:pt x="4702065" y="2112326"/>
                </a:lnTo>
                <a:lnTo>
                  <a:pt x="4711073" y="2112326"/>
                </a:lnTo>
                <a:lnTo>
                  <a:pt x="4711073" y="2139349"/>
                </a:lnTo>
                <a:close/>
              </a:path>
              <a:path w="4711700" h="3270250">
                <a:moveTo>
                  <a:pt x="4711073" y="2202404"/>
                </a:moveTo>
                <a:lnTo>
                  <a:pt x="4702065" y="2202404"/>
                </a:lnTo>
                <a:lnTo>
                  <a:pt x="4702065" y="2175381"/>
                </a:lnTo>
                <a:lnTo>
                  <a:pt x="4711073" y="2175381"/>
                </a:lnTo>
                <a:lnTo>
                  <a:pt x="4711073" y="2202404"/>
                </a:lnTo>
                <a:close/>
              </a:path>
              <a:path w="4711700" h="3270250">
                <a:moveTo>
                  <a:pt x="4711073" y="2265458"/>
                </a:moveTo>
                <a:lnTo>
                  <a:pt x="4702065" y="2265458"/>
                </a:lnTo>
                <a:lnTo>
                  <a:pt x="4702065" y="2238435"/>
                </a:lnTo>
                <a:lnTo>
                  <a:pt x="4711073" y="2238435"/>
                </a:lnTo>
                <a:lnTo>
                  <a:pt x="4711073" y="2265458"/>
                </a:lnTo>
                <a:close/>
              </a:path>
              <a:path w="4711700" h="3270250">
                <a:moveTo>
                  <a:pt x="4711073" y="2328513"/>
                </a:moveTo>
                <a:lnTo>
                  <a:pt x="4702065" y="2328513"/>
                </a:lnTo>
                <a:lnTo>
                  <a:pt x="4702065" y="2301490"/>
                </a:lnTo>
                <a:lnTo>
                  <a:pt x="4711073" y="2301490"/>
                </a:lnTo>
                <a:lnTo>
                  <a:pt x="4711073" y="2328513"/>
                </a:lnTo>
                <a:close/>
              </a:path>
              <a:path w="4711700" h="3270250">
                <a:moveTo>
                  <a:pt x="4711073" y="2391568"/>
                </a:moveTo>
                <a:lnTo>
                  <a:pt x="4702065" y="2391568"/>
                </a:lnTo>
                <a:lnTo>
                  <a:pt x="4702065" y="2364544"/>
                </a:lnTo>
                <a:lnTo>
                  <a:pt x="4711073" y="2364544"/>
                </a:lnTo>
                <a:lnTo>
                  <a:pt x="4711073" y="2391568"/>
                </a:lnTo>
                <a:close/>
              </a:path>
              <a:path w="4711700" h="3270250">
                <a:moveTo>
                  <a:pt x="4711073" y="2454622"/>
                </a:moveTo>
                <a:lnTo>
                  <a:pt x="4702065" y="2454622"/>
                </a:lnTo>
                <a:lnTo>
                  <a:pt x="4702065" y="2427599"/>
                </a:lnTo>
                <a:lnTo>
                  <a:pt x="4711073" y="2427599"/>
                </a:lnTo>
                <a:lnTo>
                  <a:pt x="4711073" y="2454622"/>
                </a:lnTo>
                <a:close/>
              </a:path>
              <a:path w="4711700" h="3270250">
                <a:moveTo>
                  <a:pt x="4711073" y="2517677"/>
                </a:moveTo>
                <a:lnTo>
                  <a:pt x="4702065" y="2517677"/>
                </a:lnTo>
                <a:lnTo>
                  <a:pt x="4702065" y="2490653"/>
                </a:lnTo>
                <a:lnTo>
                  <a:pt x="4711073" y="2490653"/>
                </a:lnTo>
                <a:lnTo>
                  <a:pt x="4711073" y="2517677"/>
                </a:lnTo>
                <a:close/>
              </a:path>
              <a:path w="4711700" h="3270250">
                <a:moveTo>
                  <a:pt x="4711073" y="2580731"/>
                </a:moveTo>
                <a:lnTo>
                  <a:pt x="4702065" y="2580731"/>
                </a:lnTo>
                <a:lnTo>
                  <a:pt x="4702065" y="2553708"/>
                </a:lnTo>
                <a:lnTo>
                  <a:pt x="4711073" y="2553708"/>
                </a:lnTo>
                <a:lnTo>
                  <a:pt x="4711073" y="2580731"/>
                </a:lnTo>
                <a:close/>
              </a:path>
              <a:path w="4711700" h="3270250">
                <a:moveTo>
                  <a:pt x="4711073" y="2643786"/>
                </a:moveTo>
                <a:lnTo>
                  <a:pt x="4702065" y="2643786"/>
                </a:lnTo>
                <a:lnTo>
                  <a:pt x="4702065" y="2616762"/>
                </a:lnTo>
                <a:lnTo>
                  <a:pt x="4711073" y="2616762"/>
                </a:lnTo>
                <a:lnTo>
                  <a:pt x="4711073" y="2643786"/>
                </a:lnTo>
                <a:close/>
              </a:path>
              <a:path w="4711700" h="3270250">
                <a:moveTo>
                  <a:pt x="4711073" y="2706840"/>
                </a:moveTo>
                <a:lnTo>
                  <a:pt x="4702065" y="2706840"/>
                </a:lnTo>
                <a:lnTo>
                  <a:pt x="4702065" y="2679817"/>
                </a:lnTo>
                <a:lnTo>
                  <a:pt x="4711073" y="2679817"/>
                </a:lnTo>
                <a:lnTo>
                  <a:pt x="4711073" y="2706840"/>
                </a:lnTo>
                <a:close/>
              </a:path>
              <a:path w="4711700" h="3270250">
                <a:moveTo>
                  <a:pt x="4711073" y="2769895"/>
                </a:moveTo>
                <a:lnTo>
                  <a:pt x="4702065" y="2769895"/>
                </a:lnTo>
                <a:lnTo>
                  <a:pt x="4702065" y="2742871"/>
                </a:lnTo>
                <a:lnTo>
                  <a:pt x="4711073" y="2742871"/>
                </a:lnTo>
                <a:lnTo>
                  <a:pt x="4711073" y="2769895"/>
                </a:lnTo>
                <a:close/>
              </a:path>
              <a:path w="4711700" h="3270250">
                <a:moveTo>
                  <a:pt x="4711073" y="2832949"/>
                </a:moveTo>
                <a:lnTo>
                  <a:pt x="4702065" y="2832949"/>
                </a:lnTo>
                <a:lnTo>
                  <a:pt x="4702065" y="2805926"/>
                </a:lnTo>
                <a:lnTo>
                  <a:pt x="4711073" y="2805926"/>
                </a:lnTo>
                <a:lnTo>
                  <a:pt x="4711073" y="2832949"/>
                </a:lnTo>
                <a:close/>
              </a:path>
              <a:path w="4711700" h="3270250">
                <a:moveTo>
                  <a:pt x="4711073" y="2896004"/>
                </a:moveTo>
                <a:lnTo>
                  <a:pt x="4702065" y="2896004"/>
                </a:lnTo>
                <a:lnTo>
                  <a:pt x="4702065" y="2868980"/>
                </a:lnTo>
                <a:lnTo>
                  <a:pt x="4711073" y="2868980"/>
                </a:lnTo>
                <a:lnTo>
                  <a:pt x="4711073" y="2896004"/>
                </a:lnTo>
                <a:close/>
              </a:path>
              <a:path w="4711700" h="3270250">
                <a:moveTo>
                  <a:pt x="4711073" y="2959058"/>
                </a:moveTo>
                <a:lnTo>
                  <a:pt x="4702065" y="2959058"/>
                </a:lnTo>
                <a:lnTo>
                  <a:pt x="4702065" y="2932035"/>
                </a:lnTo>
                <a:lnTo>
                  <a:pt x="4711073" y="2932035"/>
                </a:lnTo>
                <a:lnTo>
                  <a:pt x="4711073" y="2959058"/>
                </a:lnTo>
                <a:close/>
              </a:path>
              <a:path w="4711700" h="3270250">
                <a:moveTo>
                  <a:pt x="4711073" y="3022113"/>
                </a:moveTo>
                <a:lnTo>
                  <a:pt x="4702065" y="3022113"/>
                </a:lnTo>
                <a:lnTo>
                  <a:pt x="4702065" y="2995089"/>
                </a:lnTo>
                <a:lnTo>
                  <a:pt x="4711073" y="2995089"/>
                </a:lnTo>
                <a:lnTo>
                  <a:pt x="4711073" y="3022113"/>
                </a:lnTo>
                <a:close/>
              </a:path>
              <a:path w="4711700" h="3270250">
                <a:moveTo>
                  <a:pt x="4711073" y="3085167"/>
                </a:moveTo>
                <a:lnTo>
                  <a:pt x="4702065" y="3085167"/>
                </a:lnTo>
                <a:lnTo>
                  <a:pt x="4702065" y="3058144"/>
                </a:lnTo>
                <a:lnTo>
                  <a:pt x="4711073" y="3058144"/>
                </a:lnTo>
                <a:lnTo>
                  <a:pt x="4711073" y="3085167"/>
                </a:lnTo>
                <a:close/>
              </a:path>
              <a:path w="4711700" h="3270250">
                <a:moveTo>
                  <a:pt x="4711073" y="3148222"/>
                </a:moveTo>
                <a:lnTo>
                  <a:pt x="4702065" y="3148222"/>
                </a:lnTo>
                <a:lnTo>
                  <a:pt x="4702065" y="3121198"/>
                </a:lnTo>
                <a:lnTo>
                  <a:pt x="4711073" y="3121198"/>
                </a:lnTo>
                <a:lnTo>
                  <a:pt x="4711073" y="3148222"/>
                </a:lnTo>
                <a:close/>
              </a:path>
              <a:path w="4711700" h="3270250">
                <a:moveTo>
                  <a:pt x="4711073" y="3211276"/>
                </a:moveTo>
                <a:lnTo>
                  <a:pt x="4702065" y="3211276"/>
                </a:lnTo>
                <a:lnTo>
                  <a:pt x="4702065" y="3184253"/>
                </a:lnTo>
                <a:lnTo>
                  <a:pt x="4711073" y="3184253"/>
                </a:lnTo>
                <a:lnTo>
                  <a:pt x="4711073" y="3211276"/>
                </a:lnTo>
                <a:close/>
              </a:path>
              <a:path w="4711700" h="3270250">
                <a:moveTo>
                  <a:pt x="4706569" y="3265323"/>
                </a:moveTo>
                <a:lnTo>
                  <a:pt x="4702065" y="3265323"/>
                </a:lnTo>
                <a:lnTo>
                  <a:pt x="4702065" y="3247307"/>
                </a:lnTo>
                <a:lnTo>
                  <a:pt x="4711073" y="3247307"/>
                </a:lnTo>
                <a:lnTo>
                  <a:pt x="4711073" y="3260819"/>
                </a:lnTo>
                <a:lnTo>
                  <a:pt x="4706569" y="3260819"/>
                </a:lnTo>
                <a:lnTo>
                  <a:pt x="4706569" y="3265323"/>
                </a:lnTo>
                <a:close/>
              </a:path>
              <a:path w="4711700" h="3270250">
                <a:moveTo>
                  <a:pt x="4711073" y="3269827"/>
                </a:moveTo>
                <a:lnTo>
                  <a:pt x="4697562" y="3269827"/>
                </a:lnTo>
                <a:lnTo>
                  <a:pt x="4697562" y="3260819"/>
                </a:lnTo>
                <a:lnTo>
                  <a:pt x="4702065" y="3260819"/>
                </a:lnTo>
                <a:lnTo>
                  <a:pt x="4702065" y="3265323"/>
                </a:lnTo>
                <a:lnTo>
                  <a:pt x="4711073" y="3265323"/>
                </a:lnTo>
                <a:lnTo>
                  <a:pt x="4711073" y="3269827"/>
                </a:lnTo>
                <a:close/>
              </a:path>
              <a:path w="4711700" h="3270250">
                <a:moveTo>
                  <a:pt x="4711073" y="3265323"/>
                </a:moveTo>
                <a:lnTo>
                  <a:pt x="4706569" y="3265323"/>
                </a:lnTo>
                <a:lnTo>
                  <a:pt x="4706569" y="3260819"/>
                </a:lnTo>
                <a:lnTo>
                  <a:pt x="4711073" y="3260819"/>
                </a:lnTo>
                <a:lnTo>
                  <a:pt x="4711073" y="3265323"/>
                </a:lnTo>
                <a:close/>
              </a:path>
              <a:path w="4711700" h="3270250">
                <a:moveTo>
                  <a:pt x="4661530" y="3269827"/>
                </a:moveTo>
                <a:lnTo>
                  <a:pt x="4634507" y="3269827"/>
                </a:lnTo>
                <a:lnTo>
                  <a:pt x="4634507" y="3260819"/>
                </a:lnTo>
                <a:lnTo>
                  <a:pt x="4661530" y="3260819"/>
                </a:lnTo>
                <a:lnTo>
                  <a:pt x="4661530" y="3269827"/>
                </a:lnTo>
                <a:close/>
              </a:path>
              <a:path w="4711700" h="3270250">
                <a:moveTo>
                  <a:pt x="4598476" y="3269827"/>
                </a:moveTo>
                <a:lnTo>
                  <a:pt x="4571452" y="3269827"/>
                </a:lnTo>
                <a:lnTo>
                  <a:pt x="4571452" y="3260819"/>
                </a:lnTo>
                <a:lnTo>
                  <a:pt x="4598476" y="3260819"/>
                </a:lnTo>
                <a:lnTo>
                  <a:pt x="4598476" y="3269827"/>
                </a:lnTo>
                <a:close/>
              </a:path>
              <a:path w="4711700" h="3270250">
                <a:moveTo>
                  <a:pt x="4535421" y="3269827"/>
                </a:moveTo>
                <a:lnTo>
                  <a:pt x="4508398" y="3269827"/>
                </a:lnTo>
                <a:lnTo>
                  <a:pt x="4508398" y="3260819"/>
                </a:lnTo>
                <a:lnTo>
                  <a:pt x="4535421" y="3260819"/>
                </a:lnTo>
                <a:lnTo>
                  <a:pt x="4535421" y="3269827"/>
                </a:lnTo>
                <a:close/>
              </a:path>
              <a:path w="4711700" h="3270250">
                <a:moveTo>
                  <a:pt x="4472367" y="3269827"/>
                </a:moveTo>
                <a:lnTo>
                  <a:pt x="4445343" y="3269827"/>
                </a:lnTo>
                <a:lnTo>
                  <a:pt x="4445343" y="3260819"/>
                </a:lnTo>
                <a:lnTo>
                  <a:pt x="4472367" y="3260819"/>
                </a:lnTo>
                <a:lnTo>
                  <a:pt x="4472367" y="3269827"/>
                </a:lnTo>
                <a:close/>
              </a:path>
              <a:path w="4711700" h="3270250">
                <a:moveTo>
                  <a:pt x="4409312" y="3269827"/>
                </a:moveTo>
                <a:lnTo>
                  <a:pt x="4382289" y="3269827"/>
                </a:lnTo>
                <a:lnTo>
                  <a:pt x="4382289" y="3260819"/>
                </a:lnTo>
                <a:lnTo>
                  <a:pt x="4409312" y="3260819"/>
                </a:lnTo>
                <a:lnTo>
                  <a:pt x="4409312" y="3269827"/>
                </a:lnTo>
                <a:close/>
              </a:path>
              <a:path w="4711700" h="3270250">
                <a:moveTo>
                  <a:pt x="4346258" y="3269827"/>
                </a:moveTo>
                <a:lnTo>
                  <a:pt x="4319234" y="3269827"/>
                </a:lnTo>
                <a:lnTo>
                  <a:pt x="4319234" y="3260819"/>
                </a:lnTo>
                <a:lnTo>
                  <a:pt x="4346258" y="3260819"/>
                </a:lnTo>
                <a:lnTo>
                  <a:pt x="4346258" y="3269827"/>
                </a:lnTo>
                <a:close/>
              </a:path>
              <a:path w="4711700" h="3270250">
                <a:moveTo>
                  <a:pt x="4283203" y="3269827"/>
                </a:moveTo>
                <a:lnTo>
                  <a:pt x="4256180" y="3269827"/>
                </a:lnTo>
                <a:lnTo>
                  <a:pt x="4256180" y="3260819"/>
                </a:lnTo>
                <a:lnTo>
                  <a:pt x="4283203" y="3260819"/>
                </a:lnTo>
                <a:lnTo>
                  <a:pt x="4283203" y="3269827"/>
                </a:lnTo>
                <a:close/>
              </a:path>
              <a:path w="4711700" h="3270250">
                <a:moveTo>
                  <a:pt x="4220149" y="3269827"/>
                </a:moveTo>
                <a:lnTo>
                  <a:pt x="4193125" y="3269827"/>
                </a:lnTo>
                <a:lnTo>
                  <a:pt x="4193125" y="3260819"/>
                </a:lnTo>
                <a:lnTo>
                  <a:pt x="4220149" y="3260819"/>
                </a:lnTo>
                <a:lnTo>
                  <a:pt x="4220149" y="3269827"/>
                </a:lnTo>
                <a:close/>
              </a:path>
              <a:path w="4711700" h="3270250">
                <a:moveTo>
                  <a:pt x="4157094" y="3269827"/>
                </a:moveTo>
                <a:lnTo>
                  <a:pt x="4130071" y="3269827"/>
                </a:lnTo>
                <a:lnTo>
                  <a:pt x="4130071" y="3260819"/>
                </a:lnTo>
                <a:lnTo>
                  <a:pt x="4157094" y="3260819"/>
                </a:lnTo>
                <a:lnTo>
                  <a:pt x="4157094" y="3269827"/>
                </a:lnTo>
                <a:close/>
              </a:path>
              <a:path w="4711700" h="3270250">
                <a:moveTo>
                  <a:pt x="4094040" y="3269827"/>
                </a:moveTo>
                <a:lnTo>
                  <a:pt x="4067016" y="3269827"/>
                </a:lnTo>
                <a:lnTo>
                  <a:pt x="4067016" y="3260819"/>
                </a:lnTo>
                <a:lnTo>
                  <a:pt x="4094040" y="3260819"/>
                </a:lnTo>
                <a:lnTo>
                  <a:pt x="4094040" y="3269827"/>
                </a:lnTo>
                <a:close/>
              </a:path>
              <a:path w="4711700" h="3270250">
                <a:moveTo>
                  <a:pt x="4030985" y="3269827"/>
                </a:moveTo>
                <a:lnTo>
                  <a:pt x="4003962" y="3269827"/>
                </a:lnTo>
                <a:lnTo>
                  <a:pt x="4003962" y="3260819"/>
                </a:lnTo>
                <a:lnTo>
                  <a:pt x="4030985" y="3260819"/>
                </a:lnTo>
                <a:lnTo>
                  <a:pt x="4030985" y="3269827"/>
                </a:lnTo>
                <a:close/>
              </a:path>
              <a:path w="4711700" h="3270250">
                <a:moveTo>
                  <a:pt x="3967931" y="3269827"/>
                </a:moveTo>
                <a:lnTo>
                  <a:pt x="3940907" y="3269827"/>
                </a:lnTo>
                <a:lnTo>
                  <a:pt x="3940907" y="3260819"/>
                </a:lnTo>
                <a:lnTo>
                  <a:pt x="3967931" y="3260819"/>
                </a:lnTo>
                <a:lnTo>
                  <a:pt x="3967931" y="3269827"/>
                </a:lnTo>
                <a:close/>
              </a:path>
              <a:path w="4711700" h="3270250">
                <a:moveTo>
                  <a:pt x="3904876" y="3269827"/>
                </a:moveTo>
                <a:lnTo>
                  <a:pt x="3877853" y="3269827"/>
                </a:lnTo>
                <a:lnTo>
                  <a:pt x="3877853" y="3260819"/>
                </a:lnTo>
                <a:lnTo>
                  <a:pt x="3904876" y="3260819"/>
                </a:lnTo>
                <a:lnTo>
                  <a:pt x="3904876" y="3269827"/>
                </a:lnTo>
                <a:close/>
              </a:path>
              <a:path w="4711700" h="3270250">
                <a:moveTo>
                  <a:pt x="3841822" y="3269827"/>
                </a:moveTo>
                <a:lnTo>
                  <a:pt x="3814798" y="3269827"/>
                </a:lnTo>
                <a:lnTo>
                  <a:pt x="3814798" y="3260819"/>
                </a:lnTo>
                <a:lnTo>
                  <a:pt x="3841822" y="3260819"/>
                </a:lnTo>
                <a:lnTo>
                  <a:pt x="3841822" y="3269827"/>
                </a:lnTo>
                <a:close/>
              </a:path>
              <a:path w="4711700" h="3270250">
                <a:moveTo>
                  <a:pt x="3778767" y="3269827"/>
                </a:moveTo>
                <a:lnTo>
                  <a:pt x="3751744" y="3269827"/>
                </a:lnTo>
                <a:lnTo>
                  <a:pt x="3751744" y="3260819"/>
                </a:lnTo>
                <a:lnTo>
                  <a:pt x="3778767" y="3260819"/>
                </a:lnTo>
                <a:lnTo>
                  <a:pt x="3778767" y="3269827"/>
                </a:lnTo>
                <a:close/>
              </a:path>
              <a:path w="4711700" h="3270250">
                <a:moveTo>
                  <a:pt x="3715713" y="3269827"/>
                </a:moveTo>
                <a:lnTo>
                  <a:pt x="3688689" y="3269827"/>
                </a:lnTo>
                <a:lnTo>
                  <a:pt x="3688689" y="3260819"/>
                </a:lnTo>
                <a:lnTo>
                  <a:pt x="3715713" y="3260819"/>
                </a:lnTo>
                <a:lnTo>
                  <a:pt x="3715713" y="3269827"/>
                </a:lnTo>
                <a:close/>
              </a:path>
              <a:path w="4711700" h="3270250">
                <a:moveTo>
                  <a:pt x="3652658" y="3269827"/>
                </a:moveTo>
                <a:lnTo>
                  <a:pt x="3625635" y="3269827"/>
                </a:lnTo>
                <a:lnTo>
                  <a:pt x="3625635" y="3260819"/>
                </a:lnTo>
                <a:lnTo>
                  <a:pt x="3652658" y="3260819"/>
                </a:lnTo>
                <a:lnTo>
                  <a:pt x="3652658" y="3269827"/>
                </a:lnTo>
                <a:close/>
              </a:path>
              <a:path w="4711700" h="3270250">
                <a:moveTo>
                  <a:pt x="3589603" y="3269827"/>
                </a:moveTo>
                <a:lnTo>
                  <a:pt x="3562580" y="3269827"/>
                </a:lnTo>
                <a:lnTo>
                  <a:pt x="3562580" y="3260819"/>
                </a:lnTo>
                <a:lnTo>
                  <a:pt x="3589603" y="3260819"/>
                </a:lnTo>
                <a:lnTo>
                  <a:pt x="3589603" y="3269827"/>
                </a:lnTo>
                <a:close/>
              </a:path>
              <a:path w="4711700" h="3270250">
                <a:moveTo>
                  <a:pt x="3526549" y="3269827"/>
                </a:moveTo>
                <a:lnTo>
                  <a:pt x="3499526" y="3269827"/>
                </a:lnTo>
                <a:lnTo>
                  <a:pt x="3499526" y="3260819"/>
                </a:lnTo>
                <a:lnTo>
                  <a:pt x="3526549" y="3260819"/>
                </a:lnTo>
                <a:lnTo>
                  <a:pt x="3526549" y="3269827"/>
                </a:lnTo>
                <a:close/>
              </a:path>
              <a:path w="4711700" h="3270250">
                <a:moveTo>
                  <a:pt x="3463494" y="3269827"/>
                </a:moveTo>
                <a:lnTo>
                  <a:pt x="3436471" y="3269827"/>
                </a:lnTo>
                <a:lnTo>
                  <a:pt x="3436471" y="3260819"/>
                </a:lnTo>
                <a:lnTo>
                  <a:pt x="3463494" y="3260819"/>
                </a:lnTo>
                <a:lnTo>
                  <a:pt x="3463494" y="3269827"/>
                </a:lnTo>
                <a:close/>
              </a:path>
              <a:path w="4711700" h="3270250">
                <a:moveTo>
                  <a:pt x="3400440" y="3269827"/>
                </a:moveTo>
                <a:lnTo>
                  <a:pt x="3373417" y="3269827"/>
                </a:lnTo>
                <a:lnTo>
                  <a:pt x="3373417" y="3260819"/>
                </a:lnTo>
                <a:lnTo>
                  <a:pt x="3400440" y="3260819"/>
                </a:lnTo>
                <a:lnTo>
                  <a:pt x="3400440" y="3269827"/>
                </a:lnTo>
                <a:close/>
              </a:path>
              <a:path w="4711700" h="3270250">
                <a:moveTo>
                  <a:pt x="3337385" y="3269827"/>
                </a:moveTo>
                <a:lnTo>
                  <a:pt x="3310362" y="3269827"/>
                </a:lnTo>
                <a:lnTo>
                  <a:pt x="3310362" y="3260819"/>
                </a:lnTo>
                <a:lnTo>
                  <a:pt x="3337385" y="3260819"/>
                </a:lnTo>
                <a:lnTo>
                  <a:pt x="3337385" y="3269827"/>
                </a:lnTo>
                <a:close/>
              </a:path>
              <a:path w="4711700" h="3270250">
                <a:moveTo>
                  <a:pt x="3274331" y="3269827"/>
                </a:moveTo>
                <a:lnTo>
                  <a:pt x="3247307" y="3269827"/>
                </a:lnTo>
                <a:lnTo>
                  <a:pt x="3247307" y="3260819"/>
                </a:lnTo>
                <a:lnTo>
                  <a:pt x="3274331" y="3260819"/>
                </a:lnTo>
                <a:lnTo>
                  <a:pt x="3274331" y="3269827"/>
                </a:lnTo>
                <a:close/>
              </a:path>
              <a:path w="4711700" h="3270250">
                <a:moveTo>
                  <a:pt x="3211276" y="3269827"/>
                </a:moveTo>
                <a:lnTo>
                  <a:pt x="3184253" y="3269827"/>
                </a:lnTo>
                <a:lnTo>
                  <a:pt x="3184253" y="3260819"/>
                </a:lnTo>
                <a:lnTo>
                  <a:pt x="3211276" y="3260819"/>
                </a:lnTo>
                <a:lnTo>
                  <a:pt x="3211276" y="3269827"/>
                </a:lnTo>
                <a:close/>
              </a:path>
              <a:path w="4711700" h="3270250">
                <a:moveTo>
                  <a:pt x="3148222" y="3269827"/>
                </a:moveTo>
                <a:lnTo>
                  <a:pt x="3121198" y="3269827"/>
                </a:lnTo>
                <a:lnTo>
                  <a:pt x="3121198" y="3260819"/>
                </a:lnTo>
                <a:lnTo>
                  <a:pt x="3148222" y="3260819"/>
                </a:lnTo>
                <a:lnTo>
                  <a:pt x="3148222" y="3269827"/>
                </a:lnTo>
                <a:close/>
              </a:path>
              <a:path w="4711700" h="3270250">
                <a:moveTo>
                  <a:pt x="3085167" y="3269827"/>
                </a:moveTo>
                <a:lnTo>
                  <a:pt x="3058144" y="3269827"/>
                </a:lnTo>
                <a:lnTo>
                  <a:pt x="3058144" y="3260819"/>
                </a:lnTo>
                <a:lnTo>
                  <a:pt x="3085167" y="3260819"/>
                </a:lnTo>
                <a:lnTo>
                  <a:pt x="3085167" y="3269827"/>
                </a:lnTo>
                <a:close/>
              </a:path>
              <a:path w="4711700" h="3270250">
                <a:moveTo>
                  <a:pt x="3022113" y="3269827"/>
                </a:moveTo>
                <a:lnTo>
                  <a:pt x="2995089" y="3269827"/>
                </a:lnTo>
                <a:lnTo>
                  <a:pt x="2995089" y="3260819"/>
                </a:lnTo>
                <a:lnTo>
                  <a:pt x="3022113" y="3260819"/>
                </a:lnTo>
                <a:lnTo>
                  <a:pt x="3022113" y="3269827"/>
                </a:lnTo>
                <a:close/>
              </a:path>
              <a:path w="4711700" h="3270250">
                <a:moveTo>
                  <a:pt x="2959058" y="3269827"/>
                </a:moveTo>
                <a:lnTo>
                  <a:pt x="2932035" y="3269827"/>
                </a:lnTo>
                <a:lnTo>
                  <a:pt x="2932035" y="3260819"/>
                </a:lnTo>
                <a:lnTo>
                  <a:pt x="2959058" y="3260819"/>
                </a:lnTo>
                <a:lnTo>
                  <a:pt x="2959058" y="3269827"/>
                </a:lnTo>
                <a:close/>
              </a:path>
              <a:path w="4711700" h="3270250">
                <a:moveTo>
                  <a:pt x="2896004" y="3269827"/>
                </a:moveTo>
                <a:lnTo>
                  <a:pt x="2868980" y="3269827"/>
                </a:lnTo>
                <a:lnTo>
                  <a:pt x="2868980" y="3260819"/>
                </a:lnTo>
                <a:lnTo>
                  <a:pt x="2896004" y="3260819"/>
                </a:lnTo>
                <a:lnTo>
                  <a:pt x="2896004" y="3269827"/>
                </a:lnTo>
                <a:close/>
              </a:path>
              <a:path w="4711700" h="3270250">
                <a:moveTo>
                  <a:pt x="2832949" y="3269827"/>
                </a:moveTo>
                <a:lnTo>
                  <a:pt x="2805926" y="3269827"/>
                </a:lnTo>
                <a:lnTo>
                  <a:pt x="2805926" y="3260819"/>
                </a:lnTo>
                <a:lnTo>
                  <a:pt x="2832949" y="3260819"/>
                </a:lnTo>
                <a:lnTo>
                  <a:pt x="2832949" y="3269827"/>
                </a:lnTo>
                <a:close/>
              </a:path>
              <a:path w="4711700" h="3270250">
                <a:moveTo>
                  <a:pt x="2769895" y="3269827"/>
                </a:moveTo>
                <a:lnTo>
                  <a:pt x="2742871" y="3269827"/>
                </a:lnTo>
                <a:lnTo>
                  <a:pt x="2742871" y="3260819"/>
                </a:lnTo>
                <a:lnTo>
                  <a:pt x="2769895" y="3260819"/>
                </a:lnTo>
                <a:lnTo>
                  <a:pt x="2769895" y="3269827"/>
                </a:lnTo>
                <a:close/>
              </a:path>
              <a:path w="4711700" h="3270250">
                <a:moveTo>
                  <a:pt x="2706840" y="3269827"/>
                </a:moveTo>
                <a:lnTo>
                  <a:pt x="2679817" y="3269827"/>
                </a:lnTo>
                <a:lnTo>
                  <a:pt x="2679817" y="3260819"/>
                </a:lnTo>
                <a:lnTo>
                  <a:pt x="2706840" y="3260819"/>
                </a:lnTo>
                <a:lnTo>
                  <a:pt x="2706840" y="3269827"/>
                </a:lnTo>
                <a:close/>
              </a:path>
              <a:path w="4711700" h="3270250">
                <a:moveTo>
                  <a:pt x="2643786" y="3269827"/>
                </a:moveTo>
                <a:lnTo>
                  <a:pt x="2616762" y="3269827"/>
                </a:lnTo>
                <a:lnTo>
                  <a:pt x="2616762" y="3260819"/>
                </a:lnTo>
                <a:lnTo>
                  <a:pt x="2643786" y="3260819"/>
                </a:lnTo>
                <a:lnTo>
                  <a:pt x="2643786" y="3269827"/>
                </a:lnTo>
                <a:close/>
              </a:path>
              <a:path w="4711700" h="3270250">
                <a:moveTo>
                  <a:pt x="2580731" y="3269827"/>
                </a:moveTo>
                <a:lnTo>
                  <a:pt x="2553708" y="3269827"/>
                </a:lnTo>
                <a:lnTo>
                  <a:pt x="2553708" y="3260819"/>
                </a:lnTo>
                <a:lnTo>
                  <a:pt x="2580731" y="3260819"/>
                </a:lnTo>
                <a:lnTo>
                  <a:pt x="2580731" y="3269827"/>
                </a:lnTo>
                <a:close/>
              </a:path>
              <a:path w="4711700" h="3270250">
                <a:moveTo>
                  <a:pt x="2517677" y="3269827"/>
                </a:moveTo>
                <a:lnTo>
                  <a:pt x="2490653" y="3269827"/>
                </a:lnTo>
                <a:lnTo>
                  <a:pt x="2490653" y="3260819"/>
                </a:lnTo>
                <a:lnTo>
                  <a:pt x="2517677" y="3260819"/>
                </a:lnTo>
                <a:lnTo>
                  <a:pt x="2517677" y="3269827"/>
                </a:lnTo>
                <a:close/>
              </a:path>
              <a:path w="4711700" h="3270250">
                <a:moveTo>
                  <a:pt x="2454622" y="3269827"/>
                </a:moveTo>
                <a:lnTo>
                  <a:pt x="2427599" y="3269827"/>
                </a:lnTo>
                <a:lnTo>
                  <a:pt x="2427599" y="3260819"/>
                </a:lnTo>
                <a:lnTo>
                  <a:pt x="2454622" y="3260819"/>
                </a:lnTo>
                <a:lnTo>
                  <a:pt x="2454622" y="3269827"/>
                </a:lnTo>
                <a:close/>
              </a:path>
              <a:path w="4711700" h="3270250">
                <a:moveTo>
                  <a:pt x="2391568" y="3269827"/>
                </a:moveTo>
                <a:lnTo>
                  <a:pt x="2364544" y="3269827"/>
                </a:lnTo>
                <a:lnTo>
                  <a:pt x="2364544" y="3260819"/>
                </a:lnTo>
                <a:lnTo>
                  <a:pt x="2391568" y="3260819"/>
                </a:lnTo>
                <a:lnTo>
                  <a:pt x="2391568" y="3269827"/>
                </a:lnTo>
                <a:close/>
              </a:path>
              <a:path w="4711700" h="3270250">
                <a:moveTo>
                  <a:pt x="2328513" y="3269827"/>
                </a:moveTo>
                <a:lnTo>
                  <a:pt x="2301490" y="3269827"/>
                </a:lnTo>
                <a:lnTo>
                  <a:pt x="2301490" y="3260819"/>
                </a:lnTo>
                <a:lnTo>
                  <a:pt x="2328513" y="3260819"/>
                </a:lnTo>
                <a:lnTo>
                  <a:pt x="2328513" y="3269827"/>
                </a:lnTo>
                <a:close/>
              </a:path>
              <a:path w="4711700" h="3270250">
                <a:moveTo>
                  <a:pt x="2265458" y="3269827"/>
                </a:moveTo>
                <a:lnTo>
                  <a:pt x="2238435" y="3269827"/>
                </a:lnTo>
                <a:lnTo>
                  <a:pt x="2238435" y="3260819"/>
                </a:lnTo>
                <a:lnTo>
                  <a:pt x="2265458" y="3260819"/>
                </a:lnTo>
                <a:lnTo>
                  <a:pt x="2265458" y="3269827"/>
                </a:lnTo>
                <a:close/>
              </a:path>
              <a:path w="4711700" h="3270250">
                <a:moveTo>
                  <a:pt x="2202404" y="3269827"/>
                </a:moveTo>
                <a:lnTo>
                  <a:pt x="2175381" y="3269827"/>
                </a:lnTo>
                <a:lnTo>
                  <a:pt x="2175381" y="3260819"/>
                </a:lnTo>
                <a:lnTo>
                  <a:pt x="2202404" y="3260819"/>
                </a:lnTo>
                <a:lnTo>
                  <a:pt x="2202404" y="3269827"/>
                </a:lnTo>
                <a:close/>
              </a:path>
              <a:path w="4711700" h="3270250">
                <a:moveTo>
                  <a:pt x="2139349" y="3269827"/>
                </a:moveTo>
                <a:lnTo>
                  <a:pt x="2112326" y="3269827"/>
                </a:lnTo>
                <a:lnTo>
                  <a:pt x="2112326" y="3260819"/>
                </a:lnTo>
                <a:lnTo>
                  <a:pt x="2139349" y="3260819"/>
                </a:lnTo>
                <a:lnTo>
                  <a:pt x="2139349" y="3269827"/>
                </a:lnTo>
                <a:close/>
              </a:path>
              <a:path w="4711700" h="3270250">
                <a:moveTo>
                  <a:pt x="2076295" y="3269827"/>
                </a:moveTo>
                <a:lnTo>
                  <a:pt x="2049272" y="3269827"/>
                </a:lnTo>
                <a:lnTo>
                  <a:pt x="2049272" y="3260819"/>
                </a:lnTo>
                <a:lnTo>
                  <a:pt x="2076295" y="3260819"/>
                </a:lnTo>
                <a:lnTo>
                  <a:pt x="2076295" y="3269827"/>
                </a:lnTo>
                <a:close/>
              </a:path>
              <a:path w="4711700" h="3270250">
                <a:moveTo>
                  <a:pt x="2013240" y="3269827"/>
                </a:moveTo>
                <a:lnTo>
                  <a:pt x="1986217" y="3269827"/>
                </a:lnTo>
                <a:lnTo>
                  <a:pt x="1986217" y="3260819"/>
                </a:lnTo>
                <a:lnTo>
                  <a:pt x="2013240" y="3260819"/>
                </a:lnTo>
                <a:lnTo>
                  <a:pt x="2013240" y="3269827"/>
                </a:lnTo>
                <a:close/>
              </a:path>
              <a:path w="4711700" h="3270250">
                <a:moveTo>
                  <a:pt x="1950186" y="3269827"/>
                </a:moveTo>
                <a:lnTo>
                  <a:pt x="1923162" y="3269827"/>
                </a:lnTo>
                <a:lnTo>
                  <a:pt x="1923162" y="3260819"/>
                </a:lnTo>
                <a:lnTo>
                  <a:pt x="1950186" y="3260819"/>
                </a:lnTo>
                <a:lnTo>
                  <a:pt x="1950186" y="3269827"/>
                </a:lnTo>
                <a:close/>
              </a:path>
              <a:path w="4711700" h="3270250">
                <a:moveTo>
                  <a:pt x="1887131" y="3269827"/>
                </a:moveTo>
                <a:lnTo>
                  <a:pt x="1860108" y="3269827"/>
                </a:lnTo>
                <a:lnTo>
                  <a:pt x="1860108" y="3260819"/>
                </a:lnTo>
                <a:lnTo>
                  <a:pt x="1887131" y="3260819"/>
                </a:lnTo>
                <a:lnTo>
                  <a:pt x="1887131" y="3269827"/>
                </a:lnTo>
                <a:close/>
              </a:path>
              <a:path w="4711700" h="3270250">
                <a:moveTo>
                  <a:pt x="1824077" y="3269827"/>
                </a:moveTo>
                <a:lnTo>
                  <a:pt x="1797053" y="3269827"/>
                </a:lnTo>
                <a:lnTo>
                  <a:pt x="1797053" y="3260819"/>
                </a:lnTo>
                <a:lnTo>
                  <a:pt x="1824077" y="3260819"/>
                </a:lnTo>
                <a:lnTo>
                  <a:pt x="1824077" y="3269827"/>
                </a:lnTo>
                <a:close/>
              </a:path>
              <a:path w="4711700" h="3270250">
                <a:moveTo>
                  <a:pt x="1761022" y="3269827"/>
                </a:moveTo>
                <a:lnTo>
                  <a:pt x="1733999" y="3269827"/>
                </a:lnTo>
                <a:lnTo>
                  <a:pt x="1733999" y="3260819"/>
                </a:lnTo>
                <a:lnTo>
                  <a:pt x="1761022" y="3260819"/>
                </a:lnTo>
                <a:lnTo>
                  <a:pt x="1761022" y="3269827"/>
                </a:lnTo>
                <a:close/>
              </a:path>
              <a:path w="4711700" h="3270250">
                <a:moveTo>
                  <a:pt x="1697968" y="3269827"/>
                </a:moveTo>
                <a:lnTo>
                  <a:pt x="1670944" y="3269827"/>
                </a:lnTo>
                <a:lnTo>
                  <a:pt x="1670944" y="3260819"/>
                </a:lnTo>
                <a:lnTo>
                  <a:pt x="1697968" y="3260819"/>
                </a:lnTo>
                <a:lnTo>
                  <a:pt x="1697968" y="3269827"/>
                </a:lnTo>
                <a:close/>
              </a:path>
              <a:path w="4711700" h="3270250">
                <a:moveTo>
                  <a:pt x="1634913" y="3269827"/>
                </a:moveTo>
                <a:lnTo>
                  <a:pt x="1607890" y="3269827"/>
                </a:lnTo>
                <a:lnTo>
                  <a:pt x="1607890" y="3260819"/>
                </a:lnTo>
                <a:lnTo>
                  <a:pt x="1634913" y="3260819"/>
                </a:lnTo>
                <a:lnTo>
                  <a:pt x="1634913" y="3269827"/>
                </a:lnTo>
                <a:close/>
              </a:path>
              <a:path w="4711700" h="3270250">
                <a:moveTo>
                  <a:pt x="1571859" y="3269827"/>
                </a:moveTo>
                <a:lnTo>
                  <a:pt x="1544835" y="3269827"/>
                </a:lnTo>
                <a:lnTo>
                  <a:pt x="1544835" y="3260819"/>
                </a:lnTo>
                <a:lnTo>
                  <a:pt x="1571859" y="3260819"/>
                </a:lnTo>
                <a:lnTo>
                  <a:pt x="1571859" y="3269827"/>
                </a:lnTo>
                <a:close/>
              </a:path>
              <a:path w="4711700" h="3270250">
                <a:moveTo>
                  <a:pt x="1508804" y="3269827"/>
                </a:moveTo>
                <a:lnTo>
                  <a:pt x="1481781" y="3269827"/>
                </a:lnTo>
                <a:lnTo>
                  <a:pt x="1481781" y="3260819"/>
                </a:lnTo>
                <a:lnTo>
                  <a:pt x="1508804" y="3260819"/>
                </a:lnTo>
                <a:lnTo>
                  <a:pt x="1508804" y="3269827"/>
                </a:lnTo>
                <a:close/>
              </a:path>
              <a:path w="4711700" h="3270250">
                <a:moveTo>
                  <a:pt x="1445750" y="3269827"/>
                </a:moveTo>
                <a:lnTo>
                  <a:pt x="1418726" y="3269827"/>
                </a:lnTo>
                <a:lnTo>
                  <a:pt x="1418726" y="3260819"/>
                </a:lnTo>
                <a:lnTo>
                  <a:pt x="1445750" y="3260819"/>
                </a:lnTo>
                <a:lnTo>
                  <a:pt x="1445750" y="3269827"/>
                </a:lnTo>
                <a:close/>
              </a:path>
              <a:path w="4711700" h="3270250">
                <a:moveTo>
                  <a:pt x="1382695" y="3269827"/>
                </a:moveTo>
                <a:lnTo>
                  <a:pt x="1355672" y="3269827"/>
                </a:lnTo>
                <a:lnTo>
                  <a:pt x="1355672" y="3260819"/>
                </a:lnTo>
                <a:lnTo>
                  <a:pt x="1382695" y="3260819"/>
                </a:lnTo>
                <a:lnTo>
                  <a:pt x="1382695" y="3269827"/>
                </a:lnTo>
                <a:close/>
              </a:path>
              <a:path w="4711700" h="3270250">
                <a:moveTo>
                  <a:pt x="1319641" y="3269827"/>
                </a:moveTo>
                <a:lnTo>
                  <a:pt x="1292617" y="3269827"/>
                </a:lnTo>
                <a:lnTo>
                  <a:pt x="1292617" y="3260819"/>
                </a:lnTo>
                <a:lnTo>
                  <a:pt x="1319641" y="3260819"/>
                </a:lnTo>
                <a:lnTo>
                  <a:pt x="1319641" y="3269827"/>
                </a:lnTo>
                <a:close/>
              </a:path>
              <a:path w="4711700" h="3270250">
                <a:moveTo>
                  <a:pt x="1256586" y="3269827"/>
                </a:moveTo>
                <a:lnTo>
                  <a:pt x="1229563" y="3269827"/>
                </a:lnTo>
                <a:lnTo>
                  <a:pt x="1229563" y="3260819"/>
                </a:lnTo>
                <a:lnTo>
                  <a:pt x="1256586" y="3260819"/>
                </a:lnTo>
                <a:lnTo>
                  <a:pt x="1256586" y="3269827"/>
                </a:lnTo>
                <a:close/>
              </a:path>
              <a:path w="4711700" h="3270250">
                <a:moveTo>
                  <a:pt x="1193532" y="3269827"/>
                </a:moveTo>
                <a:lnTo>
                  <a:pt x="1166508" y="3269827"/>
                </a:lnTo>
                <a:lnTo>
                  <a:pt x="1166508" y="3260819"/>
                </a:lnTo>
                <a:lnTo>
                  <a:pt x="1193532" y="3260819"/>
                </a:lnTo>
                <a:lnTo>
                  <a:pt x="1193532" y="3269827"/>
                </a:lnTo>
                <a:close/>
              </a:path>
              <a:path w="4711700" h="3270250">
                <a:moveTo>
                  <a:pt x="1130477" y="3269827"/>
                </a:moveTo>
                <a:lnTo>
                  <a:pt x="1103454" y="3269827"/>
                </a:lnTo>
                <a:lnTo>
                  <a:pt x="1103454" y="3260819"/>
                </a:lnTo>
                <a:lnTo>
                  <a:pt x="1130477" y="3260819"/>
                </a:lnTo>
                <a:lnTo>
                  <a:pt x="1130477" y="3269827"/>
                </a:lnTo>
                <a:close/>
              </a:path>
              <a:path w="4711700" h="3270250">
                <a:moveTo>
                  <a:pt x="1067423" y="3269827"/>
                </a:moveTo>
                <a:lnTo>
                  <a:pt x="1040399" y="3269827"/>
                </a:lnTo>
                <a:lnTo>
                  <a:pt x="1040399" y="3260819"/>
                </a:lnTo>
                <a:lnTo>
                  <a:pt x="1067423" y="3260819"/>
                </a:lnTo>
                <a:lnTo>
                  <a:pt x="1067423" y="3269827"/>
                </a:lnTo>
                <a:close/>
              </a:path>
              <a:path w="4711700" h="3270250">
                <a:moveTo>
                  <a:pt x="1004368" y="3269827"/>
                </a:moveTo>
                <a:lnTo>
                  <a:pt x="977345" y="3269827"/>
                </a:lnTo>
                <a:lnTo>
                  <a:pt x="977345" y="3260819"/>
                </a:lnTo>
                <a:lnTo>
                  <a:pt x="1004368" y="3260819"/>
                </a:lnTo>
                <a:lnTo>
                  <a:pt x="1004368" y="3269827"/>
                </a:lnTo>
                <a:close/>
              </a:path>
              <a:path w="4711700" h="3270250">
                <a:moveTo>
                  <a:pt x="941313" y="3269827"/>
                </a:moveTo>
                <a:lnTo>
                  <a:pt x="914290" y="3269827"/>
                </a:lnTo>
                <a:lnTo>
                  <a:pt x="914290" y="3260819"/>
                </a:lnTo>
                <a:lnTo>
                  <a:pt x="941313" y="3260819"/>
                </a:lnTo>
                <a:lnTo>
                  <a:pt x="941313" y="3269827"/>
                </a:lnTo>
                <a:close/>
              </a:path>
              <a:path w="4711700" h="3270250">
                <a:moveTo>
                  <a:pt x="878259" y="3269827"/>
                </a:moveTo>
                <a:lnTo>
                  <a:pt x="851236" y="3269827"/>
                </a:lnTo>
                <a:lnTo>
                  <a:pt x="851236" y="3260819"/>
                </a:lnTo>
                <a:lnTo>
                  <a:pt x="878259" y="3260819"/>
                </a:lnTo>
                <a:lnTo>
                  <a:pt x="878259" y="3269827"/>
                </a:lnTo>
                <a:close/>
              </a:path>
              <a:path w="4711700" h="3270250">
                <a:moveTo>
                  <a:pt x="815204" y="3269827"/>
                </a:moveTo>
                <a:lnTo>
                  <a:pt x="788181" y="3269827"/>
                </a:lnTo>
                <a:lnTo>
                  <a:pt x="788181" y="3260819"/>
                </a:lnTo>
                <a:lnTo>
                  <a:pt x="815204" y="3260819"/>
                </a:lnTo>
                <a:lnTo>
                  <a:pt x="815204" y="3269827"/>
                </a:lnTo>
                <a:close/>
              </a:path>
              <a:path w="4711700" h="3270250">
                <a:moveTo>
                  <a:pt x="752150" y="3269827"/>
                </a:moveTo>
                <a:lnTo>
                  <a:pt x="725127" y="3269827"/>
                </a:lnTo>
                <a:lnTo>
                  <a:pt x="725127" y="3260819"/>
                </a:lnTo>
                <a:lnTo>
                  <a:pt x="752150" y="3260819"/>
                </a:lnTo>
                <a:lnTo>
                  <a:pt x="752150" y="3269827"/>
                </a:lnTo>
                <a:close/>
              </a:path>
              <a:path w="4711700" h="3270250">
                <a:moveTo>
                  <a:pt x="689095" y="3269827"/>
                </a:moveTo>
                <a:lnTo>
                  <a:pt x="662072" y="3269827"/>
                </a:lnTo>
                <a:lnTo>
                  <a:pt x="662072" y="3260819"/>
                </a:lnTo>
                <a:lnTo>
                  <a:pt x="689095" y="3260819"/>
                </a:lnTo>
                <a:lnTo>
                  <a:pt x="689095" y="3269827"/>
                </a:lnTo>
                <a:close/>
              </a:path>
              <a:path w="4711700" h="3270250">
                <a:moveTo>
                  <a:pt x="626041" y="3269827"/>
                </a:moveTo>
                <a:lnTo>
                  <a:pt x="599017" y="3269827"/>
                </a:lnTo>
                <a:lnTo>
                  <a:pt x="599017" y="3260819"/>
                </a:lnTo>
                <a:lnTo>
                  <a:pt x="626041" y="3260819"/>
                </a:lnTo>
                <a:lnTo>
                  <a:pt x="626041" y="3269827"/>
                </a:lnTo>
                <a:close/>
              </a:path>
              <a:path w="4711700" h="3270250">
                <a:moveTo>
                  <a:pt x="562986" y="3269827"/>
                </a:moveTo>
                <a:lnTo>
                  <a:pt x="535963" y="3269827"/>
                </a:lnTo>
                <a:lnTo>
                  <a:pt x="535963" y="3260819"/>
                </a:lnTo>
                <a:lnTo>
                  <a:pt x="562986" y="3260819"/>
                </a:lnTo>
                <a:lnTo>
                  <a:pt x="562986" y="3269827"/>
                </a:lnTo>
                <a:close/>
              </a:path>
              <a:path w="4711700" h="3270250">
                <a:moveTo>
                  <a:pt x="499932" y="3269827"/>
                </a:moveTo>
                <a:lnTo>
                  <a:pt x="472908" y="3269827"/>
                </a:lnTo>
                <a:lnTo>
                  <a:pt x="472908" y="3260819"/>
                </a:lnTo>
                <a:lnTo>
                  <a:pt x="499932" y="3260819"/>
                </a:lnTo>
                <a:lnTo>
                  <a:pt x="499932" y="3269827"/>
                </a:lnTo>
                <a:close/>
              </a:path>
              <a:path w="4711700" h="3270250">
                <a:moveTo>
                  <a:pt x="436878" y="3269827"/>
                </a:moveTo>
                <a:lnTo>
                  <a:pt x="409854" y="3269827"/>
                </a:lnTo>
                <a:lnTo>
                  <a:pt x="409854" y="3260819"/>
                </a:lnTo>
                <a:lnTo>
                  <a:pt x="436878" y="3260819"/>
                </a:lnTo>
                <a:lnTo>
                  <a:pt x="436878" y="3269827"/>
                </a:lnTo>
                <a:close/>
              </a:path>
              <a:path w="4711700" h="3270250">
                <a:moveTo>
                  <a:pt x="373823" y="3269827"/>
                </a:moveTo>
                <a:lnTo>
                  <a:pt x="346799" y="3269827"/>
                </a:lnTo>
                <a:lnTo>
                  <a:pt x="346799" y="3260819"/>
                </a:lnTo>
                <a:lnTo>
                  <a:pt x="373823" y="3260819"/>
                </a:lnTo>
                <a:lnTo>
                  <a:pt x="373823" y="3269827"/>
                </a:lnTo>
                <a:close/>
              </a:path>
              <a:path w="4711700" h="3270250">
                <a:moveTo>
                  <a:pt x="310768" y="3269827"/>
                </a:moveTo>
                <a:lnTo>
                  <a:pt x="283745" y="3269827"/>
                </a:lnTo>
                <a:lnTo>
                  <a:pt x="283745" y="3260819"/>
                </a:lnTo>
                <a:lnTo>
                  <a:pt x="310768" y="3260819"/>
                </a:lnTo>
                <a:lnTo>
                  <a:pt x="310768" y="3269827"/>
                </a:lnTo>
                <a:close/>
              </a:path>
              <a:path w="4711700" h="3270250">
                <a:moveTo>
                  <a:pt x="247714" y="3269827"/>
                </a:moveTo>
                <a:lnTo>
                  <a:pt x="220690" y="3269827"/>
                </a:lnTo>
                <a:lnTo>
                  <a:pt x="220690" y="3260819"/>
                </a:lnTo>
                <a:lnTo>
                  <a:pt x="247714" y="3260819"/>
                </a:lnTo>
                <a:lnTo>
                  <a:pt x="247714" y="3269827"/>
                </a:lnTo>
                <a:close/>
              </a:path>
              <a:path w="4711700" h="3270250">
                <a:moveTo>
                  <a:pt x="184659" y="3269827"/>
                </a:moveTo>
                <a:lnTo>
                  <a:pt x="157636" y="3269827"/>
                </a:lnTo>
                <a:lnTo>
                  <a:pt x="157636" y="3260819"/>
                </a:lnTo>
                <a:lnTo>
                  <a:pt x="184659" y="3260819"/>
                </a:lnTo>
                <a:lnTo>
                  <a:pt x="184659" y="3269827"/>
                </a:lnTo>
                <a:close/>
              </a:path>
              <a:path w="4711700" h="3270250">
                <a:moveTo>
                  <a:pt x="121605" y="3269827"/>
                </a:moveTo>
                <a:lnTo>
                  <a:pt x="94581" y="3269827"/>
                </a:lnTo>
                <a:lnTo>
                  <a:pt x="94581" y="3260819"/>
                </a:lnTo>
                <a:lnTo>
                  <a:pt x="121605" y="3260819"/>
                </a:lnTo>
                <a:lnTo>
                  <a:pt x="121605" y="3269827"/>
                </a:lnTo>
                <a:close/>
              </a:path>
              <a:path w="4711700" h="3270250">
                <a:moveTo>
                  <a:pt x="58550" y="3269827"/>
                </a:moveTo>
                <a:lnTo>
                  <a:pt x="31527" y="3269827"/>
                </a:lnTo>
                <a:lnTo>
                  <a:pt x="31527" y="3260819"/>
                </a:lnTo>
                <a:lnTo>
                  <a:pt x="58550" y="3260819"/>
                </a:lnTo>
                <a:lnTo>
                  <a:pt x="58550" y="3269827"/>
                </a:lnTo>
                <a:close/>
              </a:path>
              <a:path w="4711700" h="3270250">
                <a:moveTo>
                  <a:pt x="9007" y="3256315"/>
                </a:moveTo>
                <a:lnTo>
                  <a:pt x="0" y="3256315"/>
                </a:lnTo>
                <a:lnTo>
                  <a:pt x="0" y="3229292"/>
                </a:lnTo>
                <a:lnTo>
                  <a:pt x="9007" y="3229292"/>
                </a:lnTo>
                <a:lnTo>
                  <a:pt x="9007" y="3256315"/>
                </a:lnTo>
                <a:close/>
              </a:path>
              <a:path w="4711700" h="3270250">
                <a:moveTo>
                  <a:pt x="9007" y="3193261"/>
                </a:moveTo>
                <a:lnTo>
                  <a:pt x="0" y="3193261"/>
                </a:lnTo>
                <a:lnTo>
                  <a:pt x="0" y="3166237"/>
                </a:lnTo>
                <a:lnTo>
                  <a:pt x="9007" y="3166237"/>
                </a:lnTo>
                <a:lnTo>
                  <a:pt x="9007" y="3193261"/>
                </a:lnTo>
                <a:close/>
              </a:path>
              <a:path w="4711700" h="3270250">
                <a:moveTo>
                  <a:pt x="9007" y="3130206"/>
                </a:moveTo>
                <a:lnTo>
                  <a:pt x="0" y="3130206"/>
                </a:lnTo>
                <a:lnTo>
                  <a:pt x="0" y="3103183"/>
                </a:lnTo>
                <a:lnTo>
                  <a:pt x="9007" y="3103183"/>
                </a:lnTo>
                <a:lnTo>
                  <a:pt x="9007" y="3130206"/>
                </a:lnTo>
                <a:close/>
              </a:path>
              <a:path w="4711700" h="3270250">
                <a:moveTo>
                  <a:pt x="9007" y="3067152"/>
                </a:moveTo>
                <a:lnTo>
                  <a:pt x="0" y="3067152"/>
                </a:lnTo>
                <a:lnTo>
                  <a:pt x="0" y="3040128"/>
                </a:lnTo>
                <a:lnTo>
                  <a:pt x="9007" y="3040128"/>
                </a:lnTo>
                <a:lnTo>
                  <a:pt x="9007" y="3067152"/>
                </a:lnTo>
                <a:close/>
              </a:path>
              <a:path w="4711700" h="3270250">
                <a:moveTo>
                  <a:pt x="9007" y="3004097"/>
                </a:moveTo>
                <a:lnTo>
                  <a:pt x="0" y="3004097"/>
                </a:lnTo>
                <a:lnTo>
                  <a:pt x="0" y="2977074"/>
                </a:lnTo>
                <a:lnTo>
                  <a:pt x="9007" y="2977074"/>
                </a:lnTo>
                <a:lnTo>
                  <a:pt x="9007" y="3004097"/>
                </a:lnTo>
                <a:close/>
              </a:path>
              <a:path w="4711700" h="3270250">
                <a:moveTo>
                  <a:pt x="9007" y="2941043"/>
                </a:moveTo>
                <a:lnTo>
                  <a:pt x="0" y="2941043"/>
                </a:lnTo>
                <a:lnTo>
                  <a:pt x="0" y="2914019"/>
                </a:lnTo>
                <a:lnTo>
                  <a:pt x="9007" y="2914019"/>
                </a:lnTo>
                <a:lnTo>
                  <a:pt x="9007" y="2941043"/>
                </a:lnTo>
                <a:close/>
              </a:path>
              <a:path w="4711700" h="3270250">
                <a:moveTo>
                  <a:pt x="9007" y="2877988"/>
                </a:moveTo>
                <a:lnTo>
                  <a:pt x="0" y="2877988"/>
                </a:lnTo>
                <a:lnTo>
                  <a:pt x="0" y="2850965"/>
                </a:lnTo>
                <a:lnTo>
                  <a:pt x="9007" y="2850965"/>
                </a:lnTo>
                <a:lnTo>
                  <a:pt x="9007" y="2877988"/>
                </a:lnTo>
                <a:close/>
              </a:path>
              <a:path w="4711700" h="3270250">
                <a:moveTo>
                  <a:pt x="9007" y="2814934"/>
                </a:moveTo>
                <a:lnTo>
                  <a:pt x="0" y="2814934"/>
                </a:lnTo>
                <a:lnTo>
                  <a:pt x="0" y="2787910"/>
                </a:lnTo>
                <a:lnTo>
                  <a:pt x="9007" y="2787910"/>
                </a:lnTo>
                <a:lnTo>
                  <a:pt x="9007" y="2814934"/>
                </a:lnTo>
                <a:close/>
              </a:path>
              <a:path w="4711700" h="3270250">
                <a:moveTo>
                  <a:pt x="9007" y="2751879"/>
                </a:moveTo>
                <a:lnTo>
                  <a:pt x="0" y="2751879"/>
                </a:lnTo>
                <a:lnTo>
                  <a:pt x="0" y="2724856"/>
                </a:lnTo>
                <a:lnTo>
                  <a:pt x="9007" y="2724856"/>
                </a:lnTo>
                <a:lnTo>
                  <a:pt x="9007" y="2751879"/>
                </a:lnTo>
                <a:close/>
              </a:path>
              <a:path w="4711700" h="3270250">
                <a:moveTo>
                  <a:pt x="9007" y="2688825"/>
                </a:moveTo>
                <a:lnTo>
                  <a:pt x="0" y="2688825"/>
                </a:lnTo>
                <a:lnTo>
                  <a:pt x="0" y="2661801"/>
                </a:lnTo>
                <a:lnTo>
                  <a:pt x="9007" y="2661801"/>
                </a:lnTo>
                <a:lnTo>
                  <a:pt x="9007" y="2688825"/>
                </a:lnTo>
                <a:close/>
              </a:path>
              <a:path w="4711700" h="3270250">
                <a:moveTo>
                  <a:pt x="9007" y="2625770"/>
                </a:moveTo>
                <a:lnTo>
                  <a:pt x="0" y="2625770"/>
                </a:lnTo>
                <a:lnTo>
                  <a:pt x="0" y="2598747"/>
                </a:lnTo>
                <a:lnTo>
                  <a:pt x="9007" y="2598747"/>
                </a:lnTo>
                <a:lnTo>
                  <a:pt x="9007" y="2625770"/>
                </a:lnTo>
                <a:close/>
              </a:path>
              <a:path w="4711700" h="3270250">
                <a:moveTo>
                  <a:pt x="9007" y="2562716"/>
                </a:moveTo>
                <a:lnTo>
                  <a:pt x="0" y="2562716"/>
                </a:lnTo>
                <a:lnTo>
                  <a:pt x="0" y="2535692"/>
                </a:lnTo>
                <a:lnTo>
                  <a:pt x="9007" y="2535692"/>
                </a:lnTo>
                <a:lnTo>
                  <a:pt x="9007" y="2562716"/>
                </a:lnTo>
                <a:close/>
              </a:path>
              <a:path w="4711700" h="3270250">
                <a:moveTo>
                  <a:pt x="9007" y="2499661"/>
                </a:moveTo>
                <a:lnTo>
                  <a:pt x="0" y="2499661"/>
                </a:lnTo>
                <a:lnTo>
                  <a:pt x="0" y="2472638"/>
                </a:lnTo>
                <a:lnTo>
                  <a:pt x="9007" y="2472638"/>
                </a:lnTo>
                <a:lnTo>
                  <a:pt x="9007" y="2499661"/>
                </a:lnTo>
                <a:close/>
              </a:path>
              <a:path w="4711700" h="3270250">
                <a:moveTo>
                  <a:pt x="9007" y="2436606"/>
                </a:moveTo>
                <a:lnTo>
                  <a:pt x="0" y="2436606"/>
                </a:lnTo>
                <a:lnTo>
                  <a:pt x="0" y="2409583"/>
                </a:lnTo>
                <a:lnTo>
                  <a:pt x="9007" y="2409583"/>
                </a:lnTo>
                <a:lnTo>
                  <a:pt x="9007" y="2436606"/>
                </a:lnTo>
                <a:close/>
              </a:path>
              <a:path w="4711700" h="3270250">
                <a:moveTo>
                  <a:pt x="9007" y="2373552"/>
                </a:moveTo>
                <a:lnTo>
                  <a:pt x="0" y="2373552"/>
                </a:lnTo>
                <a:lnTo>
                  <a:pt x="0" y="2346529"/>
                </a:lnTo>
                <a:lnTo>
                  <a:pt x="9007" y="2346529"/>
                </a:lnTo>
                <a:lnTo>
                  <a:pt x="9007" y="2373552"/>
                </a:lnTo>
                <a:close/>
              </a:path>
              <a:path w="4711700" h="3270250">
                <a:moveTo>
                  <a:pt x="9007" y="2310497"/>
                </a:moveTo>
                <a:lnTo>
                  <a:pt x="0" y="2310497"/>
                </a:lnTo>
                <a:lnTo>
                  <a:pt x="0" y="2283474"/>
                </a:lnTo>
                <a:lnTo>
                  <a:pt x="9007" y="2283474"/>
                </a:lnTo>
                <a:lnTo>
                  <a:pt x="9007" y="2310497"/>
                </a:lnTo>
                <a:close/>
              </a:path>
              <a:path w="4711700" h="3270250">
                <a:moveTo>
                  <a:pt x="9007" y="2247443"/>
                </a:moveTo>
                <a:lnTo>
                  <a:pt x="0" y="2247443"/>
                </a:lnTo>
                <a:lnTo>
                  <a:pt x="0" y="2220420"/>
                </a:lnTo>
                <a:lnTo>
                  <a:pt x="9007" y="2220420"/>
                </a:lnTo>
                <a:lnTo>
                  <a:pt x="9007" y="2247443"/>
                </a:lnTo>
                <a:close/>
              </a:path>
              <a:path w="4711700" h="3270250">
                <a:moveTo>
                  <a:pt x="9007" y="2184388"/>
                </a:moveTo>
                <a:lnTo>
                  <a:pt x="0" y="2184388"/>
                </a:lnTo>
                <a:lnTo>
                  <a:pt x="0" y="2157365"/>
                </a:lnTo>
                <a:lnTo>
                  <a:pt x="9007" y="2157365"/>
                </a:lnTo>
                <a:lnTo>
                  <a:pt x="9007" y="2184388"/>
                </a:lnTo>
                <a:close/>
              </a:path>
              <a:path w="4711700" h="3270250">
                <a:moveTo>
                  <a:pt x="9007" y="2121334"/>
                </a:moveTo>
                <a:lnTo>
                  <a:pt x="0" y="2121334"/>
                </a:lnTo>
                <a:lnTo>
                  <a:pt x="0" y="2094310"/>
                </a:lnTo>
                <a:lnTo>
                  <a:pt x="9007" y="2094310"/>
                </a:lnTo>
                <a:lnTo>
                  <a:pt x="9007" y="2121334"/>
                </a:lnTo>
                <a:close/>
              </a:path>
              <a:path w="4711700" h="3270250">
                <a:moveTo>
                  <a:pt x="9007" y="2058279"/>
                </a:moveTo>
                <a:lnTo>
                  <a:pt x="0" y="2058279"/>
                </a:lnTo>
                <a:lnTo>
                  <a:pt x="0" y="2031256"/>
                </a:lnTo>
                <a:lnTo>
                  <a:pt x="9007" y="2031256"/>
                </a:lnTo>
                <a:lnTo>
                  <a:pt x="9007" y="2058279"/>
                </a:lnTo>
                <a:close/>
              </a:path>
              <a:path w="4711700" h="3270250">
                <a:moveTo>
                  <a:pt x="9007" y="1995225"/>
                </a:moveTo>
                <a:lnTo>
                  <a:pt x="0" y="1995225"/>
                </a:lnTo>
                <a:lnTo>
                  <a:pt x="0" y="1968201"/>
                </a:lnTo>
                <a:lnTo>
                  <a:pt x="9007" y="1968201"/>
                </a:lnTo>
                <a:lnTo>
                  <a:pt x="9007" y="1995225"/>
                </a:lnTo>
                <a:close/>
              </a:path>
              <a:path w="4711700" h="3270250">
                <a:moveTo>
                  <a:pt x="9007" y="1932170"/>
                </a:moveTo>
                <a:lnTo>
                  <a:pt x="0" y="1932170"/>
                </a:lnTo>
                <a:lnTo>
                  <a:pt x="0" y="1905147"/>
                </a:lnTo>
                <a:lnTo>
                  <a:pt x="9007" y="1905147"/>
                </a:lnTo>
                <a:lnTo>
                  <a:pt x="9007" y="1932170"/>
                </a:lnTo>
                <a:close/>
              </a:path>
              <a:path w="4711700" h="3270250">
                <a:moveTo>
                  <a:pt x="9007" y="1869116"/>
                </a:moveTo>
                <a:lnTo>
                  <a:pt x="0" y="1869116"/>
                </a:lnTo>
                <a:lnTo>
                  <a:pt x="0" y="1842092"/>
                </a:lnTo>
                <a:lnTo>
                  <a:pt x="9007" y="1842092"/>
                </a:lnTo>
                <a:lnTo>
                  <a:pt x="9007" y="1869116"/>
                </a:lnTo>
                <a:close/>
              </a:path>
              <a:path w="4711700" h="3270250">
                <a:moveTo>
                  <a:pt x="9007" y="1806061"/>
                </a:moveTo>
                <a:lnTo>
                  <a:pt x="0" y="1806061"/>
                </a:lnTo>
                <a:lnTo>
                  <a:pt x="0" y="1779038"/>
                </a:lnTo>
                <a:lnTo>
                  <a:pt x="9007" y="1779038"/>
                </a:lnTo>
                <a:lnTo>
                  <a:pt x="9007" y="1806061"/>
                </a:lnTo>
                <a:close/>
              </a:path>
              <a:path w="4711700" h="3270250">
                <a:moveTo>
                  <a:pt x="9007" y="1743007"/>
                </a:moveTo>
                <a:lnTo>
                  <a:pt x="0" y="1743007"/>
                </a:lnTo>
                <a:lnTo>
                  <a:pt x="0" y="1715983"/>
                </a:lnTo>
                <a:lnTo>
                  <a:pt x="9007" y="1715983"/>
                </a:lnTo>
                <a:lnTo>
                  <a:pt x="9007" y="1743007"/>
                </a:lnTo>
                <a:close/>
              </a:path>
              <a:path w="4711700" h="3270250">
                <a:moveTo>
                  <a:pt x="9007" y="1679952"/>
                </a:moveTo>
                <a:lnTo>
                  <a:pt x="0" y="1679952"/>
                </a:lnTo>
                <a:lnTo>
                  <a:pt x="0" y="1652929"/>
                </a:lnTo>
                <a:lnTo>
                  <a:pt x="9007" y="1652929"/>
                </a:lnTo>
                <a:lnTo>
                  <a:pt x="9007" y="1679952"/>
                </a:lnTo>
                <a:close/>
              </a:path>
              <a:path w="4711700" h="3270250">
                <a:moveTo>
                  <a:pt x="9007" y="1616898"/>
                </a:moveTo>
                <a:lnTo>
                  <a:pt x="0" y="1616898"/>
                </a:lnTo>
                <a:lnTo>
                  <a:pt x="0" y="1589874"/>
                </a:lnTo>
                <a:lnTo>
                  <a:pt x="9007" y="1589874"/>
                </a:lnTo>
                <a:lnTo>
                  <a:pt x="9007" y="1616898"/>
                </a:lnTo>
                <a:close/>
              </a:path>
              <a:path w="4711700" h="3270250">
                <a:moveTo>
                  <a:pt x="9007" y="1553843"/>
                </a:moveTo>
                <a:lnTo>
                  <a:pt x="0" y="1553843"/>
                </a:lnTo>
                <a:lnTo>
                  <a:pt x="0" y="1526820"/>
                </a:lnTo>
                <a:lnTo>
                  <a:pt x="9007" y="1526820"/>
                </a:lnTo>
                <a:lnTo>
                  <a:pt x="9007" y="1553843"/>
                </a:lnTo>
                <a:close/>
              </a:path>
              <a:path w="4711700" h="3270250">
                <a:moveTo>
                  <a:pt x="9007" y="1490789"/>
                </a:moveTo>
                <a:lnTo>
                  <a:pt x="0" y="1490789"/>
                </a:lnTo>
                <a:lnTo>
                  <a:pt x="0" y="1463765"/>
                </a:lnTo>
                <a:lnTo>
                  <a:pt x="9007" y="1463765"/>
                </a:lnTo>
                <a:lnTo>
                  <a:pt x="9007" y="1490789"/>
                </a:lnTo>
                <a:close/>
              </a:path>
              <a:path w="4711700" h="3270250">
                <a:moveTo>
                  <a:pt x="9007" y="1427734"/>
                </a:moveTo>
                <a:lnTo>
                  <a:pt x="0" y="1427734"/>
                </a:lnTo>
                <a:lnTo>
                  <a:pt x="0" y="1400711"/>
                </a:lnTo>
                <a:lnTo>
                  <a:pt x="9007" y="1400711"/>
                </a:lnTo>
                <a:lnTo>
                  <a:pt x="9007" y="1427734"/>
                </a:lnTo>
                <a:close/>
              </a:path>
              <a:path w="4711700" h="3270250">
                <a:moveTo>
                  <a:pt x="9007" y="1364680"/>
                </a:moveTo>
                <a:lnTo>
                  <a:pt x="0" y="1364680"/>
                </a:lnTo>
                <a:lnTo>
                  <a:pt x="0" y="1337656"/>
                </a:lnTo>
                <a:lnTo>
                  <a:pt x="9007" y="1337656"/>
                </a:lnTo>
                <a:lnTo>
                  <a:pt x="9007" y="1364680"/>
                </a:lnTo>
                <a:close/>
              </a:path>
              <a:path w="4711700" h="3270250">
                <a:moveTo>
                  <a:pt x="9007" y="1301625"/>
                </a:moveTo>
                <a:lnTo>
                  <a:pt x="0" y="1301625"/>
                </a:lnTo>
                <a:lnTo>
                  <a:pt x="0" y="1274602"/>
                </a:lnTo>
                <a:lnTo>
                  <a:pt x="9007" y="1274602"/>
                </a:lnTo>
                <a:lnTo>
                  <a:pt x="9007" y="1301625"/>
                </a:lnTo>
                <a:close/>
              </a:path>
              <a:path w="4711700" h="3270250">
                <a:moveTo>
                  <a:pt x="9007" y="1238570"/>
                </a:moveTo>
                <a:lnTo>
                  <a:pt x="0" y="1238570"/>
                </a:lnTo>
                <a:lnTo>
                  <a:pt x="0" y="1211547"/>
                </a:lnTo>
                <a:lnTo>
                  <a:pt x="9007" y="1211547"/>
                </a:lnTo>
                <a:lnTo>
                  <a:pt x="9007" y="1238570"/>
                </a:lnTo>
                <a:close/>
              </a:path>
              <a:path w="4711700" h="3270250">
                <a:moveTo>
                  <a:pt x="9007" y="1175516"/>
                </a:moveTo>
                <a:lnTo>
                  <a:pt x="0" y="1175516"/>
                </a:lnTo>
                <a:lnTo>
                  <a:pt x="0" y="1148492"/>
                </a:lnTo>
                <a:lnTo>
                  <a:pt x="9007" y="1148492"/>
                </a:lnTo>
                <a:lnTo>
                  <a:pt x="9007" y="1175516"/>
                </a:lnTo>
                <a:close/>
              </a:path>
              <a:path w="4711700" h="3270250">
                <a:moveTo>
                  <a:pt x="9007" y="1112461"/>
                </a:moveTo>
                <a:lnTo>
                  <a:pt x="0" y="1112461"/>
                </a:lnTo>
                <a:lnTo>
                  <a:pt x="0" y="1085438"/>
                </a:lnTo>
                <a:lnTo>
                  <a:pt x="9007" y="1085438"/>
                </a:lnTo>
                <a:lnTo>
                  <a:pt x="9007" y="1112461"/>
                </a:lnTo>
                <a:close/>
              </a:path>
              <a:path w="4711700" h="3270250">
                <a:moveTo>
                  <a:pt x="9007" y="1049407"/>
                </a:moveTo>
                <a:lnTo>
                  <a:pt x="0" y="1049407"/>
                </a:lnTo>
                <a:lnTo>
                  <a:pt x="0" y="1022384"/>
                </a:lnTo>
                <a:lnTo>
                  <a:pt x="9007" y="1022384"/>
                </a:lnTo>
                <a:lnTo>
                  <a:pt x="9007" y="1049407"/>
                </a:lnTo>
                <a:close/>
              </a:path>
              <a:path w="4711700" h="3270250">
                <a:moveTo>
                  <a:pt x="9007" y="986352"/>
                </a:moveTo>
                <a:lnTo>
                  <a:pt x="0" y="986352"/>
                </a:lnTo>
                <a:lnTo>
                  <a:pt x="0" y="959329"/>
                </a:lnTo>
                <a:lnTo>
                  <a:pt x="9007" y="959329"/>
                </a:lnTo>
                <a:lnTo>
                  <a:pt x="9007" y="986352"/>
                </a:lnTo>
                <a:close/>
              </a:path>
              <a:path w="4711700" h="3270250">
                <a:moveTo>
                  <a:pt x="9007" y="923298"/>
                </a:moveTo>
                <a:lnTo>
                  <a:pt x="0" y="923298"/>
                </a:lnTo>
                <a:lnTo>
                  <a:pt x="0" y="896275"/>
                </a:lnTo>
                <a:lnTo>
                  <a:pt x="9007" y="896275"/>
                </a:lnTo>
                <a:lnTo>
                  <a:pt x="9007" y="923298"/>
                </a:lnTo>
                <a:close/>
              </a:path>
              <a:path w="4711700" h="3270250">
                <a:moveTo>
                  <a:pt x="9007" y="860243"/>
                </a:moveTo>
                <a:lnTo>
                  <a:pt x="0" y="860243"/>
                </a:lnTo>
                <a:lnTo>
                  <a:pt x="0" y="833220"/>
                </a:lnTo>
                <a:lnTo>
                  <a:pt x="9007" y="833220"/>
                </a:lnTo>
                <a:lnTo>
                  <a:pt x="9007" y="860243"/>
                </a:lnTo>
                <a:close/>
              </a:path>
              <a:path w="4711700" h="3270250">
                <a:moveTo>
                  <a:pt x="9007" y="797189"/>
                </a:moveTo>
                <a:lnTo>
                  <a:pt x="0" y="797189"/>
                </a:lnTo>
                <a:lnTo>
                  <a:pt x="0" y="770165"/>
                </a:lnTo>
                <a:lnTo>
                  <a:pt x="9007" y="770165"/>
                </a:lnTo>
                <a:lnTo>
                  <a:pt x="9007" y="797189"/>
                </a:lnTo>
                <a:close/>
              </a:path>
              <a:path w="4711700" h="3270250">
                <a:moveTo>
                  <a:pt x="9007" y="734134"/>
                </a:moveTo>
                <a:lnTo>
                  <a:pt x="0" y="734134"/>
                </a:lnTo>
                <a:lnTo>
                  <a:pt x="0" y="707111"/>
                </a:lnTo>
                <a:lnTo>
                  <a:pt x="9007" y="707111"/>
                </a:lnTo>
                <a:lnTo>
                  <a:pt x="9007" y="734134"/>
                </a:lnTo>
                <a:close/>
              </a:path>
              <a:path w="4711700" h="3270250">
                <a:moveTo>
                  <a:pt x="9007" y="671080"/>
                </a:moveTo>
                <a:lnTo>
                  <a:pt x="0" y="671080"/>
                </a:lnTo>
                <a:lnTo>
                  <a:pt x="0" y="644056"/>
                </a:lnTo>
                <a:lnTo>
                  <a:pt x="9007" y="644056"/>
                </a:lnTo>
                <a:lnTo>
                  <a:pt x="9007" y="671080"/>
                </a:lnTo>
                <a:close/>
              </a:path>
              <a:path w="4711700" h="3270250">
                <a:moveTo>
                  <a:pt x="9007" y="608025"/>
                </a:moveTo>
                <a:lnTo>
                  <a:pt x="0" y="608025"/>
                </a:lnTo>
                <a:lnTo>
                  <a:pt x="0" y="581002"/>
                </a:lnTo>
                <a:lnTo>
                  <a:pt x="9007" y="581002"/>
                </a:lnTo>
                <a:lnTo>
                  <a:pt x="9007" y="608025"/>
                </a:lnTo>
                <a:close/>
              </a:path>
              <a:path w="4711700" h="3270250">
                <a:moveTo>
                  <a:pt x="9007" y="544971"/>
                </a:moveTo>
                <a:lnTo>
                  <a:pt x="0" y="544971"/>
                </a:lnTo>
                <a:lnTo>
                  <a:pt x="0" y="517947"/>
                </a:lnTo>
                <a:lnTo>
                  <a:pt x="9007" y="517947"/>
                </a:lnTo>
                <a:lnTo>
                  <a:pt x="9007" y="544971"/>
                </a:lnTo>
                <a:close/>
              </a:path>
              <a:path w="4711700" h="3270250">
                <a:moveTo>
                  <a:pt x="9007" y="481916"/>
                </a:moveTo>
                <a:lnTo>
                  <a:pt x="0" y="481916"/>
                </a:lnTo>
                <a:lnTo>
                  <a:pt x="0" y="454893"/>
                </a:lnTo>
                <a:lnTo>
                  <a:pt x="9007" y="454893"/>
                </a:lnTo>
                <a:lnTo>
                  <a:pt x="9007" y="481916"/>
                </a:lnTo>
                <a:close/>
              </a:path>
              <a:path w="4711700" h="3270250">
                <a:moveTo>
                  <a:pt x="9007" y="418862"/>
                </a:moveTo>
                <a:lnTo>
                  <a:pt x="0" y="418862"/>
                </a:lnTo>
                <a:lnTo>
                  <a:pt x="0" y="391838"/>
                </a:lnTo>
                <a:lnTo>
                  <a:pt x="9007" y="391838"/>
                </a:lnTo>
                <a:lnTo>
                  <a:pt x="9007" y="418862"/>
                </a:lnTo>
                <a:close/>
              </a:path>
              <a:path w="4711700" h="3270250">
                <a:moveTo>
                  <a:pt x="9007" y="355807"/>
                </a:moveTo>
                <a:lnTo>
                  <a:pt x="0" y="355807"/>
                </a:lnTo>
                <a:lnTo>
                  <a:pt x="0" y="328784"/>
                </a:lnTo>
                <a:lnTo>
                  <a:pt x="9007" y="328784"/>
                </a:lnTo>
                <a:lnTo>
                  <a:pt x="9007" y="355807"/>
                </a:lnTo>
                <a:close/>
              </a:path>
              <a:path w="4711700" h="3270250">
                <a:moveTo>
                  <a:pt x="9007" y="292753"/>
                </a:moveTo>
                <a:lnTo>
                  <a:pt x="0" y="292753"/>
                </a:lnTo>
                <a:lnTo>
                  <a:pt x="0" y="265729"/>
                </a:lnTo>
                <a:lnTo>
                  <a:pt x="9007" y="265729"/>
                </a:lnTo>
                <a:lnTo>
                  <a:pt x="9007" y="292753"/>
                </a:lnTo>
                <a:close/>
              </a:path>
              <a:path w="4711700" h="3270250">
                <a:moveTo>
                  <a:pt x="9007" y="229698"/>
                </a:moveTo>
                <a:lnTo>
                  <a:pt x="0" y="229698"/>
                </a:lnTo>
                <a:lnTo>
                  <a:pt x="0" y="202675"/>
                </a:lnTo>
                <a:lnTo>
                  <a:pt x="9007" y="202675"/>
                </a:lnTo>
                <a:lnTo>
                  <a:pt x="9007" y="229698"/>
                </a:lnTo>
                <a:close/>
              </a:path>
              <a:path w="4711700" h="3270250">
                <a:moveTo>
                  <a:pt x="9007" y="166644"/>
                </a:moveTo>
                <a:lnTo>
                  <a:pt x="0" y="166644"/>
                </a:lnTo>
                <a:lnTo>
                  <a:pt x="0" y="139620"/>
                </a:lnTo>
                <a:lnTo>
                  <a:pt x="9007" y="139620"/>
                </a:lnTo>
                <a:lnTo>
                  <a:pt x="9007" y="166644"/>
                </a:lnTo>
                <a:close/>
              </a:path>
              <a:path w="4711700" h="3270250">
                <a:moveTo>
                  <a:pt x="9007" y="103589"/>
                </a:moveTo>
                <a:lnTo>
                  <a:pt x="0" y="103589"/>
                </a:lnTo>
                <a:lnTo>
                  <a:pt x="0" y="76566"/>
                </a:lnTo>
                <a:lnTo>
                  <a:pt x="9007" y="76566"/>
                </a:lnTo>
                <a:lnTo>
                  <a:pt x="9007" y="103589"/>
                </a:lnTo>
                <a:close/>
              </a:path>
              <a:path w="4711700" h="3270250">
                <a:moveTo>
                  <a:pt x="9007" y="40535"/>
                </a:moveTo>
                <a:lnTo>
                  <a:pt x="0" y="40535"/>
                </a:lnTo>
                <a:lnTo>
                  <a:pt x="0" y="13511"/>
                </a:lnTo>
                <a:lnTo>
                  <a:pt x="9007" y="13511"/>
                </a:lnTo>
                <a:lnTo>
                  <a:pt x="9007" y="40535"/>
                </a:lnTo>
                <a:close/>
              </a:path>
              <a:path w="4711700" h="3270250">
                <a:moveTo>
                  <a:pt x="31527" y="9007"/>
                </a:moveTo>
                <a:lnTo>
                  <a:pt x="4503" y="9007"/>
                </a:lnTo>
                <a:lnTo>
                  <a:pt x="4503" y="0"/>
                </a:lnTo>
                <a:lnTo>
                  <a:pt x="31527" y="0"/>
                </a:lnTo>
                <a:lnTo>
                  <a:pt x="31527" y="9007"/>
                </a:lnTo>
                <a:close/>
              </a:path>
            </a:pathLst>
          </a:custGeom>
          <a:solidFill>
            <a:srgbClr val="6A6A6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2272307" y="1749115"/>
            <a:ext cx="3768090" cy="171201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000" b="1" dirty="0">
                <a:solidFill>
                  <a:srgbClr val="6A6A6A"/>
                </a:solidFill>
                <a:latin typeface="Arial"/>
                <a:cs typeface="Arial"/>
              </a:rPr>
              <a:t>SUR</a:t>
            </a:r>
            <a:r>
              <a:rPr sz="1000" b="1" spc="5" dirty="0">
                <a:solidFill>
                  <a:srgbClr val="6A6A6A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6A6A6A"/>
                </a:solidFill>
                <a:latin typeface="Arial"/>
                <a:cs typeface="Arial"/>
              </a:rPr>
              <a:t>SITE</a:t>
            </a:r>
            <a:r>
              <a:rPr sz="1000" b="1" spc="50" dirty="0">
                <a:solidFill>
                  <a:srgbClr val="6A6A6A"/>
                </a:solidFill>
                <a:latin typeface="Arial"/>
                <a:cs typeface="Arial"/>
              </a:rPr>
              <a:t> </a:t>
            </a:r>
            <a:r>
              <a:rPr sz="1000" b="1" spc="150" dirty="0">
                <a:solidFill>
                  <a:srgbClr val="6A6A6A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6A6A6A"/>
                </a:solidFill>
                <a:latin typeface="Arial"/>
                <a:cs typeface="Arial"/>
              </a:rPr>
              <a:t>CLOUD</a:t>
            </a:r>
            <a:r>
              <a:rPr sz="1000" b="1" spc="25" dirty="0">
                <a:solidFill>
                  <a:srgbClr val="6A6A6A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6A6A6A"/>
                </a:solidFill>
                <a:latin typeface="Arial"/>
                <a:cs typeface="Arial"/>
              </a:rPr>
              <a:t>PRIVÉ</a:t>
            </a:r>
            <a:r>
              <a:rPr sz="1000" b="1" spc="50" dirty="0">
                <a:solidFill>
                  <a:srgbClr val="6A6A6A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6A6A6A"/>
                </a:solidFill>
                <a:latin typeface="Arial"/>
                <a:cs typeface="Arial"/>
              </a:rPr>
              <a:t>IaaS</a:t>
            </a:r>
            <a:r>
              <a:rPr sz="1000" b="1" spc="30" dirty="0">
                <a:solidFill>
                  <a:srgbClr val="6A6A6A"/>
                </a:solidFill>
                <a:latin typeface="Arial"/>
                <a:cs typeface="Arial"/>
              </a:rPr>
              <a:t> </a:t>
            </a:r>
            <a:r>
              <a:rPr lang="fr-FR" sz="1000" b="1" spc="30" dirty="0">
                <a:solidFill>
                  <a:srgbClr val="6A6A6A"/>
                </a:solidFill>
                <a:latin typeface="Arial"/>
                <a:cs typeface="Arial"/>
              </a:rPr>
              <a:t>- </a:t>
            </a:r>
            <a:r>
              <a:rPr sz="1000" b="1" dirty="0">
                <a:solidFill>
                  <a:srgbClr val="6A6A6A"/>
                </a:solidFill>
                <a:latin typeface="Arial"/>
                <a:cs typeface="Arial"/>
              </a:rPr>
              <a:t>prototype</a:t>
            </a:r>
            <a:r>
              <a:rPr sz="1000" b="1" spc="40" dirty="0">
                <a:solidFill>
                  <a:srgbClr val="6A6A6A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6A6A6A"/>
                </a:solidFill>
                <a:latin typeface="Arial"/>
                <a:cs typeface="Arial"/>
              </a:rPr>
              <a:t>Docker </a:t>
            </a:r>
            <a:r>
              <a:rPr sz="1000" b="1" spc="-10" dirty="0">
                <a:solidFill>
                  <a:srgbClr val="6A6A6A"/>
                </a:solidFill>
                <a:latin typeface="Arial"/>
                <a:cs typeface="Arial"/>
              </a:rPr>
              <a:t>Compose</a:t>
            </a:r>
            <a:endParaRPr sz="1000" dirty="0">
              <a:latin typeface="Arial"/>
              <a:cs typeface="Arial"/>
            </a:endParaRPr>
          </a:p>
        </p:txBody>
      </p:sp>
      <p:sp>
        <p:nvSpPr>
          <p:cNvPr id="67" name="object 67"/>
          <p:cNvSpPr txBox="1"/>
          <p:nvPr/>
        </p:nvSpPr>
        <p:spPr>
          <a:xfrm>
            <a:off x="7131049" y="1655178"/>
            <a:ext cx="1906905" cy="24237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500" b="1" dirty="0">
                <a:solidFill>
                  <a:srgbClr val="C00000"/>
                </a:solidFill>
                <a:latin typeface="Arial"/>
                <a:cs typeface="Arial"/>
              </a:rPr>
              <a:t>Déploiement</a:t>
            </a:r>
            <a:r>
              <a:rPr sz="1500" b="1" spc="-60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sz="1500" b="1" spc="-10" dirty="0">
                <a:solidFill>
                  <a:srgbClr val="C00000"/>
                </a:solidFill>
                <a:latin typeface="Arial"/>
                <a:cs typeface="Arial"/>
              </a:rPr>
              <a:t>hybride</a:t>
            </a:r>
            <a:endParaRPr sz="1500" dirty="0">
              <a:solidFill>
                <a:srgbClr val="C00000"/>
              </a:solidFill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645680" y="2145839"/>
            <a:ext cx="1081405" cy="522605"/>
          </a:xfrm>
          <a:custGeom>
            <a:avLst/>
            <a:gdLst/>
            <a:ahLst/>
            <a:cxnLst/>
            <a:rect l="l" t="t" r="r" b="b"/>
            <a:pathLst>
              <a:path w="1081405" h="522605">
                <a:moveTo>
                  <a:pt x="0" y="0"/>
                </a:moveTo>
                <a:lnTo>
                  <a:pt x="1080934" y="0"/>
                </a:lnTo>
                <a:lnTo>
                  <a:pt x="1080934" y="522451"/>
                </a:lnTo>
                <a:lnTo>
                  <a:pt x="0" y="522451"/>
                </a:lnTo>
                <a:lnTo>
                  <a:pt x="0" y="0"/>
                </a:lnTo>
                <a:close/>
              </a:path>
            </a:pathLst>
          </a:custGeom>
          <a:ln w="13511">
            <a:solidFill>
              <a:srgbClr val="11111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741014" y="2195742"/>
            <a:ext cx="930275" cy="4057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50" b="1" spc="-10" dirty="0">
                <a:solidFill>
                  <a:srgbClr val="111111"/>
                </a:solidFill>
                <a:latin typeface="Arial"/>
                <a:cs typeface="Arial"/>
              </a:rPr>
              <a:t>Navigateur</a:t>
            </a:r>
            <a:endParaRPr sz="135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50"/>
              </a:spcBef>
            </a:pPr>
            <a:r>
              <a:rPr sz="1100" spc="-10" dirty="0">
                <a:solidFill>
                  <a:srgbClr val="4A4A4A"/>
                </a:solidFill>
                <a:latin typeface="Arial MT"/>
                <a:cs typeface="Arial MT"/>
              </a:rPr>
              <a:t>ingénieurs</a:t>
            </a:r>
            <a:endParaRPr sz="1100" dirty="0">
              <a:latin typeface="Arial MT"/>
              <a:cs typeface="Arial MT"/>
            </a:endParaRPr>
          </a:p>
        </p:txBody>
      </p:sp>
      <p:grpSp>
        <p:nvGrpSpPr>
          <p:cNvPr id="34" name="object 34"/>
          <p:cNvGrpSpPr/>
          <p:nvPr/>
        </p:nvGrpSpPr>
        <p:grpSpPr>
          <a:xfrm>
            <a:off x="1719629" y="2369232"/>
            <a:ext cx="590550" cy="76200"/>
            <a:chOff x="1719629" y="2369232"/>
            <a:chExt cx="590550" cy="76200"/>
          </a:xfrm>
        </p:grpSpPr>
        <p:sp>
          <p:nvSpPr>
            <p:cNvPr id="35" name="object 35"/>
            <p:cNvSpPr/>
            <p:nvPr/>
          </p:nvSpPr>
          <p:spPr>
            <a:xfrm>
              <a:off x="1726614" y="2407065"/>
              <a:ext cx="576580" cy="0"/>
            </a:xfrm>
            <a:custGeom>
              <a:avLst/>
              <a:gdLst/>
              <a:ahLst/>
              <a:cxnLst/>
              <a:rect l="l" t="t" r="r" b="b"/>
              <a:pathLst>
                <a:path w="576580">
                  <a:moveTo>
                    <a:pt x="0" y="0"/>
                  </a:moveTo>
                  <a:lnTo>
                    <a:pt x="576498" y="0"/>
                  </a:lnTo>
                </a:path>
              </a:pathLst>
            </a:custGeom>
            <a:ln w="13511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/>
            <p:cNvSpPr/>
            <p:nvPr/>
          </p:nvSpPr>
          <p:spPr>
            <a:xfrm>
              <a:off x="2217989" y="2369232"/>
              <a:ext cx="85725" cy="76200"/>
            </a:xfrm>
            <a:custGeom>
              <a:avLst/>
              <a:gdLst/>
              <a:ahLst/>
              <a:cxnLst/>
              <a:rect l="l" t="t" r="r" b="b"/>
              <a:pathLst>
                <a:path w="85725" h="76200">
                  <a:moveTo>
                    <a:pt x="0" y="75665"/>
                  </a:moveTo>
                  <a:lnTo>
                    <a:pt x="0" y="0"/>
                  </a:lnTo>
                  <a:lnTo>
                    <a:pt x="85123" y="37832"/>
                  </a:lnTo>
                  <a:lnTo>
                    <a:pt x="0" y="75665"/>
                  </a:lnTo>
                  <a:close/>
                </a:path>
              </a:pathLst>
            </a:custGeom>
            <a:solidFill>
              <a:srgbClr val="11111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7" name="object 37"/>
          <p:cNvSpPr txBox="1"/>
          <p:nvPr/>
        </p:nvSpPr>
        <p:spPr>
          <a:xfrm>
            <a:off x="1767928" y="2181081"/>
            <a:ext cx="372745" cy="19494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100" spc="-90" dirty="0">
                <a:solidFill>
                  <a:srgbClr val="4A4A4A"/>
                </a:solidFill>
                <a:latin typeface="Arial MT"/>
                <a:cs typeface="Arial MT"/>
              </a:rPr>
              <a:t>:</a:t>
            </a:r>
            <a:r>
              <a:rPr sz="1100" spc="-21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spc="-20" dirty="0">
                <a:solidFill>
                  <a:srgbClr val="4A4A4A"/>
                </a:solidFill>
                <a:latin typeface="Arial MT"/>
                <a:cs typeface="Arial MT"/>
              </a:rPr>
              <a:t>3000</a:t>
            </a:r>
            <a:endParaRPr sz="1100">
              <a:latin typeface="Arial MT"/>
              <a:cs typeface="Arial MT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638695" y="3780494"/>
            <a:ext cx="1165225" cy="606425"/>
            <a:chOff x="638695" y="3780494"/>
            <a:chExt cx="1165225" cy="606425"/>
          </a:xfrm>
        </p:grpSpPr>
        <p:sp>
          <p:nvSpPr>
            <p:cNvPr id="8" name="object 8"/>
            <p:cNvSpPr/>
            <p:nvPr/>
          </p:nvSpPr>
          <p:spPr>
            <a:xfrm>
              <a:off x="717742" y="3785256"/>
              <a:ext cx="1081405" cy="522605"/>
            </a:xfrm>
            <a:custGeom>
              <a:avLst/>
              <a:gdLst/>
              <a:ahLst/>
              <a:cxnLst/>
              <a:rect l="l" t="t" r="r" b="b"/>
              <a:pathLst>
                <a:path w="1081405" h="522604">
                  <a:moveTo>
                    <a:pt x="0" y="0"/>
                  </a:moveTo>
                  <a:lnTo>
                    <a:pt x="1080934" y="0"/>
                  </a:lnTo>
                  <a:lnTo>
                    <a:pt x="1080934" y="522451"/>
                  </a:lnTo>
                  <a:lnTo>
                    <a:pt x="0" y="522451"/>
                  </a:lnTo>
                  <a:lnTo>
                    <a:pt x="0" y="0"/>
                  </a:lnTo>
                  <a:close/>
                </a:path>
              </a:pathLst>
            </a:custGeom>
            <a:ln w="9007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681711" y="3821288"/>
              <a:ext cx="1081405" cy="522605"/>
            </a:xfrm>
            <a:custGeom>
              <a:avLst/>
              <a:gdLst/>
              <a:ahLst/>
              <a:cxnLst/>
              <a:rect l="l" t="t" r="r" b="b"/>
              <a:pathLst>
                <a:path w="1081405" h="522604">
                  <a:moveTo>
                    <a:pt x="1080934" y="522451"/>
                  </a:moveTo>
                  <a:lnTo>
                    <a:pt x="0" y="522451"/>
                  </a:lnTo>
                  <a:lnTo>
                    <a:pt x="0" y="0"/>
                  </a:lnTo>
                  <a:lnTo>
                    <a:pt x="1080934" y="0"/>
                  </a:lnTo>
                  <a:lnTo>
                    <a:pt x="1080934" y="52245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681711" y="3821288"/>
              <a:ext cx="1081405" cy="522605"/>
            </a:xfrm>
            <a:custGeom>
              <a:avLst/>
              <a:gdLst/>
              <a:ahLst/>
              <a:cxnLst/>
              <a:rect l="l" t="t" r="r" b="b"/>
              <a:pathLst>
                <a:path w="1081405" h="522604">
                  <a:moveTo>
                    <a:pt x="0" y="0"/>
                  </a:moveTo>
                  <a:lnTo>
                    <a:pt x="1080934" y="0"/>
                  </a:lnTo>
                  <a:lnTo>
                    <a:pt x="1080934" y="522451"/>
                  </a:lnTo>
                  <a:lnTo>
                    <a:pt x="0" y="522451"/>
                  </a:lnTo>
                  <a:lnTo>
                    <a:pt x="0" y="0"/>
                  </a:lnTo>
                  <a:close/>
                </a:path>
              </a:pathLst>
            </a:custGeom>
            <a:ln w="9007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645680" y="3857319"/>
              <a:ext cx="1081405" cy="522605"/>
            </a:xfrm>
            <a:custGeom>
              <a:avLst/>
              <a:gdLst/>
              <a:ahLst/>
              <a:cxnLst/>
              <a:rect l="l" t="t" r="r" b="b"/>
              <a:pathLst>
                <a:path w="1081405" h="522604">
                  <a:moveTo>
                    <a:pt x="1080934" y="522451"/>
                  </a:moveTo>
                  <a:lnTo>
                    <a:pt x="0" y="522451"/>
                  </a:lnTo>
                  <a:lnTo>
                    <a:pt x="0" y="0"/>
                  </a:lnTo>
                  <a:lnTo>
                    <a:pt x="1080934" y="0"/>
                  </a:lnTo>
                  <a:lnTo>
                    <a:pt x="1080934" y="52245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645680" y="3857319"/>
              <a:ext cx="1081405" cy="522605"/>
            </a:xfrm>
            <a:custGeom>
              <a:avLst/>
              <a:gdLst/>
              <a:ahLst/>
              <a:cxnLst/>
              <a:rect l="l" t="t" r="r" b="b"/>
              <a:pathLst>
                <a:path w="1081405" h="522604">
                  <a:moveTo>
                    <a:pt x="0" y="0"/>
                  </a:moveTo>
                  <a:lnTo>
                    <a:pt x="1080934" y="0"/>
                  </a:lnTo>
                  <a:lnTo>
                    <a:pt x="1080934" y="522451"/>
                  </a:lnTo>
                  <a:lnTo>
                    <a:pt x="0" y="522451"/>
                  </a:lnTo>
                  <a:lnTo>
                    <a:pt x="0" y="0"/>
                  </a:lnTo>
                  <a:close/>
                </a:path>
              </a:pathLst>
            </a:custGeom>
            <a:ln w="13511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722246" y="3864074"/>
            <a:ext cx="1006475" cy="430530"/>
          </a:xfrm>
          <a:prstGeom prst="rect">
            <a:avLst/>
          </a:prstGeom>
          <a:solidFill>
            <a:srgbClr val="FFFFFF"/>
          </a:solidFill>
        </p:spPr>
        <p:txBody>
          <a:bodyPr vert="horz" wrap="square" lIns="0" tIns="55880" rIns="0" bIns="0" rtlCol="0">
            <a:spAutoFit/>
          </a:bodyPr>
          <a:lstStyle/>
          <a:p>
            <a:pPr marL="31115">
              <a:lnSpc>
                <a:spcPct val="100000"/>
              </a:lnSpc>
              <a:spcBef>
                <a:spcPts val="440"/>
              </a:spcBef>
            </a:pPr>
            <a:r>
              <a:rPr sz="1350" b="1" spc="-10" dirty="0">
                <a:solidFill>
                  <a:srgbClr val="111111"/>
                </a:solidFill>
                <a:latin typeface="Arial"/>
                <a:cs typeface="Arial"/>
              </a:rPr>
              <a:t>Capteurs</a:t>
            </a:r>
            <a:endParaRPr sz="1350" dirty="0">
              <a:latin typeface="Arial"/>
              <a:cs typeface="Arial"/>
            </a:endParaRPr>
          </a:p>
          <a:p>
            <a:pPr marL="31115">
              <a:lnSpc>
                <a:spcPts val="1280"/>
              </a:lnSpc>
              <a:spcBef>
                <a:spcPts val="50"/>
              </a:spcBef>
            </a:pPr>
            <a:r>
              <a:rPr sz="1100" spc="-25" dirty="0">
                <a:solidFill>
                  <a:srgbClr val="4A4A4A"/>
                </a:solidFill>
                <a:latin typeface="Arial MT"/>
                <a:cs typeface="Arial MT"/>
              </a:rPr>
              <a:t>simulés</a:t>
            </a:r>
            <a:r>
              <a:rPr sz="1100" spc="-4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rgbClr val="4A4A4A"/>
                </a:solidFill>
                <a:latin typeface="Arial MT"/>
                <a:cs typeface="Arial MT"/>
              </a:rPr>
              <a:t>×N</a:t>
            </a:r>
            <a:endParaRPr sz="1100" dirty="0">
              <a:latin typeface="Arial MT"/>
              <a:cs typeface="Arial MT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2314143" y="2138854"/>
            <a:ext cx="843280" cy="2247900"/>
            <a:chOff x="2314143" y="2138854"/>
            <a:chExt cx="843280" cy="2247900"/>
          </a:xfrm>
        </p:grpSpPr>
        <p:sp>
          <p:nvSpPr>
            <p:cNvPr id="15" name="object 15"/>
            <p:cNvSpPr/>
            <p:nvPr/>
          </p:nvSpPr>
          <p:spPr>
            <a:xfrm>
              <a:off x="2321128" y="2145839"/>
              <a:ext cx="829310" cy="2233930"/>
            </a:xfrm>
            <a:custGeom>
              <a:avLst/>
              <a:gdLst/>
              <a:ahLst/>
              <a:cxnLst/>
              <a:rect l="l" t="t" r="r" b="b"/>
              <a:pathLst>
                <a:path w="829310" h="2233929">
                  <a:moveTo>
                    <a:pt x="828716" y="2233931"/>
                  </a:moveTo>
                  <a:lnTo>
                    <a:pt x="0" y="2233931"/>
                  </a:lnTo>
                  <a:lnTo>
                    <a:pt x="0" y="0"/>
                  </a:lnTo>
                  <a:lnTo>
                    <a:pt x="828716" y="0"/>
                  </a:lnTo>
                  <a:lnTo>
                    <a:pt x="828716" y="223393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2321128" y="2145839"/>
              <a:ext cx="829310" cy="2233930"/>
            </a:xfrm>
            <a:custGeom>
              <a:avLst/>
              <a:gdLst/>
              <a:ahLst/>
              <a:cxnLst/>
              <a:rect l="l" t="t" r="r" b="b"/>
              <a:pathLst>
                <a:path w="829310" h="2233929">
                  <a:moveTo>
                    <a:pt x="0" y="0"/>
                  </a:moveTo>
                  <a:lnTo>
                    <a:pt x="828716" y="0"/>
                  </a:lnTo>
                  <a:lnTo>
                    <a:pt x="828716" y="2233931"/>
                  </a:lnTo>
                  <a:lnTo>
                    <a:pt x="0" y="2233931"/>
                  </a:lnTo>
                  <a:lnTo>
                    <a:pt x="0" y="0"/>
                  </a:lnTo>
                  <a:close/>
                </a:path>
              </a:pathLst>
            </a:custGeom>
            <a:ln w="13511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2398364" y="2195742"/>
            <a:ext cx="629285" cy="5676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99900"/>
              </a:lnSpc>
              <a:spcBef>
                <a:spcPts val="100"/>
              </a:spcBef>
            </a:pPr>
            <a:r>
              <a:rPr sz="1350" b="1" spc="-10" dirty="0">
                <a:solidFill>
                  <a:srgbClr val="111111"/>
                </a:solidFill>
                <a:latin typeface="Arial"/>
                <a:cs typeface="Arial"/>
              </a:rPr>
              <a:t>nginx </a:t>
            </a:r>
            <a:r>
              <a:rPr sz="1100" spc="-25" dirty="0">
                <a:solidFill>
                  <a:srgbClr val="4A4A4A"/>
                </a:solidFill>
                <a:latin typeface="Arial MT"/>
                <a:cs typeface="Arial MT"/>
              </a:rPr>
              <a:t>répartition </a:t>
            </a:r>
            <a:r>
              <a:rPr sz="1100" spc="-35" dirty="0">
                <a:solidFill>
                  <a:srgbClr val="4A4A4A"/>
                </a:solidFill>
                <a:latin typeface="Arial MT"/>
                <a:cs typeface="Arial MT"/>
              </a:rPr>
              <a:t>de</a:t>
            </a:r>
            <a:r>
              <a:rPr sz="1100" spc="-8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4A4A4A"/>
                </a:solidFill>
                <a:latin typeface="Arial MT"/>
                <a:cs typeface="Arial MT"/>
              </a:rPr>
              <a:t>charge</a:t>
            </a:r>
            <a:endParaRPr sz="1100">
              <a:latin typeface="Arial MT"/>
              <a:cs typeface="Arial MT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3575234" y="2069014"/>
            <a:ext cx="1435100" cy="606425"/>
            <a:chOff x="3575234" y="2069014"/>
            <a:chExt cx="1435100" cy="606425"/>
          </a:xfrm>
        </p:grpSpPr>
        <p:sp>
          <p:nvSpPr>
            <p:cNvPr id="19" name="object 19"/>
            <p:cNvSpPr/>
            <p:nvPr/>
          </p:nvSpPr>
          <p:spPr>
            <a:xfrm>
              <a:off x="3654281" y="2073777"/>
              <a:ext cx="1351280" cy="522605"/>
            </a:xfrm>
            <a:custGeom>
              <a:avLst/>
              <a:gdLst/>
              <a:ahLst/>
              <a:cxnLst/>
              <a:rect l="l" t="t" r="r" b="b"/>
              <a:pathLst>
                <a:path w="1351279" h="522605">
                  <a:moveTo>
                    <a:pt x="1351168" y="522451"/>
                  </a:moveTo>
                  <a:lnTo>
                    <a:pt x="0" y="522451"/>
                  </a:lnTo>
                  <a:lnTo>
                    <a:pt x="0" y="0"/>
                  </a:lnTo>
                  <a:lnTo>
                    <a:pt x="1351168" y="0"/>
                  </a:lnTo>
                  <a:lnTo>
                    <a:pt x="1351168" y="52245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3654281" y="2073777"/>
              <a:ext cx="1351280" cy="522605"/>
            </a:xfrm>
            <a:custGeom>
              <a:avLst/>
              <a:gdLst/>
              <a:ahLst/>
              <a:cxnLst/>
              <a:rect l="l" t="t" r="r" b="b"/>
              <a:pathLst>
                <a:path w="1351279" h="522605">
                  <a:moveTo>
                    <a:pt x="0" y="0"/>
                  </a:moveTo>
                  <a:lnTo>
                    <a:pt x="1351168" y="0"/>
                  </a:lnTo>
                  <a:lnTo>
                    <a:pt x="1351168" y="522451"/>
                  </a:lnTo>
                  <a:lnTo>
                    <a:pt x="0" y="522451"/>
                  </a:lnTo>
                  <a:lnTo>
                    <a:pt x="0" y="0"/>
                  </a:lnTo>
                  <a:close/>
                </a:path>
              </a:pathLst>
            </a:custGeom>
            <a:ln w="9007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3618250" y="2109808"/>
              <a:ext cx="1351280" cy="522605"/>
            </a:xfrm>
            <a:custGeom>
              <a:avLst/>
              <a:gdLst/>
              <a:ahLst/>
              <a:cxnLst/>
              <a:rect l="l" t="t" r="r" b="b"/>
              <a:pathLst>
                <a:path w="1351279" h="522605">
                  <a:moveTo>
                    <a:pt x="1351168" y="522451"/>
                  </a:moveTo>
                  <a:lnTo>
                    <a:pt x="0" y="522451"/>
                  </a:lnTo>
                  <a:lnTo>
                    <a:pt x="0" y="0"/>
                  </a:lnTo>
                  <a:lnTo>
                    <a:pt x="1351168" y="0"/>
                  </a:lnTo>
                  <a:lnTo>
                    <a:pt x="1351168" y="52245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3618250" y="2109808"/>
              <a:ext cx="1351280" cy="522605"/>
            </a:xfrm>
            <a:custGeom>
              <a:avLst/>
              <a:gdLst/>
              <a:ahLst/>
              <a:cxnLst/>
              <a:rect l="l" t="t" r="r" b="b"/>
              <a:pathLst>
                <a:path w="1351279" h="522605">
                  <a:moveTo>
                    <a:pt x="0" y="0"/>
                  </a:moveTo>
                  <a:lnTo>
                    <a:pt x="1351168" y="0"/>
                  </a:lnTo>
                  <a:lnTo>
                    <a:pt x="1351168" y="522451"/>
                  </a:lnTo>
                  <a:lnTo>
                    <a:pt x="0" y="522451"/>
                  </a:lnTo>
                  <a:lnTo>
                    <a:pt x="0" y="0"/>
                  </a:lnTo>
                  <a:close/>
                </a:path>
              </a:pathLst>
            </a:custGeom>
            <a:ln w="9007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3582219" y="2145839"/>
              <a:ext cx="1351280" cy="522605"/>
            </a:xfrm>
            <a:custGeom>
              <a:avLst/>
              <a:gdLst/>
              <a:ahLst/>
              <a:cxnLst/>
              <a:rect l="l" t="t" r="r" b="b"/>
              <a:pathLst>
                <a:path w="1351279" h="522605">
                  <a:moveTo>
                    <a:pt x="1351168" y="522451"/>
                  </a:moveTo>
                  <a:lnTo>
                    <a:pt x="0" y="522451"/>
                  </a:lnTo>
                  <a:lnTo>
                    <a:pt x="0" y="0"/>
                  </a:lnTo>
                  <a:lnTo>
                    <a:pt x="1351168" y="0"/>
                  </a:lnTo>
                  <a:lnTo>
                    <a:pt x="1351168" y="52245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3582219" y="2145839"/>
              <a:ext cx="1351280" cy="522605"/>
            </a:xfrm>
            <a:custGeom>
              <a:avLst/>
              <a:gdLst/>
              <a:ahLst/>
              <a:cxnLst/>
              <a:rect l="l" t="t" r="r" b="b"/>
              <a:pathLst>
                <a:path w="1351279" h="522605">
                  <a:moveTo>
                    <a:pt x="0" y="0"/>
                  </a:moveTo>
                  <a:lnTo>
                    <a:pt x="1351168" y="0"/>
                  </a:lnTo>
                  <a:lnTo>
                    <a:pt x="1351168" y="522451"/>
                  </a:lnTo>
                  <a:lnTo>
                    <a:pt x="0" y="522451"/>
                  </a:lnTo>
                  <a:lnTo>
                    <a:pt x="0" y="0"/>
                  </a:lnTo>
                  <a:close/>
                </a:path>
              </a:pathLst>
            </a:custGeom>
            <a:ln w="13511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5" name="object 25"/>
          <p:cNvSpPr txBox="1"/>
          <p:nvPr/>
        </p:nvSpPr>
        <p:spPr>
          <a:xfrm>
            <a:off x="3658785" y="2195742"/>
            <a:ext cx="1285240" cy="4057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1115">
              <a:lnSpc>
                <a:spcPct val="100000"/>
              </a:lnSpc>
              <a:spcBef>
                <a:spcPts val="100"/>
              </a:spcBef>
            </a:pPr>
            <a:r>
              <a:rPr sz="1350" b="1" spc="-10" dirty="0">
                <a:solidFill>
                  <a:srgbClr val="111111"/>
                </a:solidFill>
                <a:latin typeface="Arial"/>
                <a:cs typeface="Arial"/>
              </a:rPr>
              <a:t>frontend</a:t>
            </a:r>
            <a:r>
              <a:rPr sz="1350" b="1" spc="-10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350" b="1" spc="-25" dirty="0">
                <a:solidFill>
                  <a:srgbClr val="111111"/>
                </a:solidFill>
                <a:latin typeface="Arial"/>
                <a:cs typeface="Arial"/>
              </a:rPr>
              <a:t>×N</a:t>
            </a:r>
            <a:endParaRPr sz="1350">
              <a:latin typeface="Arial"/>
              <a:cs typeface="Arial"/>
            </a:endParaRPr>
          </a:p>
          <a:p>
            <a:pPr marL="31115">
              <a:lnSpc>
                <a:spcPct val="100000"/>
              </a:lnSpc>
              <a:spcBef>
                <a:spcPts val="50"/>
              </a:spcBef>
            </a:pPr>
            <a:r>
              <a:rPr sz="1100" spc="-30" dirty="0">
                <a:solidFill>
                  <a:srgbClr val="4A4A4A"/>
                </a:solidFill>
                <a:latin typeface="Arial MT"/>
                <a:cs typeface="Arial MT"/>
              </a:rPr>
              <a:t>Node</a:t>
            </a:r>
            <a:r>
              <a:rPr sz="1100" spc="-8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spc="-135" dirty="0">
                <a:solidFill>
                  <a:srgbClr val="4A4A4A"/>
                </a:solidFill>
                <a:latin typeface="Arial MT"/>
                <a:cs typeface="Arial MT"/>
              </a:rPr>
              <a:t>·</a:t>
            </a:r>
            <a:r>
              <a:rPr sz="1100" spc="4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4A4A4A"/>
                </a:solidFill>
                <a:latin typeface="Arial MT"/>
                <a:cs typeface="Arial MT"/>
              </a:rPr>
              <a:t>interface</a:t>
            </a:r>
            <a:endParaRPr sz="1100">
              <a:latin typeface="Arial MT"/>
              <a:cs typeface="Arial MT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5473855" y="3046618"/>
            <a:ext cx="1315720" cy="522605"/>
          </a:xfrm>
          <a:prstGeom prst="rect">
            <a:avLst/>
          </a:prstGeom>
          <a:solidFill>
            <a:srgbClr val="1F36C7"/>
          </a:solidFill>
        </p:spPr>
        <p:txBody>
          <a:bodyPr vert="horz" wrap="square" lIns="0" tIns="62230" rIns="0" bIns="0" rtlCol="0">
            <a:spAutoFit/>
          </a:bodyPr>
          <a:lstStyle/>
          <a:p>
            <a:pPr marL="107950">
              <a:lnSpc>
                <a:spcPct val="100000"/>
              </a:lnSpc>
              <a:spcBef>
                <a:spcPts val="490"/>
              </a:spcBef>
            </a:pPr>
            <a:r>
              <a:rPr sz="1350" b="1" spc="-10" dirty="0">
                <a:solidFill>
                  <a:srgbClr val="FFFFFF"/>
                </a:solidFill>
                <a:latin typeface="Arial"/>
                <a:cs typeface="Arial"/>
              </a:rPr>
              <a:t>InfluxDB</a:t>
            </a:r>
            <a:endParaRPr sz="1350">
              <a:latin typeface="Arial"/>
              <a:cs typeface="Arial"/>
            </a:endParaRPr>
          </a:p>
          <a:p>
            <a:pPr marL="107950">
              <a:lnSpc>
                <a:spcPct val="100000"/>
              </a:lnSpc>
              <a:spcBef>
                <a:spcPts val="50"/>
              </a:spcBef>
            </a:pPr>
            <a:r>
              <a:rPr sz="1100" spc="-10" dirty="0">
                <a:solidFill>
                  <a:srgbClr val="FFFFFF"/>
                </a:solidFill>
                <a:latin typeface="Arial MT"/>
                <a:cs typeface="Arial MT"/>
              </a:rPr>
              <a:t>télémétrie</a:t>
            </a:r>
            <a:endParaRPr sz="1100">
              <a:latin typeface="Arial MT"/>
              <a:cs typeface="Arial MT"/>
            </a:endParaRPr>
          </a:p>
        </p:txBody>
      </p:sp>
      <p:grpSp>
        <p:nvGrpSpPr>
          <p:cNvPr id="38" name="object 38"/>
          <p:cNvGrpSpPr/>
          <p:nvPr/>
        </p:nvGrpSpPr>
        <p:grpSpPr>
          <a:xfrm>
            <a:off x="1719629" y="4080712"/>
            <a:ext cx="590550" cy="76200"/>
            <a:chOff x="1719629" y="4080712"/>
            <a:chExt cx="590550" cy="76200"/>
          </a:xfrm>
        </p:grpSpPr>
        <p:sp>
          <p:nvSpPr>
            <p:cNvPr id="39" name="object 39"/>
            <p:cNvSpPr/>
            <p:nvPr/>
          </p:nvSpPr>
          <p:spPr>
            <a:xfrm>
              <a:off x="1726614" y="4118545"/>
              <a:ext cx="576580" cy="0"/>
            </a:xfrm>
            <a:custGeom>
              <a:avLst/>
              <a:gdLst/>
              <a:ahLst/>
              <a:cxnLst/>
              <a:rect l="l" t="t" r="r" b="b"/>
              <a:pathLst>
                <a:path w="576580">
                  <a:moveTo>
                    <a:pt x="0" y="0"/>
                  </a:moveTo>
                  <a:lnTo>
                    <a:pt x="576498" y="0"/>
                  </a:lnTo>
                </a:path>
              </a:pathLst>
            </a:custGeom>
            <a:ln w="13511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40"/>
            <p:cNvSpPr/>
            <p:nvPr/>
          </p:nvSpPr>
          <p:spPr>
            <a:xfrm>
              <a:off x="2217989" y="4080712"/>
              <a:ext cx="85725" cy="76200"/>
            </a:xfrm>
            <a:custGeom>
              <a:avLst/>
              <a:gdLst/>
              <a:ahLst/>
              <a:cxnLst/>
              <a:rect l="l" t="t" r="r" b="b"/>
              <a:pathLst>
                <a:path w="85725" h="76200">
                  <a:moveTo>
                    <a:pt x="0" y="75665"/>
                  </a:moveTo>
                  <a:lnTo>
                    <a:pt x="0" y="0"/>
                  </a:lnTo>
                  <a:lnTo>
                    <a:pt x="85123" y="37832"/>
                  </a:lnTo>
                  <a:lnTo>
                    <a:pt x="0" y="75665"/>
                  </a:lnTo>
                  <a:close/>
                </a:path>
              </a:pathLst>
            </a:custGeom>
            <a:solidFill>
              <a:srgbClr val="11111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1" name="object 41"/>
          <p:cNvSpPr txBox="1"/>
          <p:nvPr/>
        </p:nvSpPr>
        <p:spPr>
          <a:xfrm>
            <a:off x="1821953" y="3892455"/>
            <a:ext cx="399415" cy="19494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100" spc="-20" dirty="0">
                <a:solidFill>
                  <a:srgbClr val="4A4A4A"/>
                </a:solidFill>
                <a:latin typeface="Arial MT"/>
                <a:cs typeface="Arial MT"/>
              </a:rPr>
              <a:t>POST</a:t>
            </a:r>
            <a:endParaRPr sz="1100">
              <a:latin typeface="Arial MT"/>
              <a:cs typeface="Arial MT"/>
            </a:endParaRPr>
          </a:p>
        </p:txBody>
      </p:sp>
      <p:grpSp>
        <p:nvGrpSpPr>
          <p:cNvPr id="26" name="object 26"/>
          <p:cNvGrpSpPr/>
          <p:nvPr/>
        </p:nvGrpSpPr>
        <p:grpSpPr>
          <a:xfrm>
            <a:off x="3575234" y="3780494"/>
            <a:ext cx="1435100" cy="606425"/>
            <a:chOff x="3575234" y="3780494"/>
            <a:chExt cx="1435100" cy="606425"/>
          </a:xfrm>
        </p:grpSpPr>
        <p:sp>
          <p:nvSpPr>
            <p:cNvPr id="27" name="object 27"/>
            <p:cNvSpPr/>
            <p:nvPr/>
          </p:nvSpPr>
          <p:spPr>
            <a:xfrm>
              <a:off x="3618250" y="3785256"/>
              <a:ext cx="1387475" cy="558800"/>
            </a:xfrm>
            <a:custGeom>
              <a:avLst/>
              <a:gdLst/>
              <a:ahLst/>
              <a:cxnLst/>
              <a:rect l="l" t="t" r="r" b="b"/>
              <a:pathLst>
                <a:path w="1387475" h="558800">
                  <a:moveTo>
                    <a:pt x="36031" y="0"/>
                  </a:moveTo>
                  <a:lnTo>
                    <a:pt x="1387199" y="0"/>
                  </a:lnTo>
                  <a:lnTo>
                    <a:pt x="1387199" y="522451"/>
                  </a:lnTo>
                  <a:lnTo>
                    <a:pt x="36031" y="522451"/>
                  </a:lnTo>
                  <a:lnTo>
                    <a:pt x="36031" y="0"/>
                  </a:lnTo>
                  <a:close/>
                </a:path>
                <a:path w="1387475" h="558800">
                  <a:moveTo>
                    <a:pt x="0" y="36031"/>
                  </a:moveTo>
                  <a:lnTo>
                    <a:pt x="1351168" y="36031"/>
                  </a:lnTo>
                  <a:lnTo>
                    <a:pt x="1351168" y="558482"/>
                  </a:lnTo>
                  <a:lnTo>
                    <a:pt x="0" y="558482"/>
                  </a:lnTo>
                  <a:lnTo>
                    <a:pt x="0" y="36031"/>
                  </a:lnTo>
                  <a:close/>
                </a:path>
              </a:pathLst>
            </a:custGeom>
            <a:ln w="9007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pPr algn="l" rtl="0"/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3582219" y="3857319"/>
              <a:ext cx="1351280" cy="522605"/>
            </a:xfrm>
            <a:custGeom>
              <a:avLst/>
              <a:gdLst/>
              <a:ahLst/>
              <a:cxnLst/>
              <a:rect l="l" t="t" r="r" b="b"/>
              <a:pathLst>
                <a:path w="1351279" h="522604">
                  <a:moveTo>
                    <a:pt x="1351168" y="522451"/>
                  </a:moveTo>
                  <a:lnTo>
                    <a:pt x="0" y="522451"/>
                  </a:lnTo>
                  <a:lnTo>
                    <a:pt x="0" y="0"/>
                  </a:lnTo>
                  <a:lnTo>
                    <a:pt x="1351168" y="0"/>
                  </a:lnTo>
                  <a:lnTo>
                    <a:pt x="1351168" y="52245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3582219" y="3857319"/>
              <a:ext cx="1351280" cy="522605"/>
            </a:xfrm>
            <a:custGeom>
              <a:avLst/>
              <a:gdLst/>
              <a:ahLst/>
              <a:cxnLst/>
              <a:rect l="l" t="t" r="r" b="b"/>
              <a:pathLst>
                <a:path w="1351279" h="522604">
                  <a:moveTo>
                    <a:pt x="0" y="0"/>
                  </a:moveTo>
                  <a:lnTo>
                    <a:pt x="1351168" y="0"/>
                  </a:lnTo>
                  <a:lnTo>
                    <a:pt x="1351168" y="522451"/>
                  </a:lnTo>
                  <a:lnTo>
                    <a:pt x="0" y="522451"/>
                  </a:lnTo>
                  <a:lnTo>
                    <a:pt x="0" y="0"/>
                  </a:lnTo>
                  <a:close/>
                </a:path>
              </a:pathLst>
            </a:custGeom>
            <a:ln w="13511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pPr algn="l" rtl="0"/>
              <a:endParaRPr/>
            </a:p>
          </p:txBody>
        </p:sp>
      </p:grpSp>
      <p:sp>
        <p:nvSpPr>
          <p:cNvPr id="30" name="object 30"/>
          <p:cNvSpPr txBox="1"/>
          <p:nvPr/>
        </p:nvSpPr>
        <p:spPr>
          <a:xfrm>
            <a:off x="3654281" y="3903588"/>
            <a:ext cx="1285240" cy="487680"/>
          </a:xfrm>
          <a:prstGeom prst="rect">
            <a:avLst/>
          </a:prstGeom>
          <a:noFill/>
        </p:spPr>
        <p:txBody>
          <a:bodyPr vert="horz" wrap="square" lIns="0" tIns="55880" rIns="0" bIns="0" rtlCol="0">
            <a:spAutoFit/>
          </a:bodyPr>
          <a:lstStyle/>
          <a:p>
            <a:pPr marL="31115">
              <a:lnSpc>
                <a:spcPct val="100000"/>
              </a:lnSpc>
              <a:spcBef>
                <a:spcPts val="440"/>
              </a:spcBef>
            </a:pPr>
            <a:r>
              <a:rPr sz="1350" b="1" spc="-10" dirty="0">
                <a:solidFill>
                  <a:srgbClr val="111111"/>
                </a:solidFill>
                <a:latin typeface="Arial"/>
                <a:cs typeface="Arial"/>
              </a:rPr>
              <a:t>backend</a:t>
            </a:r>
            <a:r>
              <a:rPr sz="1350" b="1" spc="-10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350" b="1" spc="-25" dirty="0">
                <a:solidFill>
                  <a:srgbClr val="111111"/>
                </a:solidFill>
                <a:latin typeface="Arial"/>
                <a:cs typeface="Arial"/>
              </a:rPr>
              <a:t>×N</a:t>
            </a:r>
            <a:endParaRPr sz="1350" dirty="0">
              <a:latin typeface="Arial"/>
              <a:cs typeface="Arial"/>
            </a:endParaRPr>
          </a:p>
          <a:p>
            <a:pPr marL="31115">
              <a:lnSpc>
                <a:spcPct val="100000"/>
              </a:lnSpc>
              <a:spcBef>
                <a:spcPts val="50"/>
              </a:spcBef>
            </a:pPr>
            <a:r>
              <a:rPr sz="1100" spc="-30" dirty="0">
                <a:solidFill>
                  <a:srgbClr val="4A4A4A"/>
                </a:solidFill>
                <a:latin typeface="Arial MT"/>
                <a:cs typeface="Arial MT"/>
              </a:rPr>
              <a:t>FastAPI</a:t>
            </a:r>
            <a:r>
              <a:rPr sz="1100" spc="-3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spc="-135" dirty="0">
                <a:solidFill>
                  <a:srgbClr val="4A4A4A"/>
                </a:solidFill>
                <a:latin typeface="Arial MT"/>
                <a:cs typeface="Arial MT"/>
              </a:rPr>
              <a:t>·</a:t>
            </a:r>
            <a:r>
              <a:rPr sz="1100" spc="2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4A4A4A"/>
                </a:solidFill>
                <a:latin typeface="Arial MT"/>
                <a:cs typeface="Arial MT"/>
              </a:rPr>
              <a:t>seuils</a:t>
            </a:r>
            <a:endParaRPr sz="1100" dirty="0">
              <a:latin typeface="Arial MT"/>
              <a:cs typeface="Arial MT"/>
            </a:endParaRPr>
          </a:p>
        </p:txBody>
      </p:sp>
      <p:sp>
        <p:nvSpPr>
          <p:cNvPr id="32" name="object 32"/>
          <p:cNvSpPr/>
          <p:nvPr/>
        </p:nvSpPr>
        <p:spPr>
          <a:xfrm>
            <a:off x="5473855" y="4055490"/>
            <a:ext cx="1315720" cy="522605"/>
          </a:xfrm>
          <a:custGeom>
            <a:avLst/>
            <a:gdLst/>
            <a:ahLst/>
            <a:cxnLst/>
            <a:rect l="l" t="t" r="r" b="b"/>
            <a:pathLst>
              <a:path w="1315720" h="522604">
                <a:moveTo>
                  <a:pt x="1315137" y="522451"/>
                </a:moveTo>
                <a:lnTo>
                  <a:pt x="0" y="522451"/>
                </a:lnTo>
                <a:lnTo>
                  <a:pt x="0" y="0"/>
                </a:lnTo>
                <a:lnTo>
                  <a:pt x="1315137" y="0"/>
                </a:lnTo>
                <a:lnTo>
                  <a:pt x="1315137" y="522451"/>
                </a:lnTo>
                <a:close/>
              </a:path>
            </a:pathLst>
          </a:custGeom>
          <a:solidFill>
            <a:srgbClr val="1F36C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3"/>
          <p:cNvSpPr txBox="1"/>
          <p:nvPr/>
        </p:nvSpPr>
        <p:spPr>
          <a:xfrm>
            <a:off x="5569147" y="4105504"/>
            <a:ext cx="1013460" cy="4057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50" b="1" spc="-10" dirty="0">
                <a:solidFill>
                  <a:srgbClr val="FFFFFF"/>
                </a:solidFill>
                <a:latin typeface="Arial"/>
                <a:cs typeface="Arial"/>
              </a:rPr>
              <a:t>PostgreSQL</a:t>
            </a:r>
            <a:endParaRPr sz="135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45"/>
              </a:spcBef>
            </a:pPr>
            <a:r>
              <a:rPr sz="1100" spc="-10" dirty="0">
                <a:solidFill>
                  <a:srgbClr val="FFFFFF"/>
                </a:solidFill>
                <a:latin typeface="Arial MT"/>
                <a:cs typeface="Arial MT"/>
              </a:rPr>
              <a:t>alertes</a:t>
            </a:r>
            <a:endParaRPr sz="1100">
              <a:latin typeface="Arial MT"/>
              <a:cs typeface="Arial MT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3149845" y="2369232"/>
            <a:ext cx="2691130" cy="2395855"/>
            <a:chOff x="3149845" y="2369232"/>
            <a:chExt cx="2691130" cy="2395855"/>
          </a:xfrm>
        </p:grpSpPr>
        <p:sp>
          <p:nvSpPr>
            <p:cNvPr id="43" name="object 43"/>
            <p:cNvSpPr/>
            <p:nvPr/>
          </p:nvSpPr>
          <p:spPr>
            <a:xfrm>
              <a:off x="3149845" y="2407065"/>
              <a:ext cx="414655" cy="0"/>
            </a:xfrm>
            <a:custGeom>
              <a:avLst/>
              <a:gdLst/>
              <a:ahLst/>
              <a:cxnLst/>
              <a:rect l="l" t="t" r="r" b="b"/>
              <a:pathLst>
                <a:path w="414654">
                  <a:moveTo>
                    <a:pt x="0" y="0"/>
                  </a:moveTo>
                  <a:lnTo>
                    <a:pt x="414358" y="0"/>
                  </a:lnTo>
                </a:path>
              </a:pathLst>
            </a:custGeom>
            <a:ln w="13511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3479079" y="2369232"/>
              <a:ext cx="85725" cy="76200"/>
            </a:xfrm>
            <a:custGeom>
              <a:avLst/>
              <a:gdLst/>
              <a:ahLst/>
              <a:cxnLst/>
              <a:rect l="l" t="t" r="r" b="b"/>
              <a:pathLst>
                <a:path w="85725" h="76200">
                  <a:moveTo>
                    <a:pt x="0" y="75665"/>
                  </a:moveTo>
                  <a:lnTo>
                    <a:pt x="0" y="0"/>
                  </a:lnTo>
                  <a:lnTo>
                    <a:pt x="85123" y="37832"/>
                  </a:lnTo>
                  <a:lnTo>
                    <a:pt x="0" y="75665"/>
                  </a:lnTo>
                  <a:close/>
                </a:path>
              </a:pathLst>
            </a:custGeom>
            <a:solidFill>
              <a:srgbClr val="11111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3149845" y="4118545"/>
              <a:ext cx="414655" cy="0"/>
            </a:xfrm>
            <a:custGeom>
              <a:avLst/>
              <a:gdLst/>
              <a:ahLst/>
              <a:cxnLst/>
              <a:rect l="l" t="t" r="r" b="b"/>
              <a:pathLst>
                <a:path w="414654">
                  <a:moveTo>
                    <a:pt x="0" y="0"/>
                  </a:moveTo>
                  <a:lnTo>
                    <a:pt x="414358" y="0"/>
                  </a:lnTo>
                </a:path>
              </a:pathLst>
            </a:custGeom>
            <a:ln w="13511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" name="object 46"/>
            <p:cNvSpPr/>
            <p:nvPr/>
          </p:nvSpPr>
          <p:spPr>
            <a:xfrm>
              <a:off x="3479079" y="4080712"/>
              <a:ext cx="85725" cy="76200"/>
            </a:xfrm>
            <a:custGeom>
              <a:avLst/>
              <a:gdLst/>
              <a:ahLst/>
              <a:cxnLst/>
              <a:rect l="l" t="t" r="r" b="b"/>
              <a:pathLst>
                <a:path w="85725" h="76200">
                  <a:moveTo>
                    <a:pt x="0" y="75665"/>
                  </a:moveTo>
                  <a:lnTo>
                    <a:pt x="0" y="0"/>
                  </a:lnTo>
                  <a:lnTo>
                    <a:pt x="85123" y="37832"/>
                  </a:lnTo>
                  <a:lnTo>
                    <a:pt x="0" y="75665"/>
                  </a:lnTo>
                  <a:close/>
                </a:path>
              </a:pathLst>
            </a:custGeom>
            <a:solidFill>
              <a:srgbClr val="11111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7" name="object 47"/>
            <p:cNvSpPr/>
            <p:nvPr/>
          </p:nvSpPr>
          <p:spPr>
            <a:xfrm>
              <a:off x="3167860" y="2668291"/>
              <a:ext cx="1090295" cy="648970"/>
            </a:xfrm>
            <a:custGeom>
              <a:avLst/>
              <a:gdLst/>
              <a:ahLst/>
              <a:cxnLst/>
              <a:rect l="l" t="t" r="r" b="b"/>
              <a:pathLst>
                <a:path w="1090295" h="648970">
                  <a:moveTo>
                    <a:pt x="1089942" y="0"/>
                  </a:moveTo>
                  <a:lnTo>
                    <a:pt x="1089942" y="648560"/>
                  </a:lnTo>
                  <a:lnTo>
                    <a:pt x="0" y="648560"/>
                  </a:lnTo>
                </a:path>
              </a:pathLst>
            </a:custGeom>
            <a:ln w="13511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8" name="object 48"/>
            <p:cNvSpPr/>
            <p:nvPr/>
          </p:nvSpPr>
          <p:spPr>
            <a:xfrm>
              <a:off x="3167860" y="3279019"/>
              <a:ext cx="85725" cy="76200"/>
            </a:xfrm>
            <a:custGeom>
              <a:avLst/>
              <a:gdLst/>
              <a:ahLst/>
              <a:cxnLst/>
              <a:rect l="l" t="t" r="r" b="b"/>
              <a:pathLst>
                <a:path w="85725" h="76200">
                  <a:moveTo>
                    <a:pt x="85123" y="0"/>
                  </a:moveTo>
                  <a:lnTo>
                    <a:pt x="85123" y="75665"/>
                  </a:lnTo>
                  <a:lnTo>
                    <a:pt x="0" y="37832"/>
                  </a:lnTo>
                  <a:lnTo>
                    <a:pt x="85123" y="0"/>
                  </a:lnTo>
                  <a:close/>
                </a:path>
              </a:pathLst>
            </a:custGeom>
            <a:solidFill>
              <a:srgbClr val="11111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9" name="object 49"/>
            <p:cNvSpPr/>
            <p:nvPr/>
          </p:nvSpPr>
          <p:spPr>
            <a:xfrm>
              <a:off x="4933387" y="3307844"/>
              <a:ext cx="522605" cy="694055"/>
            </a:xfrm>
            <a:custGeom>
              <a:avLst/>
              <a:gdLst/>
              <a:ahLst/>
              <a:cxnLst/>
              <a:rect l="l" t="t" r="r" b="b"/>
              <a:pathLst>
                <a:path w="522604" h="694054">
                  <a:moveTo>
                    <a:pt x="0" y="693599"/>
                  </a:moveTo>
                  <a:lnTo>
                    <a:pt x="270233" y="693599"/>
                  </a:lnTo>
                  <a:lnTo>
                    <a:pt x="270233" y="0"/>
                  </a:lnTo>
                  <a:lnTo>
                    <a:pt x="522451" y="0"/>
                  </a:lnTo>
                </a:path>
              </a:pathLst>
            </a:custGeom>
            <a:ln w="13511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5370715" y="3270011"/>
              <a:ext cx="85725" cy="76200"/>
            </a:xfrm>
            <a:custGeom>
              <a:avLst/>
              <a:gdLst/>
              <a:ahLst/>
              <a:cxnLst/>
              <a:rect l="l" t="t" r="r" b="b"/>
              <a:pathLst>
                <a:path w="85725" h="76200">
                  <a:moveTo>
                    <a:pt x="0" y="75665"/>
                  </a:moveTo>
                  <a:lnTo>
                    <a:pt x="0" y="0"/>
                  </a:lnTo>
                  <a:lnTo>
                    <a:pt x="85123" y="37832"/>
                  </a:lnTo>
                  <a:lnTo>
                    <a:pt x="0" y="75665"/>
                  </a:lnTo>
                  <a:close/>
                </a:path>
              </a:pathLst>
            </a:custGeom>
            <a:solidFill>
              <a:srgbClr val="11111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4933387" y="4235646"/>
              <a:ext cx="522605" cy="81280"/>
            </a:xfrm>
            <a:custGeom>
              <a:avLst/>
              <a:gdLst/>
              <a:ahLst/>
              <a:cxnLst/>
              <a:rect l="l" t="t" r="r" b="b"/>
              <a:pathLst>
                <a:path w="522604" h="81279">
                  <a:moveTo>
                    <a:pt x="0" y="0"/>
                  </a:moveTo>
                  <a:lnTo>
                    <a:pt x="270233" y="0"/>
                  </a:lnTo>
                  <a:lnTo>
                    <a:pt x="270233" y="81070"/>
                  </a:lnTo>
                  <a:lnTo>
                    <a:pt x="522451" y="81070"/>
                  </a:lnTo>
                </a:path>
              </a:pathLst>
            </a:custGeom>
            <a:ln w="13511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5370715" y="4278883"/>
              <a:ext cx="85725" cy="76200"/>
            </a:xfrm>
            <a:custGeom>
              <a:avLst/>
              <a:gdLst/>
              <a:ahLst/>
              <a:cxnLst/>
              <a:rect l="l" t="t" r="r" b="b"/>
              <a:pathLst>
                <a:path w="85725" h="76200">
                  <a:moveTo>
                    <a:pt x="0" y="75665"/>
                  </a:moveTo>
                  <a:lnTo>
                    <a:pt x="0" y="0"/>
                  </a:lnTo>
                  <a:lnTo>
                    <a:pt x="85123" y="37832"/>
                  </a:lnTo>
                  <a:lnTo>
                    <a:pt x="0" y="75665"/>
                  </a:lnTo>
                  <a:close/>
                </a:path>
              </a:pathLst>
            </a:custGeom>
            <a:solidFill>
              <a:srgbClr val="11111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3" name="object 53"/>
            <p:cNvSpPr/>
            <p:nvPr/>
          </p:nvSpPr>
          <p:spPr>
            <a:xfrm>
              <a:off x="4257803" y="4397786"/>
              <a:ext cx="1576705" cy="360680"/>
            </a:xfrm>
            <a:custGeom>
              <a:avLst/>
              <a:gdLst/>
              <a:ahLst/>
              <a:cxnLst/>
              <a:rect l="l" t="t" r="r" b="b"/>
              <a:pathLst>
                <a:path w="1576704" h="360679">
                  <a:moveTo>
                    <a:pt x="1576363" y="180155"/>
                  </a:moveTo>
                  <a:lnTo>
                    <a:pt x="1576363" y="360311"/>
                  </a:lnTo>
                  <a:lnTo>
                    <a:pt x="0" y="360311"/>
                  </a:lnTo>
                  <a:lnTo>
                    <a:pt x="0" y="0"/>
                  </a:lnTo>
                </a:path>
              </a:pathLst>
            </a:custGeom>
            <a:ln w="13511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4" name="object 54"/>
            <p:cNvSpPr/>
            <p:nvPr/>
          </p:nvSpPr>
          <p:spPr>
            <a:xfrm>
              <a:off x="4219970" y="4397786"/>
              <a:ext cx="76200" cy="85725"/>
            </a:xfrm>
            <a:custGeom>
              <a:avLst/>
              <a:gdLst/>
              <a:ahLst/>
              <a:cxnLst/>
              <a:rect l="l" t="t" r="r" b="b"/>
              <a:pathLst>
                <a:path w="76200" h="85725">
                  <a:moveTo>
                    <a:pt x="75665" y="85123"/>
                  </a:moveTo>
                  <a:lnTo>
                    <a:pt x="0" y="85123"/>
                  </a:lnTo>
                  <a:lnTo>
                    <a:pt x="37832" y="0"/>
                  </a:lnTo>
                  <a:lnTo>
                    <a:pt x="75665" y="85123"/>
                  </a:lnTo>
                  <a:close/>
                </a:path>
              </a:pathLst>
            </a:custGeom>
            <a:solidFill>
              <a:srgbClr val="11111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8" name="object 68"/>
          <p:cNvSpPr txBox="1"/>
          <p:nvPr/>
        </p:nvSpPr>
        <p:spPr>
          <a:xfrm>
            <a:off x="7131049" y="2175793"/>
            <a:ext cx="4348480" cy="71660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11600"/>
              </a:lnSpc>
              <a:spcBef>
                <a:spcPts val="95"/>
              </a:spcBef>
            </a:pPr>
            <a:r>
              <a:rPr sz="1400" b="1" spc="-55" dirty="0">
                <a:solidFill>
                  <a:srgbClr val="111111"/>
                </a:solidFill>
                <a:latin typeface="Arial"/>
                <a:cs typeface="Arial"/>
              </a:rPr>
              <a:t>Sur</a:t>
            </a:r>
            <a:r>
              <a:rPr sz="1400" b="1" spc="-17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50" dirty="0">
                <a:solidFill>
                  <a:srgbClr val="111111"/>
                </a:solidFill>
                <a:latin typeface="Arial"/>
                <a:cs typeface="Arial"/>
              </a:rPr>
              <a:t>site</a:t>
            </a:r>
            <a:r>
              <a:rPr sz="1400" b="1" spc="-13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lang="fr-FR" sz="1400" b="1" spc="80" dirty="0">
                <a:solidFill>
                  <a:srgbClr val="111111"/>
                </a:solidFill>
                <a:latin typeface="Arial"/>
                <a:cs typeface="Arial"/>
              </a:rPr>
              <a:t>:</a:t>
            </a:r>
            <a:r>
              <a:rPr sz="1400" b="1" spc="-25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70" dirty="0">
                <a:solidFill>
                  <a:srgbClr val="111111"/>
                </a:solidFill>
                <a:latin typeface="Arial"/>
                <a:cs typeface="Arial"/>
              </a:rPr>
              <a:t>cloud</a:t>
            </a:r>
            <a:r>
              <a:rPr sz="1400" b="1" spc="-9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65" dirty="0">
                <a:solidFill>
                  <a:srgbClr val="111111"/>
                </a:solidFill>
                <a:latin typeface="Arial"/>
                <a:cs typeface="Arial"/>
              </a:rPr>
              <a:t>privé,</a:t>
            </a:r>
            <a:r>
              <a:rPr sz="1400" b="1" spc="-1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30" dirty="0">
                <a:solidFill>
                  <a:srgbClr val="111111"/>
                </a:solidFill>
                <a:latin typeface="Arial"/>
                <a:cs typeface="Arial"/>
              </a:rPr>
              <a:t>IaaS</a:t>
            </a:r>
            <a:r>
              <a:rPr sz="1400" b="1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Ingestion,</a:t>
            </a:r>
            <a:r>
              <a:rPr sz="1400" spc="1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détection,</a:t>
            </a:r>
            <a:r>
              <a:rPr sz="1400" spc="1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alertes </a:t>
            </a:r>
            <a:r>
              <a:rPr sz="1400" spc="-20" dirty="0">
                <a:solidFill>
                  <a:srgbClr val="111111"/>
                </a:solidFill>
                <a:latin typeface="Arial MT"/>
                <a:cs typeface="Arial MT"/>
              </a:rPr>
              <a:t>et</a:t>
            </a:r>
            <a:r>
              <a:rPr sz="1400" spc="-9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5" dirty="0">
                <a:solidFill>
                  <a:srgbClr val="111111"/>
                </a:solidFill>
                <a:latin typeface="Arial MT"/>
                <a:cs typeface="Arial MT"/>
              </a:rPr>
              <a:t>tableau</a:t>
            </a:r>
            <a:r>
              <a:rPr sz="1400" spc="-6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de</a:t>
            </a:r>
            <a:r>
              <a:rPr sz="1400" spc="-10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5" dirty="0">
                <a:solidFill>
                  <a:srgbClr val="111111"/>
                </a:solidFill>
                <a:latin typeface="Arial MT"/>
                <a:cs typeface="Arial MT"/>
              </a:rPr>
              <a:t>bord</a:t>
            </a:r>
            <a:r>
              <a:rPr sz="1400" spc="-6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0" dirty="0">
                <a:solidFill>
                  <a:srgbClr val="111111"/>
                </a:solidFill>
                <a:latin typeface="Arial MT"/>
                <a:cs typeface="Arial MT"/>
              </a:rPr>
              <a:t>temps</a:t>
            </a:r>
            <a:r>
              <a:rPr sz="1400" spc="-10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55" dirty="0">
                <a:solidFill>
                  <a:srgbClr val="111111"/>
                </a:solidFill>
                <a:latin typeface="Arial MT"/>
                <a:cs typeface="Arial MT"/>
              </a:rPr>
              <a:t>réel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20" dirty="0">
                <a:solidFill>
                  <a:srgbClr val="111111"/>
                </a:solidFill>
                <a:latin typeface="Arial MT"/>
                <a:cs typeface="Arial MT"/>
              </a:rPr>
              <a:t>:</a:t>
            </a:r>
            <a:r>
              <a:rPr sz="1400" spc="3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latence</a:t>
            </a:r>
            <a:r>
              <a:rPr sz="1400" spc="-10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5" dirty="0">
                <a:solidFill>
                  <a:srgbClr val="111111"/>
                </a:solidFill>
                <a:latin typeface="Arial MT"/>
                <a:cs typeface="Arial MT"/>
              </a:rPr>
              <a:t>faible,</a:t>
            </a:r>
            <a:r>
              <a:rPr sz="1400" spc="2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réseau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industriel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isolé,</a:t>
            </a:r>
            <a:r>
              <a:rPr sz="1400" spc="3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fonctionne</a:t>
            </a:r>
            <a:r>
              <a:rPr sz="1400" spc="-10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sans</a:t>
            </a:r>
            <a:r>
              <a:rPr sz="1400" spc="-9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Internet.</a:t>
            </a:r>
            <a:endParaRPr sz="1400" dirty="0">
              <a:latin typeface="Arial MT"/>
              <a:cs typeface="Arial MT"/>
            </a:endParaRPr>
          </a:p>
        </p:txBody>
      </p:sp>
      <p:sp>
        <p:nvSpPr>
          <p:cNvPr id="55" name="object 55"/>
          <p:cNvSpPr txBox="1"/>
          <p:nvPr/>
        </p:nvSpPr>
        <p:spPr>
          <a:xfrm>
            <a:off x="4326135" y="2802587"/>
            <a:ext cx="1214755" cy="19494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100" spc="-20" dirty="0">
                <a:solidFill>
                  <a:srgbClr val="4A4A4A"/>
                </a:solidFill>
                <a:latin typeface="Arial MT"/>
                <a:cs typeface="Arial MT"/>
              </a:rPr>
              <a:t>REST</a:t>
            </a:r>
            <a:r>
              <a:rPr sz="1100" spc="-12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4A4A4A"/>
                </a:solidFill>
                <a:latin typeface="Arial MT"/>
                <a:cs typeface="Arial MT"/>
              </a:rPr>
              <a:t>+</a:t>
            </a:r>
            <a:r>
              <a:rPr sz="1100" spc="-5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rgbClr val="4A4A4A"/>
                </a:solidFill>
                <a:latin typeface="Arial MT"/>
                <a:cs typeface="Arial MT"/>
              </a:rPr>
              <a:t>WebSocket</a:t>
            </a:r>
            <a:endParaRPr sz="1100">
              <a:latin typeface="Arial MT"/>
              <a:cs typeface="Arial MT"/>
            </a:endParaRPr>
          </a:p>
        </p:txBody>
      </p:sp>
      <p:sp>
        <p:nvSpPr>
          <p:cNvPr id="56" name="object 56"/>
          <p:cNvSpPr txBox="1"/>
          <p:nvPr/>
        </p:nvSpPr>
        <p:spPr>
          <a:xfrm>
            <a:off x="4326135" y="2964661"/>
            <a:ext cx="949960" cy="19494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100" spc="-30" dirty="0">
                <a:solidFill>
                  <a:srgbClr val="4A4A4A"/>
                </a:solidFill>
                <a:latin typeface="Arial MT"/>
                <a:cs typeface="Arial MT"/>
              </a:rPr>
              <a:t>vers</a:t>
            </a:r>
            <a:r>
              <a:rPr sz="1100" spc="-6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spc="-30" dirty="0">
                <a:solidFill>
                  <a:srgbClr val="4A4A4A"/>
                </a:solidFill>
                <a:latin typeface="Arial MT"/>
                <a:cs typeface="Arial MT"/>
              </a:rPr>
              <a:t>le</a:t>
            </a:r>
            <a:r>
              <a:rPr sz="1100" spc="-7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4A4A4A"/>
                </a:solidFill>
                <a:latin typeface="Arial MT"/>
                <a:cs typeface="Arial MT"/>
              </a:rPr>
              <a:t>backend</a:t>
            </a:r>
            <a:endParaRPr sz="1100">
              <a:latin typeface="Arial MT"/>
              <a:cs typeface="Arial MT"/>
            </a:endParaRPr>
          </a:p>
        </p:txBody>
      </p:sp>
      <p:sp>
        <p:nvSpPr>
          <p:cNvPr id="64" name="object 64"/>
          <p:cNvSpPr/>
          <p:nvPr/>
        </p:nvSpPr>
        <p:spPr>
          <a:xfrm>
            <a:off x="7143749" y="3019424"/>
            <a:ext cx="4438650" cy="9525"/>
          </a:xfrm>
          <a:custGeom>
            <a:avLst/>
            <a:gdLst/>
            <a:ahLst/>
            <a:cxnLst/>
            <a:rect l="l" t="t" r="r" b="b"/>
            <a:pathLst>
              <a:path w="4438650" h="9525">
                <a:moveTo>
                  <a:pt x="4438649" y="9524"/>
                </a:moveTo>
                <a:lnTo>
                  <a:pt x="0" y="9524"/>
                </a:lnTo>
                <a:lnTo>
                  <a:pt x="0" y="0"/>
                </a:lnTo>
                <a:lnTo>
                  <a:pt x="4438649" y="0"/>
                </a:lnTo>
                <a:lnTo>
                  <a:pt x="4438649" y="9524"/>
                </a:lnTo>
                <a:close/>
              </a:path>
            </a:pathLst>
          </a:custGeom>
          <a:solidFill>
            <a:srgbClr val="D5D5D5"/>
          </a:solidFill>
        </p:spPr>
        <p:txBody>
          <a:bodyPr wrap="square" lIns="0" tIns="0" rIns="0" bIns="0" rtlCol="0"/>
          <a:lstStyle/>
          <a:p>
            <a:pPr algn="l" rtl="0"/>
            <a:endParaRPr/>
          </a:p>
        </p:txBody>
      </p:sp>
      <p:sp>
        <p:nvSpPr>
          <p:cNvPr id="69" name="object 69"/>
          <p:cNvSpPr txBox="1"/>
          <p:nvPr/>
        </p:nvSpPr>
        <p:spPr>
          <a:xfrm>
            <a:off x="7131049" y="3061618"/>
            <a:ext cx="4093210" cy="75882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 marR="5080">
              <a:lnSpc>
                <a:spcPct val="113799"/>
              </a:lnSpc>
              <a:spcBef>
                <a:spcPts val="135"/>
              </a:spcBef>
            </a:pPr>
            <a:r>
              <a:rPr sz="1400" b="1" spc="-70" dirty="0">
                <a:solidFill>
                  <a:srgbClr val="111111"/>
                </a:solidFill>
                <a:latin typeface="Arial"/>
                <a:cs typeface="Arial"/>
              </a:rPr>
              <a:t>Cloud</a:t>
            </a:r>
            <a:r>
              <a:rPr sz="1400" b="1" spc="-7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65" dirty="0">
                <a:solidFill>
                  <a:srgbClr val="111111"/>
                </a:solidFill>
                <a:latin typeface="Arial"/>
                <a:cs typeface="Arial"/>
              </a:rPr>
              <a:t>public</a:t>
            </a:r>
            <a:r>
              <a:rPr sz="1400" b="1" spc="-11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lang="fr-FR" sz="1400" b="1" spc="80" dirty="0">
                <a:solidFill>
                  <a:srgbClr val="111111"/>
                </a:solidFill>
                <a:latin typeface="Arial"/>
                <a:cs typeface="Arial"/>
              </a:rPr>
              <a:t>: </a:t>
            </a:r>
            <a:r>
              <a:rPr sz="1400" b="1" spc="-40" dirty="0">
                <a:solidFill>
                  <a:srgbClr val="111111"/>
                </a:solidFill>
                <a:latin typeface="Arial"/>
                <a:cs typeface="Arial"/>
              </a:rPr>
              <a:t>PaaS.</a:t>
            </a:r>
            <a:r>
              <a:rPr sz="1400" b="1" spc="2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Historique</a:t>
            </a:r>
            <a:r>
              <a:rPr sz="1400" spc="-9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long</a:t>
            </a:r>
            <a:r>
              <a:rPr sz="1400" spc="-15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0" dirty="0">
                <a:solidFill>
                  <a:srgbClr val="111111"/>
                </a:solidFill>
                <a:latin typeface="Arial MT"/>
                <a:cs typeface="Arial MT"/>
              </a:rPr>
              <a:t>terme</a:t>
            </a:r>
            <a:r>
              <a:rPr sz="1400" spc="-9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et </a:t>
            </a:r>
            <a:r>
              <a:rPr sz="1400" spc="-20" dirty="0">
                <a:solidFill>
                  <a:srgbClr val="111111"/>
                </a:solidFill>
                <a:latin typeface="Arial MT"/>
                <a:cs typeface="Arial MT"/>
              </a:rPr>
              <a:t>consultation</a:t>
            </a:r>
            <a:r>
              <a:rPr sz="1400" spc="-4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hors</a:t>
            </a:r>
            <a:r>
              <a:rPr sz="1400" spc="-8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0" dirty="0">
                <a:solidFill>
                  <a:srgbClr val="111111"/>
                </a:solidFill>
                <a:latin typeface="Arial MT"/>
                <a:cs typeface="Arial MT"/>
              </a:rPr>
              <a:t>site</a:t>
            </a:r>
            <a:r>
              <a:rPr sz="1400" spc="-8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sur</a:t>
            </a:r>
            <a:r>
              <a:rPr sz="1400" spc="-12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5" dirty="0">
                <a:solidFill>
                  <a:srgbClr val="111111"/>
                </a:solidFill>
                <a:latin typeface="Arial MT"/>
                <a:cs typeface="Arial MT"/>
              </a:rPr>
              <a:t>bases</a:t>
            </a:r>
            <a:r>
              <a:rPr sz="1400" spc="-8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40" dirty="0">
                <a:solidFill>
                  <a:srgbClr val="111111"/>
                </a:solidFill>
                <a:latin typeface="Arial MT"/>
                <a:cs typeface="Arial MT"/>
              </a:rPr>
              <a:t>managées</a:t>
            </a:r>
            <a:r>
              <a:rPr sz="1400" spc="-8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20" dirty="0">
                <a:solidFill>
                  <a:srgbClr val="111111"/>
                </a:solidFill>
                <a:latin typeface="Arial MT"/>
                <a:cs typeface="Arial MT"/>
              </a:rPr>
              <a:t>:</a:t>
            </a:r>
            <a:r>
              <a:rPr sz="1400" spc="6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élastique,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sans</a:t>
            </a:r>
            <a:r>
              <a:rPr sz="1400" spc="-9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exploitation.</a:t>
            </a:r>
            <a:endParaRPr sz="1400" dirty="0">
              <a:latin typeface="Arial MT"/>
              <a:cs typeface="Arial MT"/>
            </a:endParaRPr>
          </a:p>
        </p:txBody>
      </p:sp>
      <p:sp>
        <p:nvSpPr>
          <p:cNvPr id="70" name="object 70"/>
          <p:cNvSpPr txBox="1"/>
          <p:nvPr/>
        </p:nvSpPr>
        <p:spPr>
          <a:xfrm>
            <a:off x="7131049" y="4055478"/>
            <a:ext cx="2605405" cy="25336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500" b="1" dirty="0">
                <a:solidFill>
                  <a:srgbClr val="111111"/>
                </a:solidFill>
                <a:latin typeface="Arial"/>
                <a:cs typeface="Arial"/>
              </a:rPr>
              <a:t>Prototype</a:t>
            </a:r>
            <a:r>
              <a:rPr sz="1500" b="1" spc="-14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500" b="1" spc="-114" dirty="0">
                <a:solidFill>
                  <a:srgbClr val="111111"/>
                </a:solidFill>
                <a:latin typeface="Arial"/>
                <a:cs typeface="Arial"/>
              </a:rPr>
              <a:t>:</a:t>
            </a:r>
            <a:r>
              <a:rPr sz="1500" b="1" spc="-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111111"/>
                </a:solidFill>
                <a:latin typeface="Arial"/>
                <a:cs typeface="Arial"/>
              </a:rPr>
              <a:t>Docker</a:t>
            </a:r>
            <a:r>
              <a:rPr sz="1500" b="1" spc="-18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500" b="1" spc="-10" dirty="0">
                <a:solidFill>
                  <a:srgbClr val="111111"/>
                </a:solidFill>
                <a:latin typeface="Arial"/>
                <a:cs typeface="Arial"/>
              </a:rPr>
              <a:t>Compose</a:t>
            </a:r>
            <a:endParaRPr sz="1500">
              <a:latin typeface="Arial"/>
              <a:cs typeface="Arial"/>
            </a:endParaRPr>
          </a:p>
        </p:txBody>
      </p:sp>
      <p:sp>
        <p:nvSpPr>
          <p:cNvPr id="65" name="object 65"/>
          <p:cNvSpPr/>
          <p:nvPr/>
        </p:nvSpPr>
        <p:spPr>
          <a:xfrm>
            <a:off x="7143749" y="4410073"/>
            <a:ext cx="4438650" cy="9525"/>
          </a:xfrm>
          <a:custGeom>
            <a:avLst/>
            <a:gdLst/>
            <a:ahLst/>
            <a:cxnLst/>
            <a:rect l="l" t="t" r="r" b="b"/>
            <a:pathLst>
              <a:path w="4438650" h="9525">
                <a:moveTo>
                  <a:pt x="4438649" y="9524"/>
                </a:moveTo>
                <a:lnTo>
                  <a:pt x="0" y="9524"/>
                </a:lnTo>
                <a:lnTo>
                  <a:pt x="0" y="0"/>
                </a:lnTo>
                <a:lnTo>
                  <a:pt x="4438649" y="0"/>
                </a:lnTo>
                <a:lnTo>
                  <a:pt x="4438649" y="9524"/>
                </a:lnTo>
                <a:close/>
              </a:path>
            </a:pathLst>
          </a:custGeom>
          <a:solidFill>
            <a:srgbClr val="111111"/>
          </a:solidFill>
        </p:spPr>
        <p:txBody>
          <a:bodyPr wrap="square" lIns="0" tIns="0" rIns="0" bIns="0" rtlCol="0"/>
          <a:lstStyle/>
          <a:p>
            <a:pPr algn="l" rtl="0"/>
            <a:endParaRPr/>
          </a:p>
        </p:txBody>
      </p:sp>
      <p:sp>
        <p:nvSpPr>
          <p:cNvPr id="57" name="object 57"/>
          <p:cNvSpPr txBox="1"/>
          <p:nvPr/>
        </p:nvSpPr>
        <p:spPr>
          <a:xfrm>
            <a:off x="4326135" y="4748217"/>
            <a:ext cx="1854835" cy="19494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100" spc="-35" dirty="0">
                <a:solidFill>
                  <a:srgbClr val="4A4A4A"/>
                </a:solidFill>
                <a:latin typeface="Arial MT"/>
                <a:cs typeface="Arial MT"/>
              </a:rPr>
              <a:t>NOTIFY</a:t>
            </a:r>
            <a:r>
              <a:rPr sz="1100" spc="-17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050" dirty="0">
                <a:solidFill>
                  <a:srgbClr val="4A4A4A"/>
                </a:solidFill>
                <a:latin typeface="Microsoft Sans Serif"/>
                <a:cs typeface="Microsoft Sans Serif"/>
              </a:rPr>
              <a:t>→</a:t>
            </a:r>
            <a:r>
              <a:rPr sz="1050" spc="-20" dirty="0">
                <a:solidFill>
                  <a:srgbClr val="4A4A4A"/>
                </a:solidFill>
                <a:latin typeface="Microsoft Sans Serif"/>
                <a:cs typeface="Microsoft Sans Serif"/>
              </a:rPr>
              <a:t> </a:t>
            </a:r>
            <a:r>
              <a:rPr sz="1100" spc="-20" dirty="0">
                <a:solidFill>
                  <a:srgbClr val="4A4A4A"/>
                </a:solidFill>
                <a:latin typeface="Arial MT"/>
                <a:cs typeface="Arial MT"/>
              </a:rPr>
              <a:t>toutes</a:t>
            </a:r>
            <a:r>
              <a:rPr sz="1100" spc="-5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spc="-30" dirty="0">
                <a:solidFill>
                  <a:srgbClr val="4A4A4A"/>
                </a:solidFill>
                <a:latin typeface="Arial MT"/>
                <a:cs typeface="Arial MT"/>
              </a:rPr>
              <a:t>les</a:t>
            </a:r>
            <a:r>
              <a:rPr sz="1100" spc="-5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4A4A4A"/>
                </a:solidFill>
                <a:latin typeface="Arial MT"/>
                <a:cs typeface="Arial MT"/>
              </a:rPr>
              <a:t>répliques</a:t>
            </a:r>
            <a:endParaRPr sz="1100">
              <a:latin typeface="Arial MT"/>
              <a:cs typeface="Arial MT"/>
            </a:endParaRPr>
          </a:p>
        </p:txBody>
      </p:sp>
      <p:sp>
        <p:nvSpPr>
          <p:cNvPr id="71" name="object 71"/>
          <p:cNvSpPr txBox="1"/>
          <p:nvPr/>
        </p:nvSpPr>
        <p:spPr>
          <a:xfrm>
            <a:off x="7131049" y="4490368"/>
            <a:ext cx="4076065" cy="5016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11600"/>
              </a:lnSpc>
              <a:spcBef>
                <a:spcPts val="95"/>
              </a:spcBef>
            </a:pPr>
            <a:r>
              <a:rPr sz="1400" dirty="0">
                <a:solidFill>
                  <a:srgbClr val="111111"/>
                </a:solidFill>
                <a:latin typeface="Arial MT"/>
                <a:cs typeface="Arial MT"/>
              </a:rPr>
              <a:t>6</a:t>
            </a:r>
            <a:r>
              <a:rPr sz="1400" spc="-12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services,</a:t>
            </a:r>
            <a:r>
              <a:rPr sz="1400" spc="1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5" dirty="0">
                <a:solidFill>
                  <a:srgbClr val="111111"/>
                </a:solidFill>
                <a:latin typeface="Arial MT"/>
                <a:cs typeface="Arial MT"/>
              </a:rPr>
              <a:t>démarrés</a:t>
            </a:r>
            <a:r>
              <a:rPr sz="1400" spc="-11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45" dirty="0">
                <a:solidFill>
                  <a:srgbClr val="111111"/>
                </a:solidFill>
                <a:latin typeface="Arial MT"/>
                <a:cs typeface="Arial MT"/>
              </a:rPr>
              <a:t>en</a:t>
            </a:r>
            <a:r>
              <a:rPr sz="1400" spc="-7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5" dirty="0">
                <a:solidFill>
                  <a:srgbClr val="111111"/>
                </a:solidFill>
                <a:latin typeface="Arial MT"/>
                <a:cs typeface="Arial MT"/>
              </a:rPr>
              <a:t>une</a:t>
            </a:r>
            <a:r>
              <a:rPr sz="1400" spc="-12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commande.</a:t>
            </a:r>
            <a:r>
              <a:rPr sz="1400" spc="1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45" dirty="0">
                <a:solidFill>
                  <a:srgbClr val="111111"/>
                </a:solidFill>
                <a:latin typeface="Arial MT"/>
                <a:cs typeface="Arial MT"/>
              </a:rPr>
              <a:t>Les</a:t>
            </a:r>
            <a:r>
              <a:rPr sz="1400" spc="-11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services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sans</a:t>
            </a:r>
            <a:r>
              <a:rPr sz="1400" spc="-8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état</a:t>
            </a:r>
            <a:r>
              <a:rPr sz="1400" spc="-7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se</a:t>
            </a:r>
            <a:r>
              <a:rPr sz="1400" spc="-8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répliquent</a:t>
            </a:r>
            <a:r>
              <a:rPr sz="1400" spc="-7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111111"/>
                </a:solidFill>
                <a:latin typeface="Arial MT"/>
                <a:cs typeface="Arial MT"/>
              </a:rPr>
              <a:t>à</a:t>
            </a:r>
            <a:r>
              <a:rPr sz="1400" spc="-14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chaud.</a:t>
            </a:r>
            <a:endParaRPr sz="1400" dirty="0">
              <a:latin typeface="Arial MT"/>
              <a:cs typeface="Arial MT"/>
            </a:endParaRPr>
          </a:p>
        </p:txBody>
      </p:sp>
      <p:sp>
        <p:nvSpPr>
          <p:cNvPr id="66" name="object 66"/>
          <p:cNvSpPr/>
          <p:nvPr/>
        </p:nvSpPr>
        <p:spPr>
          <a:xfrm>
            <a:off x="7143749" y="5105398"/>
            <a:ext cx="4438650" cy="9525"/>
          </a:xfrm>
          <a:custGeom>
            <a:avLst/>
            <a:gdLst/>
            <a:ahLst/>
            <a:cxnLst/>
            <a:rect l="l" t="t" r="r" b="b"/>
            <a:pathLst>
              <a:path w="4438650" h="9525">
                <a:moveTo>
                  <a:pt x="4438649" y="9524"/>
                </a:moveTo>
                <a:lnTo>
                  <a:pt x="0" y="9524"/>
                </a:lnTo>
                <a:lnTo>
                  <a:pt x="0" y="0"/>
                </a:lnTo>
                <a:lnTo>
                  <a:pt x="4438649" y="0"/>
                </a:lnTo>
                <a:lnTo>
                  <a:pt x="4438649" y="9524"/>
                </a:lnTo>
                <a:close/>
              </a:path>
            </a:pathLst>
          </a:custGeom>
          <a:solidFill>
            <a:srgbClr val="D5D5D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8" name="object 58"/>
          <p:cNvSpPr/>
          <p:nvPr/>
        </p:nvSpPr>
        <p:spPr>
          <a:xfrm>
            <a:off x="2170248" y="5129669"/>
            <a:ext cx="4716145" cy="536575"/>
          </a:xfrm>
          <a:custGeom>
            <a:avLst/>
            <a:gdLst/>
            <a:ahLst/>
            <a:cxnLst/>
            <a:rect l="l" t="t" r="r" b="b"/>
            <a:pathLst>
              <a:path w="4716145" h="536575">
                <a:moveTo>
                  <a:pt x="132864" y="13511"/>
                </a:moveTo>
                <a:lnTo>
                  <a:pt x="87825" y="13511"/>
                </a:lnTo>
                <a:lnTo>
                  <a:pt x="87825" y="0"/>
                </a:lnTo>
                <a:lnTo>
                  <a:pt x="132864" y="0"/>
                </a:lnTo>
                <a:lnTo>
                  <a:pt x="132864" y="13511"/>
                </a:lnTo>
                <a:close/>
              </a:path>
              <a:path w="4716145" h="536575">
                <a:moveTo>
                  <a:pt x="213934" y="13511"/>
                </a:moveTo>
                <a:lnTo>
                  <a:pt x="168896" y="13511"/>
                </a:lnTo>
                <a:lnTo>
                  <a:pt x="168896" y="0"/>
                </a:lnTo>
                <a:lnTo>
                  <a:pt x="213934" y="0"/>
                </a:lnTo>
                <a:lnTo>
                  <a:pt x="213934" y="13511"/>
                </a:lnTo>
                <a:close/>
              </a:path>
              <a:path w="4716145" h="536575">
                <a:moveTo>
                  <a:pt x="295005" y="13511"/>
                </a:moveTo>
                <a:lnTo>
                  <a:pt x="249966" y="13511"/>
                </a:lnTo>
                <a:lnTo>
                  <a:pt x="249966" y="0"/>
                </a:lnTo>
                <a:lnTo>
                  <a:pt x="295005" y="0"/>
                </a:lnTo>
                <a:lnTo>
                  <a:pt x="295005" y="13511"/>
                </a:lnTo>
                <a:close/>
              </a:path>
              <a:path w="4716145" h="536575">
                <a:moveTo>
                  <a:pt x="376075" y="13511"/>
                </a:moveTo>
                <a:lnTo>
                  <a:pt x="331036" y="13511"/>
                </a:lnTo>
                <a:lnTo>
                  <a:pt x="331036" y="0"/>
                </a:lnTo>
                <a:lnTo>
                  <a:pt x="376075" y="0"/>
                </a:lnTo>
                <a:lnTo>
                  <a:pt x="376075" y="13511"/>
                </a:lnTo>
                <a:close/>
              </a:path>
              <a:path w="4716145" h="536575">
                <a:moveTo>
                  <a:pt x="457145" y="13511"/>
                </a:moveTo>
                <a:lnTo>
                  <a:pt x="412106" y="13511"/>
                </a:lnTo>
                <a:lnTo>
                  <a:pt x="412106" y="0"/>
                </a:lnTo>
                <a:lnTo>
                  <a:pt x="457145" y="0"/>
                </a:lnTo>
                <a:lnTo>
                  <a:pt x="457145" y="13511"/>
                </a:lnTo>
                <a:close/>
              </a:path>
              <a:path w="4716145" h="536575">
                <a:moveTo>
                  <a:pt x="538215" y="13511"/>
                </a:moveTo>
                <a:lnTo>
                  <a:pt x="493176" y="13511"/>
                </a:lnTo>
                <a:lnTo>
                  <a:pt x="493176" y="0"/>
                </a:lnTo>
                <a:lnTo>
                  <a:pt x="538215" y="0"/>
                </a:lnTo>
                <a:lnTo>
                  <a:pt x="538215" y="13511"/>
                </a:lnTo>
                <a:close/>
              </a:path>
              <a:path w="4716145" h="536575">
                <a:moveTo>
                  <a:pt x="619285" y="13511"/>
                </a:moveTo>
                <a:lnTo>
                  <a:pt x="574246" y="13511"/>
                </a:lnTo>
                <a:lnTo>
                  <a:pt x="574246" y="0"/>
                </a:lnTo>
                <a:lnTo>
                  <a:pt x="619285" y="0"/>
                </a:lnTo>
                <a:lnTo>
                  <a:pt x="619285" y="13511"/>
                </a:lnTo>
                <a:close/>
              </a:path>
              <a:path w="4716145" h="536575">
                <a:moveTo>
                  <a:pt x="700355" y="13511"/>
                </a:moveTo>
                <a:lnTo>
                  <a:pt x="655316" y="13511"/>
                </a:lnTo>
                <a:lnTo>
                  <a:pt x="655316" y="0"/>
                </a:lnTo>
                <a:lnTo>
                  <a:pt x="700355" y="0"/>
                </a:lnTo>
                <a:lnTo>
                  <a:pt x="700355" y="13511"/>
                </a:lnTo>
                <a:close/>
              </a:path>
              <a:path w="4716145" h="536575">
                <a:moveTo>
                  <a:pt x="781425" y="13511"/>
                </a:moveTo>
                <a:lnTo>
                  <a:pt x="736386" y="13511"/>
                </a:lnTo>
                <a:lnTo>
                  <a:pt x="736386" y="0"/>
                </a:lnTo>
                <a:lnTo>
                  <a:pt x="781425" y="0"/>
                </a:lnTo>
                <a:lnTo>
                  <a:pt x="781425" y="13511"/>
                </a:lnTo>
                <a:close/>
              </a:path>
              <a:path w="4716145" h="536575">
                <a:moveTo>
                  <a:pt x="862495" y="13511"/>
                </a:moveTo>
                <a:lnTo>
                  <a:pt x="817456" y="13511"/>
                </a:lnTo>
                <a:lnTo>
                  <a:pt x="817456" y="0"/>
                </a:lnTo>
                <a:lnTo>
                  <a:pt x="862495" y="0"/>
                </a:lnTo>
                <a:lnTo>
                  <a:pt x="862495" y="13511"/>
                </a:lnTo>
                <a:close/>
              </a:path>
              <a:path w="4716145" h="536575">
                <a:moveTo>
                  <a:pt x="943565" y="13511"/>
                </a:moveTo>
                <a:lnTo>
                  <a:pt x="898526" y="13511"/>
                </a:lnTo>
                <a:lnTo>
                  <a:pt x="898526" y="0"/>
                </a:lnTo>
                <a:lnTo>
                  <a:pt x="943565" y="0"/>
                </a:lnTo>
                <a:lnTo>
                  <a:pt x="943565" y="13511"/>
                </a:lnTo>
                <a:close/>
              </a:path>
              <a:path w="4716145" h="536575">
                <a:moveTo>
                  <a:pt x="1024636" y="13511"/>
                </a:moveTo>
                <a:lnTo>
                  <a:pt x="979597" y="13511"/>
                </a:lnTo>
                <a:lnTo>
                  <a:pt x="979597" y="0"/>
                </a:lnTo>
                <a:lnTo>
                  <a:pt x="1024636" y="0"/>
                </a:lnTo>
                <a:lnTo>
                  <a:pt x="1024636" y="13511"/>
                </a:lnTo>
                <a:close/>
              </a:path>
              <a:path w="4716145" h="536575">
                <a:moveTo>
                  <a:pt x="1105706" y="13511"/>
                </a:moveTo>
                <a:lnTo>
                  <a:pt x="1060667" y="13511"/>
                </a:lnTo>
                <a:lnTo>
                  <a:pt x="1060667" y="0"/>
                </a:lnTo>
                <a:lnTo>
                  <a:pt x="1105706" y="0"/>
                </a:lnTo>
                <a:lnTo>
                  <a:pt x="1105706" y="13511"/>
                </a:lnTo>
                <a:close/>
              </a:path>
              <a:path w="4716145" h="536575">
                <a:moveTo>
                  <a:pt x="1186776" y="13511"/>
                </a:moveTo>
                <a:lnTo>
                  <a:pt x="1141737" y="13511"/>
                </a:lnTo>
                <a:lnTo>
                  <a:pt x="1141737" y="0"/>
                </a:lnTo>
                <a:lnTo>
                  <a:pt x="1186776" y="0"/>
                </a:lnTo>
                <a:lnTo>
                  <a:pt x="1186776" y="13511"/>
                </a:lnTo>
                <a:close/>
              </a:path>
              <a:path w="4716145" h="536575">
                <a:moveTo>
                  <a:pt x="1267846" y="13511"/>
                </a:moveTo>
                <a:lnTo>
                  <a:pt x="1222807" y="13511"/>
                </a:lnTo>
                <a:lnTo>
                  <a:pt x="1222807" y="0"/>
                </a:lnTo>
                <a:lnTo>
                  <a:pt x="1267846" y="0"/>
                </a:lnTo>
                <a:lnTo>
                  <a:pt x="1267846" y="13511"/>
                </a:lnTo>
                <a:close/>
              </a:path>
              <a:path w="4716145" h="536575">
                <a:moveTo>
                  <a:pt x="1348916" y="13511"/>
                </a:moveTo>
                <a:lnTo>
                  <a:pt x="1303877" y="13511"/>
                </a:lnTo>
                <a:lnTo>
                  <a:pt x="1303877" y="0"/>
                </a:lnTo>
                <a:lnTo>
                  <a:pt x="1348916" y="0"/>
                </a:lnTo>
                <a:lnTo>
                  <a:pt x="1348916" y="13511"/>
                </a:lnTo>
                <a:close/>
              </a:path>
              <a:path w="4716145" h="536575">
                <a:moveTo>
                  <a:pt x="1429986" y="13511"/>
                </a:moveTo>
                <a:lnTo>
                  <a:pt x="1384947" y="13511"/>
                </a:lnTo>
                <a:lnTo>
                  <a:pt x="1384947" y="0"/>
                </a:lnTo>
                <a:lnTo>
                  <a:pt x="1429986" y="0"/>
                </a:lnTo>
                <a:lnTo>
                  <a:pt x="1429986" y="13511"/>
                </a:lnTo>
                <a:close/>
              </a:path>
              <a:path w="4716145" h="536575">
                <a:moveTo>
                  <a:pt x="1511056" y="13511"/>
                </a:moveTo>
                <a:lnTo>
                  <a:pt x="1466017" y="13511"/>
                </a:lnTo>
                <a:lnTo>
                  <a:pt x="1466017" y="0"/>
                </a:lnTo>
                <a:lnTo>
                  <a:pt x="1511056" y="0"/>
                </a:lnTo>
                <a:lnTo>
                  <a:pt x="1511056" y="13511"/>
                </a:lnTo>
                <a:close/>
              </a:path>
              <a:path w="4716145" h="536575">
                <a:moveTo>
                  <a:pt x="1592126" y="13511"/>
                </a:moveTo>
                <a:lnTo>
                  <a:pt x="1547087" y="13511"/>
                </a:lnTo>
                <a:lnTo>
                  <a:pt x="1547087" y="0"/>
                </a:lnTo>
                <a:lnTo>
                  <a:pt x="1592126" y="0"/>
                </a:lnTo>
                <a:lnTo>
                  <a:pt x="1592126" y="13511"/>
                </a:lnTo>
                <a:close/>
              </a:path>
              <a:path w="4716145" h="536575">
                <a:moveTo>
                  <a:pt x="1673196" y="13511"/>
                </a:moveTo>
                <a:lnTo>
                  <a:pt x="1628157" y="13511"/>
                </a:lnTo>
                <a:lnTo>
                  <a:pt x="1628157" y="0"/>
                </a:lnTo>
                <a:lnTo>
                  <a:pt x="1673196" y="0"/>
                </a:lnTo>
                <a:lnTo>
                  <a:pt x="1673196" y="13511"/>
                </a:lnTo>
                <a:close/>
              </a:path>
              <a:path w="4716145" h="536575">
                <a:moveTo>
                  <a:pt x="1754266" y="13511"/>
                </a:moveTo>
                <a:lnTo>
                  <a:pt x="1709227" y="13511"/>
                </a:lnTo>
                <a:lnTo>
                  <a:pt x="1709227" y="0"/>
                </a:lnTo>
                <a:lnTo>
                  <a:pt x="1754266" y="0"/>
                </a:lnTo>
                <a:lnTo>
                  <a:pt x="1754266" y="13511"/>
                </a:lnTo>
                <a:close/>
              </a:path>
              <a:path w="4716145" h="536575">
                <a:moveTo>
                  <a:pt x="1835337" y="13511"/>
                </a:moveTo>
                <a:lnTo>
                  <a:pt x="1790298" y="13511"/>
                </a:lnTo>
                <a:lnTo>
                  <a:pt x="1790298" y="0"/>
                </a:lnTo>
                <a:lnTo>
                  <a:pt x="1835337" y="0"/>
                </a:lnTo>
                <a:lnTo>
                  <a:pt x="1835337" y="13511"/>
                </a:lnTo>
                <a:close/>
              </a:path>
              <a:path w="4716145" h="536575">
                <a:moveTo>
                  <a:pt x="1916407" y="13511"/>
                </a:moveTo>
                <a:lnTo>
                  <a:pt x="1871368" y="13511"/>
                </a:lnTo>
                <a:lnTo>
                  <a:pt x="1871368" y="0"/>
                </a:lnTo>
                <a:lnTo>
                  <a:pt x="1916407" y="0"/>
                </a:lnTo>
                <a:lnTo>
                  <a:pt x="1916407" y="13511"/>
                </a:lnTo>
                <a:close/>
              </a:path>
              <a:path w="4716145" h="536575">
                <a:moveTo>
                  <a:pt x="1997477" y="13511"/>
                </a:moveTo>
                <a:lnTo>
                  <a:pt x="1952438" y="13511"/>
                </a:lnTo>
                <a:lnTo>
                  <a:pt x="1952438" y="0"/>
                </a:lnTo>
                <a:lnTo>
                  <a:pt x="1997477" y="0"/>
                </a:lnTo>
                <a:lnTo>
                  <a:pt x="1997477" y="13511"/>
                </a:lnTo>
                <a:close/>
              </a:path>
              <a:path w="4716145" h="536575">
                <a:moveTo>
                  <a:pt x="2078547" y="13511"/>
                </a:moveTo>
                <a:lnTo>
                  <a:pt x="2033508" y="13511"/>
                </a:lnTo>
                <a:lnTo>
                  <a:pt x="2033508" y="0"/>
                </a:lnTo>
                <a:lnTo>
                  <a:pt x="2078547" y="0"/>
                </a:lnTo>
                <a:lnTo>
                  <a:pt x="2078547" y="13511"/>
                </a:lnTo>
                <a:close/>
              </a:path>
              <a:path w="4716145" h="536575">
                <a:moveTo>
                  <a:pt x="2159617" y="13511"/>
                </a:moveTo>
                <a:lnTo>
                  <a:pt x="2114578" y="13511"/>
                </a:lnTo>
                <a:lnTo>
                  <a:pt x="2114578" y="0"/>
                </a:lnTo>
                <a:lnTo>
                  <a:pt x="2159617" y="0"/>
                </a:lnTo>
                <a:lnTo>
                  <a:pt x="2159617" y="13511"/>
                </a:lnTo>
                <a:close/>
              </a:path>
              <a:path w="4716145" h="536575">
                <a:moveTo>
                  <a:pt x="2240687" y="13511"/>
                </a:moveTo>
                <a:lnTo>
                  <a:pt x="2195648" y="13511"/>
                </a:lnTo>
                <a:lnTo>
                  <a:pt x="2195648" y="0"/>
                </a:lnTo>
                <a:lnTo>
                  <a:pt x="2240687" y="0"/>
                </a:lnTo>
                <a:lnTo>
                  <a:pt x="2240687" y="13511"/>
                </a:lnTo>
                <a:close/>
              </a:path>
              <a:path w="4716145" h="536575">
                <a:moveTo>
                  <a:pt x="2321757" y="13511"/>
                </a:moveTo>
                <a:lnTo>
                  <a:pt x="2276718" y="13511"/>
                </a:lnTo>
                <a:lnTo>
                  <a:pt x="2276718" y="0"/>
                </a:lnTo>
                <a:lnTo>
                  <a:pt x="2321757" y="0"/>
                </a:lnTo>
                <a:lnTo>
                  <a:pt x="2321757" y="13511"/>
                </a:lnTo>
                <a:close/>
              </a:path>
              <a:path w="4716145" h="536575">
                <a:moveTo>
                  <a:pt x="2402827" y="13511"/>
                </a:moveTo>
                <a:lnTo>
                  <a:pt x="2357788" y="13511"/>
                </a:lnTo>
                <a:lnTo>
                  <a:pt x="2357788" y="0"/>
                </a:lnTo>
                <a:lnTo>
                  <a:pt x="2402827" y="0"/>
                </a:lnTo>
                <a:lnTo>
                  <a:pt x="2402827" y="13511"/>
                </a:lnTo>
                <a:close/>
              </a:path>
              <a:path w="4716145" h="536575">
                <a:moveTo>
                  <a:pt x="2483897" y="13511"/>
                </a:moveTo>
                <a:lnTo>
                  <a:pt x="2438858" y="13511"/>
                </a:lnTo>
                <a:lnTo>
                  <a:pt x="2438858" y="0"/>
                </a:lnTo>
                <a:lnTo>
                  <a:pt x="2483897" y="0"/>
                </a:lnTo>
                <a:lnTo>
                  <a:pt x="2483897" y="13511"/>
                </a:lnTo>
                <a:close/>
              </a:path>
              <a:path w="4716145" h="536575">
                <a:moveTo>
                  <a:pt x="2564967" y="13511"/>
                </a:moveTo>
                <a:lnTo>
                  <a:pt x="2519929" y="13511"/>
                </a:lnTo>
                <a:lnTo>
                  <a:pt x="2519929" y="0"/>
                </a:lnTo>
                <a:lnTo>
                  <a:pt x="2564967" y="0"/>
                </a:lnTo>
                <a:lnTo>
                  <a:pt x="2564967" y="13511"/>
                </a:lnTo>
                <a:close/>
              </a:path>
              <a:path w="4716145" h="536575">
                <a:moveTo>
                  <a:pt x="2646038" y="13511"/>
                </a:moveTo>
                <a:lnTo>
                  <a:pt x="2600999" y="13511"/>
                </a:lnTo>
                <a:lnTo>
                  <a:pt x="2600999" y="0"/>
                </a:lnTo>
                <a:lnTo>
                  <a:pt x="2646038" y="0"/>
                </a:lnTo>
                <a:lnTo>
                  <a:pt x="2646038" y="13511"/>
                </a:lnTo>
                <a:close/>
              </a:path>
              <a:path w="4716145" h="536575">
                <a:moveTo>
                  <a:pt x="2727108" y="13511"/>
                </a:moveTo>
                <a:lnTo>
                  <a:pt x="2682069" y="13511"/>
                </a:lnTo>
                <a:lnTo>
                  <a:pt x="2682069" y="0"/>
                </a:lnTo>
                <a:lnTo>
                  <a:pt x="2727108" y="0"/>
                </a:lnTo>
                <a:lnTo>
                  <a:pt x="2727108" y="13511"/>
                </a:lnTo>
                <a:close/>
              </a:path>
              <a:path w="4716145" h="536575">
                <a:moveTo>
                  <a:pt x="2808178" y="13511"/>
                </a:moveTo>
                <a:lnTo>
                  <a:pt x="2763139" y="13511"/>
                </a:lnTo>
                <a:lnTo>
                  <a:pt x="2763139" y="0"/>
                </a:lnTo>
                <a:lnTo>
                  <a:pt x="2808178" y="0"/>
                </a:lnTo>
                <a:lnTo>
                  <a:pt x="2808178" y="13511"/>
                </a:lnTo>
                <a:close/>
              </a:path>
              <a:path w="4716145" h="536575">
                <a:moveTo>
                  <a:pt x="2889248" y="13511"/>
                </a:moveTo>
                <a:lnTo>
                  <a:pt x="2844209" y="13511"/>
                </a:lnTo>
                <a:lnTo>
                  <a:pt x="2844209" y="0"/>
                </a:lnTo>
                <a:lnTo>
                  <a:pt x="2889248" y="0"/>
                </a:lnTo>
                <a:lnTo>
                  <a:pt x="2889248" y="13511"/>
                </a:lnTo>
                <a:close/>
              </a:path>
              <a:path w="4716145" h="536575">
                <a:moveTo>
                  <a:pt x="2970318" y="13511"/>
                </a:moveTo>
                <a:lnTo>
                  <a:pt x="2925279" y="13511"/>
                </a:lnTo>
                <a:lnTo>
                  <a:pt x="2925279" y="0"/>
                </a:lnTo>
                <a:lnTo>
                  <a:pt x="2970318" y="0"/>
                </a:lnTo>
                <a:lnTo>
                  <a:pt x="2970318" y="13511"/>
                </a:lnTo>
                <a:close/>
              </a:path>
              <a:path w="4716145" h="536575">
                <a:moveTo>
                  <a:pt x="3051388" y="13511"/>
                </a:moveTo>
                <a:lnTo>
                  <a:pt x="3006349" y="13511"/>
                </a:lnTo>
                <a:lnTo>
                  <a:pt x="3006349" y="0"/>
                </a:lnTo>
                <a:lnTo>
                  <a:pt x="3051388" y="0"/>
                </a:lnTo>
                <a:lnTo>
                  <a:pt x="3051388" y="13511"/>
                </a:lnTo>
                <a:close/>
              </a:path>
              <a:path w="4716145" h="536575">
                <a:moveTo>
                  <a:pt x="3132458" y="13511"/>
                </a:moveTo>
                <a:lnTo>
                  <a:pt x="3087419" y="13511"/>
                </a:lnTo>
                <a:lnTo>
                  <a:pt x="3087419" y="0"/>
                </a:lnTo>
                <a:lnTo>
                  <a:pt x="3132458" y="0"/>
                </a:lnTo>
                <a:lnTo>
                  <a:pt x="3132458" y="13511"/>
                </a:lnTo>
                <a:close/>
              </a:path>
              <a:path w="4716145" h="536575">
                <a:moveTo>
                  <a:pt x="3213528" y="13511"/>
                </a:moveTo>
                <a:lnTo>
                  <a:pt x="3168489" y="13511"/>
                </a:lnTo>
                <a:lnTo>
                  <a:pt x="3168489" y="0"/>
                </a:lnTo>
                <a:lnTo>
                  <a:pt x="3213528" y="0"/>
                </a:lnTo>
                <a:lnTo>
                  <a:pt x="3213528" y="13511"/>
                </a:lnTo>
                <a:close/>
              </a:path>
              <a:path w="4716145" h="536575">
                <a:moveTo>
                  <a:pt x="3294598" y="13511"/>
                </a:moveTo>
                <a:lnTo>
                  <a:pt x="3249559" y="13511"/>
                </a:lnTo>
                <a:lnTo>
                  <a:pt x="3249559" y="0"/>
                </a:lnTo>
                <a:lnTo>
                  <a:pt x="3294598" y="0"/>
                </a:lnTo>
                <a:lnTo>
                  <a:pt x="3294598" y="13511"/>
                </a:lnTo>
                <a:close/>
              </a:path>
              <a:path w="4716145" h="536575">
                <a:moveTo>
                  <a:pt x="3375668" y="13511"/>
                </a:moveTo>
                <a:lnTo>
                  <a:pt x="3330630" y="13511"/>
                </a:lnTo>
                <a:lnTo>
                  <a:pt x="3330630" y="0"/>
                </a:lnTo>
                <a:lnTo>
                  <a:pt x="3375668" y="0"/>
                </a:lnTo>
                <a:lnTo>
                  <a:pt x="3375668" y="13511"/>
                </a:lnTo>
                <a:close/>
              </a:path>
              <a:path w="4716145" h="536575">
                <a:moveTo>
                  <a:pt x="3456739" y="13511"/>
                </a:moveTo>
                <a:lnTo>
                  <a:pt x="3411700" y="13511"/>
                </a:lnTo>
                <a:lnTo>
                  <a:pt x="3411700" y="0"/>
                </a:lnTo>
                <a:lnTo>
                  <a:pt x="3456739" y="0"/>
                </a:lnTo>
                <a:lnTo>
                  <a:pt x="3456739" y="13511"/>
                </a:lnTo>
                <a:close/>
              </a:path>
              <a:path w="4716145" h="536575">
                <a:moveTo>
                  <a:pt x="3537809" y="13511"/>
                </a:moveTo>
                <a:lnTo>
                  <a:pt x="3492770" y="13511"/>
                </a:lnTo>
                <a:lnTo>
                  <a:pt x="3492770" y="0"/>
                </a:lnTo>
                <a:lnTo>
                  <a:pt x="3537809" y="0"/>
                </a:lnTo>
                <a:lnTo>
                  <a:pt x="3537809" y="13511"/>
                </a:lnTo>
                <a:close/>
              </a:path>
              <a:path w="4716145" h="536575">
                <a:moveTo>
                  <a:pt x="3618879" y="13511"/>
                </a:moveTo>
                <a:lnTo>
                  <a:pt x="3573840" y="13511"/>
                </a:lnTo>
                <a:lnTo>
                  <a:pt x="3573840" y="0"/>
                </a:lnTo>
                <a:lnTo>
                  <a:pt x="3618879" y="0"/>
                </a:lnTo>
                <a:lnTo>
                  <a:pt x="3618879" y="13511"/>
                </a:lnTo>
                <a:close/>
              </a:path>
              <a:path w="4716145" h="536575">
                <a:moveTo>
                  <a:pt x="3699949" y="13511"/>
                </a:moveTo>
                <a:lnTo>
                  <a:pt x="3654910" y="13511"/>
                </a:lnTo>
                <a:lnTo>
                  <a:pt x="3654910" y="0"/>
                </a:lnTo>
                <a:lnTo>
                  <a:pt x="3699949" y="0"/>
                </a:lnTo>
                <a:lnTo>
                  <a:pt x="3699949" y="13511"/>
                </a:lnTo>
                <a:close/>
              </a:path>
              <a:path w="4716145" h="536575">
                <a:moveTo>
                  <a:pt x="3781019" y="13511"/>
                </a:moveTo>
                <a:lnTo>
                  <a:pt x="3735980" y="13511"/>
                </a:lnTo>
                <a:lnTo>
                  <a:pt x="3735980" y="0"/>
                </a:lnTo>
                <a:lnTo>
                  <a:pt x="3781019" y="0"/>
                </a:lnTo>
                <a:lnTo>
                  <a:pt x="3781019" y="13511"/>
                </a:lnTo>
                <a:close/>
              </a:path>
              <a:path w="4716145" h="536575">
                <a:moveTo>
                  <a:pt x="3862089" y="13511"/>
                </a:moveTo>
                <a:lnTo>
                  <a:pt x="3817050" y="13511"/>
                </a:lnTo>
                <a:lnTo>
                  <a:pt x="3817050" y="0"/>
                </a:lnTo>
                <a:lnTo>
                  <a:pt x="3862089" y="0"/>
                </a:lnTo>
                <a:lnTo>
                  <a:pt x="3862089" y="13511"/>
                </a:lnTo>
                <a:close/>
              </a:path>
              <a:path w="4716145" h="536575">
                <a:moveTo>
                  <a:pt x="3943159" y="13511"/>
                </a:moveTo>
                <a:lnTo>
                  <a:pt x="3898120" y="13511"/>
                </a:lnTo>
                <a:lnTo>
                  <a:pt x="3898120" y="0"/>
                </a:lnTo>
                <a:lnTo>
                  <a:pt x="3943159" y="0"/>
                </a:lnTo>
                <a:lnTo>
                  <a:pt x="3943159" y="13511"/>
                </a:lnTo>
                <a:close/>
              </a:path>
              <a:path w="4716145" h="536575">
                <a:moveTo>
                  <a:pt x="4024229" y="13511"/>
                </a:moveTo>
                <a:lnTo>
                  <a:pt x="3979190" y="13511"/>
                </a:lnTo>
                <a:lnTo>
                  <a:pt x="3979190" y="0"/>
                </a:lnTo>
                <a:lnTo>
                  <a:pt x="4024229" y="0"/>
                </a:lnTo>
                <a:lnTo>
                  <a:pt x="4024229" y="13511"/>
                </a:lnTo>
                <a:close/>
              </a:path>
              <a:path w="4716145" h="536575">
                <a:moveTo>
                  <a:pt x="4105299" y="13511"/>
                </a:moveTo>
                <a:lnTo>
                  <a:pt x="4060260" y="13511"/>
                </a:lnTo>
                <a:lnTo>
                  <a:pt x="4060260" y="0"/>
                </a:lnTo>
                <a:lnTo>
                  <a:pt x="4105299" y="0"/>
                </a:lnTo>
                <a:lnTo>
                  <a:pt x="4105299" y="13511"/>
                </a:lnTo>
                <a:close/>
              </a:path>
              <a:path w="4716145" h="536575">
                <a:moveTo>
                  <a:pt x="4186369" y="13511"/>
                </a:moveTo>
                <a:lnTo>
                  <a:pt x="4141331" y="13511"/>
                </a:lnTo>
                <a:lnTo>
                  <a:pt x="4141331" y="0"/>
                </a:lnTo>
                <a:lnTo>
                  <a:pt x="4186369" y="0"/>
                </a:lnTo>
                <a:lnTo>
                  <a:pt x="4186369" y="13511"/>
                </a:lnTo>
                <a:close/>
              </a:path>
              <a:path w="4716145" h="536575">
                <a:moveTo>
                  <a:pt x="4267440" y="13511"/>
                </a:moveTo>
                <a:lnTo>
                  <a:pt x="4222401" y="13511"/>
                </a:lnTo>
                <a:lnTo>
                  <a:pt x="4222401" y="0"/>
                </a:lnTo>
                <a:lnTo>
                  <a:pt x="4267440" y="0"/>
                </a:lnTo>
                <a:lnTo>
                  <a:pt x="4267440" y="13511"/>
                </a:lnTo>
                <a:close/>
              </a:path>
              <a:path w="4716145" h="536575">
                <a:moveTo>
                  <a:pt x="4348510" y="13511"/>
                </a:moveTo>
                <a:lnTo>
                  <a:pt x="4303471" y="13511"/>
                </a:lnTo>
                <a:lnTo>
                  <a:pt x="4303471" y="0"/>
                </a:lnTo>
                <a:lnTo>
                  <a:pt x="4348510" y="0"/>
                </a:lnTo>
                <a:lnTo>
                  <a:pt x="4348510" y="13511"/>
                </a:lnTo>
                <a:close/>
              </a:path>
              <a:path w="4716145" h="536575">
                <a:moveTo>
                  <a:pt x="4429580" y="13511"/>
                </a:moveTo>
                <a:lnTo>
                  <a:pt x="4384541" y="13511"/>
                </a:lnTo>
                <a:lnTo>
                  <a:pt x="4384541" y="0"/>
                </a:lnTo>
                <a:lnTo>
                  <a:pt x="4429580" y="0"/>
                </a:lnTo>
                <a:lnTo>
                  <a:pt x="4429580" y="13511"/>
                </a:lnTo>
                <a:close/>
              </a:path>
              <a:path w="4716145" h="536575">
                <a:moveTo>
                  <a:pt x="4510650" y="13511"/>
                </a:moveTo>
                <a:lnTo>
                  <a:pt x="4465611" y="13511"/>
                </a:lnTo>
                <a:lnTo>
                  <a:pt x="4465611" y="0"/>
                </a:lnTo>
                <a:lnTo>
                  <a:pt x="4510650" y="0"/>
                </a:lnTo>
                <a:lnTo>
                  <a:pt x="4510650" y="13511"/>
                </a:lnTo>
                <a:close/>
              </a:path>
              <a:path w="4716145" h="536575">
                <a:moveTo>
                  <a:pt x="4591720" y="13511"/>
                </a:moveTo>
                <a:lnTo>
                  <a:pt x="4546681" y="13511"/>
                </a:lnTo>
                <a:lnTo>
                  <a:pt x="4546681" y="0"/>
                </a:lnTo>
                <a:lnTo>
                  <a:pt x="4591720" y="0"/>
                </a:lnTo>
                <a:lnTo>
                  <a:pt x="4591720" y="13511"/>
                </a:lnTo>
                <a:close/>
              </a:path>
              <a:path w="4716145" h="536575">
                <a:moveTo>
                  <a:pt x="4672790" y="13511"/>
                </a:moveTo>
                <a:lnTo>
                  <a:pt x="4627751" y="13511"/>
                </a:lnTo>
                <a:lnTo>
                  <a:pt x="4627751" y="0"/>
                </a:lnTo>
                <a:lnTo>
                  <a:pt x="4672790" y="0"/>
                </a:lnTo>
                <a:lnTo>
                  <a:pt x="4672790" y="13511"/>
                </a:lnTo>
                <a:close/>
              </a:path>
              <a:path w="4716145" h="536575">
                <a:moveTo>
                  <a:pt x="4715577" y="51794"/>
                </a:moveTo>
                <a:lnTo>
                  <a:pt x="4702065" y="51794"/>
                </a:lnTo>
                <a:lnTo>
                  <a:pt x="4702065" y="6755"/>
                </a:lnTo>
                <a:lnTo>
                  <a:pt x="4715577" y="6755"/>
                </a:lnTo>
                <a:lnTo>
                  <a:pt x="4715577" y="51794"/>
                </a:lnTo>
                <a:close/>
              </a:path>
              <a:path w="4716145" h="536575">
                <a:moveTo>
                  <a:pt x="4715577" y="132864"/>
                </a:moveTo>
                <a:lnTo>
                  <a:pt x="4702065" y="132864"/>
                </a:lnTo>
                <a:lnTo>
                  <a:pt x="4702065" y="87825"/>
                </a:lnTo>
                <a:lnTo>
                  <a:pt x="4715577" y="87825"/>
                </a:lnTo>
                <a:lnTo>
                  <a:pt x="4715577" y="132864"/>
                </a:lnTo>
                <a:close/>
              </a:path>
              <a:path w="4716145" h="536575">
                <a:moveTo>
                  <a:pt x="4715577" y="213934"/>
                </a:moveTo>
                <a:lnTo>
                  <a:pt x="4702065" y="213934"/>
                </a:lnTo>
                <a:lnTo>
                  <a:pt x="4702065" y="168896"/>
                </a:lnTo>
                <a:lnTo>
                  <a:pt x="4715577" y="168896"/>
                </a:lnTo>
                <a:lnTo>
                  <a:pt x="4715577" y="213934"/>
                </a:lnTo>
                <a:close/>
              </a:path>
              <a:path w="4716145" h="536575">
                <a:moveTo>
                  <a:pt x="4715577" y="295005"/>
                </a:moveTo>
                <a:lnTo>
                  <a:pt x="4702065" y="295005"/>
                </a:lnTo>
                <a:lnTo>
                  <a:pt x="4702065" y="249966"/>
                </a:lnTo>
                <a:lnTo>
                  <a:pt x="4715577" y="249966"/>
                </a:lnTo>
                <a:lnTo>
                  <a:pt x="4715577" y="295005"/>
                </a:lnTo>
                <a:close/>
              </a:path>
              <a:path w="4716145" h="536575">
                <a:moveTo>
                  <a:pt x="4715577" y="376075"/>
                </a:moveTo>
                <a:lnTo>
                  <a:pt x="4702065" y="376075"/>
                </a:lnTo>
                <a:lnTo>
                  <a:pt x="4702065" y="331036"/>
                </a:lnTo>
                <a:lnTo>
                  <a:pt x="4715577" y="331036"/>
                </a:lnTo>
                <a:lnTo>
                  <a:pt x="4715577" y="376075"/>
                </a:lnTo>
                <a:close/>
              </a:path>
              <a:path w="4716145" h="536575">
                <a:moveTo>
                  <a:pt x="4715577" y="457145"/>
                </a:moveTo>
                <a:lnTo>
                  <a:pt x="4702065" y="457145"/>
                </a:lnTo>
                <a:lnTo>
                  <a:pt x="4702065" y="412106"/>
                </a:lnTo>
                <a:lnTo>
                  <a:pt x="4715577" y="412106"/>
                </a:lnTo>
                <a:lnTo>
                  <a:pt x="4715577" y="457145"/>
                </a:lnTo>
                <a:close/>
              </a:path>
              <a:path w="4716145" h="536575">
                <a:moveTo>
                  <a:pt x="4708821" y="529207"/>
                </a:moveTo>
                <a:lnTo>
                  <a:pt x="4702065" y="529207"/>
                </a:lnTo>
                <a:lnTo>
                  <a:pt x="4702065" y="493176"/>
                </a:lnTo>
                <a:lnTo>
                  <a:pt x="4715577" y="493176"/>
                </a:lnTo>
                <a:lnTo>
                  <a:pt x="4715577" y="522451"/>
                </a:lnTo>
                <a:lnTo>
                  <a:pt x="4708821" y="522451"/>
                </a:lnTo>
                <a:lnTo>
                  <a:pt x="4708821" y="529207"/>
                </a:lnTo>
                <a:close/>
              </a:path>
              <a:path w="4716145" h="536575">
                <a:moveTo>
                  <a:pt x="4715577" y="535963"/>
                </a:moveTo>
                <a:lnTo>
                  <a:pt x="4699813" y="535963"/>
                </a:lnTo>
                <a:lnTo>
                  <a:pt x="4699813" y="522451"/>
                </a:lnTo>
                <a:lnTo>
                  <a:pt x="4702065" y="522451"/>
                </a:lnTo>
                <a:lnTo>
                  <a:pt x="4702065" y="529207"/>
                </a:lnTo>
                <a:lnTo>
                  <a:pt x="4715577" y="529207"/>
                </a:lnTo>
                <a:lnTo>
                  <a:pt x="4715577" y="535963"/>
                </a:lnTo>
                <a:close/>
              </a:path>
              <a:path w="4716145" h="536575">
                <a:moveTo>
                  <a:pt x="4715577" y="529207"/>
                </a:moveTo>
                <a:lnTo>
                  <a:pt x="4708821" y="529207"/>
                </a:lnTo>
                <a:lnTo>
                  <a:pt x="4708821" y="522451"/>
                </a:lnTo>
                <a:lnTo>
                  <a:pt x="4715577" y="522451"/>
                </a:lnTo>
                <a:lnTo>
                  <a:pt x="4715577" y="529207"/>
                </a:lnTo>
                <a:close/>
              </a:path>
              <a:path w="4716145" h="536575">
                <a:moveTo>
                  <a:pt x="4663782" y="535963"/>
                </a:moveTo>
                <a:lnTo>
                  <a:pt x="4618743" y="535963"/>
                </a:lnTo>
                <a:lnTo>
                  <a:pt x="4618743" y="522451"/>
                </a:lnTo>
                <a:lnTo>
                  <a:pt x="4663782" y="522451"/>
                </a:lnTo>
                <a:lnTo>
                  <a:pt x="4663782" y="535963"/>
                </a:lnTo>
                <a:close/>
              </a:path>
              <a:path w="4716145" h="536575">
                <a:moveTo>
                  <a:pt x="4582712" y="535963"/>
                </a:moveTo>
                <a:lnTo>
                  <a:pt x="4537673" y="535963"/>
                </a:lnTo>
                <a:lnTo>
                  <a:pt x="4537673" y="522451"/>
                </a:lnTo>
                <a:lnTo>
                  <a:pt x="4582712" y="522451"/>
                </a:lnTo>
                <a:lnTo>
                  <a:pt x="4582712" y="535963"/>
                </a:lnTo>
                <a:close/>
              </a:path>
              <a:path w="4716145" h="536575">
                <a:moveTo>
                  <a:pt x="4501642" y="535963"/>
                </a:moveTo>
                <a:lnTo>
                  <a:pt x="4456603" y="535963"/>
                </a:lnTo>
                <a:lnTo>
                  <a:pt x="4456603" y="522451"/>
                </a:lnTo>
                <a:lnTo>
                  <a:pt x="4501642" y="522451"/>
                </a:lnTo>
                <a:lnTo>
                  <a:pt x="4501642" y="535963"/>
                </a:lnTo>
                <a:close/>
              </a:path>
              <a:path w="4716145" h="536575">
                <a:moveTo>
                  <a:pt x="4420572" y="535963"/>
                </a:moveTo>
                <a:lnTo>
                  <a:pt x="4375533" y="535963"/>
                </a:lnTo>
                <a:lnTo>
                  <a:pt x="4375533" y="522451"/>
                </a:lnTo>
                <a:lnTo>
                  <a:pt x="4420572" y="522451"/>
                </a:lnTo>
                <a:lnTo>
                  <a:pt x="4420572" y="535963"/>
                </a:lnTo>
                <a:close/>
              </a:path>
              <a:path w="4716145" h="536575">
                <a:moveTo>
                  <a:pt x="4339502" y="535963"/>
                </a:moveTo>
                <a:lnTo>
                  <a:pt x="4294463" y="535963"/>
                </a:lnTo>
                <a:lnTo>
                  <a:pt x="4294463" y="522451"/>
                </a:lnTo>
                <a:lnTo>
                  <a:pt x="4339502" y="522451"/>
                </a:lnTo>
                <a:lnTo>
                  <a:pt x="4339502" y="535963"/>
                </a:lnTo>
                <a:close/>
              </a:path>
              <a:path w="4716145" h="536575">
                <a:moveTo>
                  <a:pt x="4258432" y="535963"/>
                </a:moveTo>
                <a:lnTo>
                  <a:pt x="4213393" y="535963"/>
                </a:lnTo>
                <a:lnTo>
                  <a:pt x="4213393" y="522451"/>
                </a:lnTo>
                <a:lnTo>
                  <a:pt x="4258432" y="522451"/>
                </a:lnTo>
                <a:lnTo>
                  <a:pt x="4258432" y="535963"/>
                </a:lnTo>
                <a:close/>
              </a:path>
              <a:path w="4716145" h="536575">
                <a:moveTo>
                  <a:pt x="4177362" y="535963"/>
                </a:moveTo>
                <a:lnTo>
                  <a:pt x="4132323" y="535963"/>
                </a:lnTo>
                <a:lnTo>
                  <a:pt x="4132323" y="522451"/>
                </a:lnTo>
                <a:lnTo>
                  <a:pt x="4177362" y="522451"/>
                </a:lnTo>
                <a:lnTo>
                  <a:pt x="4177362" y="535963"/>
                </a:lnTo>
                <a:close/>
              </a:path>
              <a:path w="4716145" h="536575">
                <a:moveTo>
                  <a:pt x="4096292" y="535963"/>
                </a:moveTo>
                <a:lnTo>
                  <a:pt x="4051253" y="535963"/>
                </a:lnTo>
                <a:lnTo>
                  <a:pt x="4051253" y="522451"/>
                </a:lnTo>
                <a:lnTo>
                  <a:pt x="4096292" y="522451"/>
                </a:lnTo>
                <a:lnTo>
                  <a:pt x="4096292" y="535963"/>
                </a:lnTo>
                <a:close/>
              </a:path>
              <a:path w="4716145" h="536575">
                <a:moveTo>
                  <a:pt x="4015222" y="535963"/>
                </a:moveTo>
                <a:lnTo>
                  <a:pt x="3970183" y="535963"/>
                </a:lnTo>
                <a:lnTo>
                  <a:pt x="3970183" y="522451"/>
                </a:lnTo>
                <a:lnTo>
                  <a:pt x="4015222" y="522451"/>
                </a:lnTo>
                <a:lnTo>
                  <a:pt x="4015222" y="535963"/>
                </a:lnTo>
                <a:close/>
              </a:path>
              <a:path w="4716145" h="536575">
                <a:moveTo>
                  <a:pt x="3934151" y="535963"/>
                </a:moveTo>
                <a:lnTo>
                  <a:pt x="3889112" y="535963"/>
                </a:lnTo>
                <a:lnTo>
                  <a:pt x="3889112" y="522451"/>
                </a:lnTo>
                <a:lnTo>
                  <a:pt x="3934151" y="522451"/>
                </a:lnTo>
                <a:lnTo>
                  <a:pt x="3934151" y="535963"/>
                </a:lnTo>
                <a:close/>
              </a:path>
              <a:path w="4716145" h="536575">
                <a:moveTo>
                  <a:pt x="3853081" y="535963"/>
                </a:moveTo>
                <a:lnTo>
                  <a:pt x="3808042" y="535963"/>
                </a:lnTo>
                <a:lnTo>
                  <a:pt x="3808042" y="522451"/>
                </a:lnTo>
                <a:lnTo>
                  <a:pt x="3853081" y="522451"/>
                </a:lnTo>
                <a:lnTo>
                  <a:pt x="3853081" y="535963"/>
                </a:lnTo>
                <a:close/>
              </a:path>
              <a:path w="4716145" h="536575">
                <a:moveTo>
                  <a:pt x="3772011" y="535963"/>
                </a:moveTo>
                <a:lnTo>
                  <a:pt x="3726972" y="535963"/>
                </a:lnTo>
                <a:lnTo>
                  <a:pt x="3726972" y="522451"/>
                </a:lnTo>
                <a:lnTo>
                  <a:pt x="3772011" y="522451"/>
                </a:lnTo>
                <a:lnTo>
                  <a:pt x="3772011" y="535963"/>
                </a:lnTo>
                <a:close/>
              </a:path>
              <a:path w="4716145" h="536575">
                <a:moveTo>
                  <a:pt x="3690941" y="535963"/>
                </a:moveTo>
                <a:lnTo>
                  <a:pt x="3645902" y="535963"/>
                </a:lnTo>
                <a:lnTo>
                  <a:pt x="3645902" y="522451"/>
                </a:lnTo>
                <a:lnTo>
                  <a:pt x="3690941" y="522451"/>
                </a:lnTo>
                <a:lnTo>
                  <a:pt x="3690941" y="535963"/>
                </a:lnTo>
                <a:close/>
              </a:path>
              <a:path w="4716145" h="536575">
                <a:moveTo>
                  <a:pt x="3609871" y="535963"/>
                </a:moveTo>
                <a:lnTo>
                  <a:pt x="3564832" y="535963"/>
                </a:lnTo>
                <a:lnTo>
                  <a:pt x="3564832" y="522451"/>
                </a:lnTo>
                <a:lnTo>
                  <a:pt x="3609871" y="522451"/>
                </a:lnTo>
                <a:lnTo>
                  <a:pt x="3609871" y="535963"/>
                </a:lnTo>
                <a:close/>
              </a:path>
              <a:path w="4716145" h="536575">
                <a:moveTo>
                  <a:pt x="3528801" y="535963"/>
                </a:moveTo>
                <a:lnTo>
                  <a:pt x="3483762" y="535963"/>
                </a:lnTo>
                <a:lnTo>
                  <a:pt x="3483762" y="522451"/>
                </a:lnTo>
                <a:lnTo>
                  <a:pt x="3528801" y="522451"/>
                </a:lnTo>
                <a:lnTo>
                  <a:pt x="3528801" y="535963"/>
                </a:lnTo>
                <a:close/>
              </a:path>
              <a:path w="4716145" h="536575">
                <a:moveTo>
                  <a:pt x="3447731" y="535963"/>
                </a:moveTo>
                <a:lnTo>
                  <a:pt x="3402692" y="535963"/>
                </a:lnTo>
                <a:lnTo>
                  <a:pt x="3402692" y="522451"/>
                </a:lnTo>
                <a:lnTo>
                  <a:pt x="3447731" y="522451"/>
                </a:lnTo>
                <a:lnTo>
                  <a:pt x="3447731" y="535963"/>
                </a:lnTo>
                <a:close/>
              </a:path>
              <a:path w="4716145" h="536575">
                <a:moveTo>
                  <a:pt x="3366661" y="535963"/>
                </a:moveTo>
                <a:lnTo>
                  <a:pt x="3321622" y="535963"/>
                </a:lnTo>
                <a:lnTo>
                  <a:pt x="3321622" y="522451"/>
                </a:lnTo>
                <a:lnTo>
                  <a:pt x="3366661" y="522451"/>
                </a:lnTo>
                <a:lnTo>
                  <a:pt x="3366661" y="535963"/>
                </a:lnTo>
                <a:close/>
              </a:path>
              <a:path w="4716145" h="536575">
                <a:moveTo>
                  <a:pt x="3285591" y="535963"/>
                </a:moveTo>
                <a:lnTo>
                  <a:pt x="3240552" y="535963"/>
                </a:lnTo>
                <a:lnTo>
                  <a:pt x="3240552" y="522451"/>
                </a:lnTo>
                <a:lnTo>
                  <a:pt x="3285591" y="522451"/>
                </a:lnTo>
                <a:lnTo>
                  <a:pt x="3285591" y="535963"/>
                </a:lnTo>
                <a:close/>
              </a:path>
              <a:path w="4716145" h="536575">
                <a:moveTo>
                  <a:pt x="3204520" y="535963"/>
                </a:moveTo>
                <a:lnTo>
                  <a:pt x="3159482" y="535963"/>
                </a:lnTo>
                <a:lnTo>
                  <a:pt x="3159482" y="522451"/>
                </a:lnTo>
                <a:lnTo>
                  <a:pt x="3204520" y="522451"/>
                </a:lnTo>
                <a:lnTo>
                  <a:pt x="3204520" y="535963"/>
                </a:lnTo>
                <a:close/>
              </a:path>
              <a:path w="4716145" h="536575">
                <a:moveTo>
                  <a:pt x="3123450" y="535963"/>
                </a:moveTo>
                <a:lnTo>
                  <a:pt x="3078411" y="535963"/>
                </a:lnTo>
                <a:lnTo>
                  <a:pt x="3078411" y="522451"/>
                </a:lnTo>
                <a:lnTo>
                  <a:pt x="3123450" y="522451"/>
                </a:lnTo>
                <a:lnTo>
                  <a:pt x="3123450" y="535963"/>
                </a:lnTo>
                <a:close/>
              </a:path>
              <a:path w="4716145" h="536575">
                <a:moveTo>
                  <a:pt x="3042380" y="535963"/>
                </a:moveTo>
                <a:lnTo>
                  <a:pt x="2997341" y="535963"/>
                </a:lnTo>
                <a:lnTo>
                  <a:pt x="2997341" y="522451"/>
                </a:lnTo>
                <a:lnTo>
                  <a:pt x="3042380" y="522451"/>
                </a:lnTo>
                <a:lnTo>
                  <a:pt x="3042380" y="535963"/>
                </a:lnTo>
                <a:close/>
              </a:path>
              <a:path w="4716145" h="536575">
                <a:moveTo>
                  <a:pt x="2961310" y="535963"/>
                </a:moveTo>
                <a:lnTo>
                  <a:pt x="2916271" y="535963"/>
                </a:lnTo>
                <a:lnTo>
                  <a:pt x="2916271" y="522451"/>
                </a:lnTo>
                <a:lnTo>
                  <a:pt x="2961310" y="522451"/>
                </a:lnTo>
                <a:lnTo>
                  <a:pt x="2961310" y="535963"/>
                </a:lnTo>
                <a:close/>
              </a:path>
              <a:path w="4716145" h="536575">
                <a:moveTo>
                  <a:pt x="2880240" y="535963"/>
                </a:moveTo>
                <a:lnTo>
                  <a:pt x="2835201" y="535963"/>
                </a:lnTo>
                <a:lnTo>
                  <a:pt x="2835201" y="522451"/>
                </a:lnTo>
                <a:lnTo>
                  <a:pt x="2880240" y="522451"/>
                </a:lnTo>
                <a:lnTo>
                  <a:pt x="2880240" y="535963"/>
                </a:lnTo>
                <a:close/>
              </a:path>
              <a:path w="4716145" h="536575">
                <a:moveTo>
                  <a:pt x="2799170" y="535963"/>
                </a:moveTo>
                <a:lnTo>
                  <a:pt x="2754131" y="535963"/>
                </a:lnTo>
                <a:lnTo>
                  <a:pt x="2754131" y="522451"/>
                </a:lnTo>
                <a:lnTo>
                  <a:pt x="2799170" y="522451"/>
                </a:lnTo>
                <a:lnTo>
                  <a:pt x="2799170" y="535963"/>
                </a:lnTo>
                <a:close/>
              </a:path>
              <a:path w="4716145" h="536575">
                <a:moveTo>
                  <a:pt x="2718100" y="535963"/>
                </a:moveTo>
                <a:lnTo>
                  <a:pt x="2673061" y="535963"/>
                </a:lnTo>
                <a:lnTo>
                  <a:pt x="2673061" y="522451"/>
                </a:lnTo>
                <a:lnTo>
                  <a:pt x="2718100" y="522451"/>
                </a:lnTo>
                <a:lnTo>
                  <a:pt x="2718100" y="535963"/>
                </a:lnTo>
                <a:close/>
              </a:path>
              <a:path w="4716145" h="536575">
                <a:moveTo>
                  <a:pt x="2637030" y="535963"/>
                </a:moveTo>
                <a:lnTo>
                  <a:pt x="2591991" y="535963"/>
                </a:lnTo>
                <a:lnTo>
                  <a:pt x="2591991" y="522451"/>
                </a:lnTo>
                <a:lnTo>
                  <a:pt x="2637030" y="522451"/>
                </a:lnTo>
                <a:lnTo>
                  <a:pt x="2637030" y="535963"/>
                </a:lnTo>
                <a:close/>
              </a:path>
              <a:path w="4716145" h="536575">
                <a:moveTo>
                  <a:pt x="2555960" y="535963"/>
                </a:moveTo>
                <a:lnTo>
                  <a:pt x="2510921" y="535963"/>
                </a:lnTo>
                <a:lnTo>
                  <a:pt x="2510921" y="522451"/>
                </a:lnTo>
                <a:lnTo>
                  <a:pt x="2555960" y="522451"/>
                </a:lnTo>
                <a:lnTo>
                  <a:pt x="2555960" y="535963"/>
                </a:lnTo>
                <a:close/>
              </a:path>
              <a:path w="4716145" h="536575">
                <a:moveTo>
                  <a:pt x="2474890" y="535963"/>
                </a:moveTo>
                <a:lnTo>
                  <a:pt x="2429851" y="535963"/>
                </a:lnTo>
                <a:lnTo>
                  <a:pt x="2429851" y="522451"/>
                </a:lnTo>
                <a:lnTo>
                  <a:pt x="2474890" y="522451"/>
                </a:lnTo>
                <a:lnTo>
                  <a:pt x="2474890" y="535963"/>
                </a:lnTo>
                <a:close/>
              </a:path>
              <a:path w="4716145" h="536575">
                <a:moveTo>
                  <a:pt x="2393819" y="535963"/>
                </a:moveTo>
                <a:lnTo>
                  <a:pt x="2348781" y="535963"/>
                </a:lnTo>
                <a:lnTo>
                  <a:pt x="2348781" y="522451"/>
                </a:lnTo>
                <a:lnTo>
                  <a:pt x="2393819" y="522451"/>
                </a:lnTo>
                <a:lnTo>
                  <a:pt x="2393819" y="535963"/>
                </a:lnTo>
                <a:close/>
              </a:path>
              <a:path w="4716145" h="536575">
                <a:moveTo>
                  <a:pt x="2312749" y="535963"/>
                </a:moveTo>
                <a:lnTo>
                  <a:pt x="2267710" y="535963"/>
                </a:lnTo>
                <a:lnTo>
                  <a:pt x="2267710" y="522451"/>
                </a:lnTo>
                <a:lnTo>
                  <a:pt x="2312749" y="522451"/>
                </a:lnTo>
                <a:lnTo>
                  <a:pt x="2312749" y="535963"/>
                </a:lnTo>
                <a:close/>
              </a:path>
              <a:path w="4716145" h="536575">
                <a:moveTo>
                  <a:pt x="2231679" y="535963"/>
                </a:moveTo>
                <a:lnTo>
                  <a:pt x="2186640" y="535963"/>
                </a:lnTo>
                <a:lnTo>
                  <a:pt x="2186640" y="522451"/>
                </a:lnTo>
                <a:lnTo>
                  <a:pt x="2231679" y="522451"/>
                </a:lnTo>
                <a:lnTo>
                  <a:pt x="2231679" y="535963"/>
                </a:lnTo>
                <a:close/>
              </a:path>
              <a:path w="4716145" h="536575">
                <a:moveTo>
                  <a:pt x="2150609" y="535963"/>
                </a:moveTo>
                <a:lnTo>
                  <a:pt x="2105570" y="535963"/>
                </a:lnTo>
                <a:lnTo>
                  <a:pt x="2105570" y="522451"/>
                </a:lnTo>
                <a:lnTo>
                  <a:pt x="2150609" y="522451"/>
                </a:lnTo>
                <a:lnTo>
                  <a:pt x="2150609" y="535963"/>
                </a:lnTo>
                <a:close/>
              </a:path>
              <a:path w="4716145" h="536575">
                <a:moveTo>
                  <a:pt x="2069539" y="535963"/>
                </a:moveTo>
                <a:lnTo>
                  <a:pt x="2024500" y="535963"/>
                </a:lnTo>
                <a:lnTo>
                  <a:pt x="2024500" y="522451"/>
                </a:lnTo>
                <a:lnTo>
                  <a:pt x="2069539" y="522451"/>
                </a:lnTo>
                <a:lnTo>
                  <a:pt x="2069539" y="535963"/>
                </a:lnTo>
                <a:close/>
              </a:path>
              <a:path w="4716145" h="536575">
                <a:moveTo>
                  <a:pt x="1988469" y="535963"/>
                </a:moveTo>
                <a:lnTo>
                  <a:pt x="1943430" y="535963"/>
                </a:lnTo>
                <a:lnTo>
                  <a:pt x="1943430" y="522451"/>
                </a:lnTo>
                <a:lnTo>
                  <a:pt x="1988469" y="522451"/>
                </a:lnTo>
                <a:lnTo>
                  <a:pt x="1988469" y="535963"/>
                </a:lnTo>
                <a:close/>
              </a:path>
              <a:path w="4716145" h="536575">
                <a:moveTo>
                  <a:pt x="1907399" y="535963"/>
                </a:moveTo>
                <a:lnTo>
                  <a:pt x="1862360" y="535963"/>
                </a:lnTo>
                <a:lnTo>
                  <a:pt x="1862360" y="522451"/>
                </a:lnTo>
                <a:lnTo>
                  <a:pt x="1907399" y="522451"/>
                </a:lnTo>
                <a:lnTo>
                  <a:pt x="1907399" y="535963"/>
                </a:lnTo>
                <a:close/>
              </a:path>
              <a:path w="4716145" h="536575">
                <a:moveTo>
                  <a:pt x="1826329" y="535963"/>
                </a:moveTo>
                <a:lnTo>
                  <a:pt x="1781290" y="535963"/>
                </a:lnTo>
                <a:lnTo>
                  <a:pt x="1781290" y="522451"/>
                </a:lnTo>
                <a:lnTo>
                  <a:pt x="1826329" y="522451"/>
                </a:lnTo>
                <a:lnTo>
                  <a:pt x="1826329" y="535963"/>
                </a:lnTo>
                <a:close/>
              </a:path>
              <a:path w="4716145" h="536575">
                <a:moveTo>
                  <a:pt x="1745259" y="535963"/>
                </a:moveTo>
                <a:lnTo>
                  <a:pt x="1700220" y="535963"/>
                </a:lnTo>
                <a:lnTo>
                  <a:pt x="1700220" y="522451"/>
                </a:lnTo>
                <a:lnTo>
                  <a:pt x="1745259" y="522451"/>
                </a:lnTo>
                <a:lnTo>
                  <a:pt x="1745259" y="535963"/>
                </a:lnTo>
                <a:close/>
              </a:path>
              <a:path w="4716145" h="536575">
                <a:moveTo>
                  <a:pt x="1664189" y="535963"/>
                </a:moveTo>
                <a:lnTo>
                  <a:pt x="1619150" y="535963"/>
                </a:lnTo>
                <a:lnTo>
                  <a:pt x="1619150" y="522451"/>
                </a:lnTo>
                <a:lnTo>
                  <a:pt x="1664189" y="522451"/>
                </a:lnTo>
                <a:lnTo>
                  <a:pt x="1664189" y="535963"/>
                </a:lnTo>
                <a:close/>
              </a:path>
              <a:path w="4716145" h="536575">
                <a:moveTo>
                  <a:pt x="1583118" y="535963"/>
                </a:moveTo>
                <a:lnTo>
                  <a:pt x="1538079" y="535963"/>
                </a:lnTo>
                <a:lnTo>
                  <a:pt x="1538079" y="522451"/>
                </a:lnTo>
                <a:lnTo>
                  <a:pt x="1583118" y="522451"/>
                </a:lnTo>
                <a:lnTo>
                  <a:pt x="1583118" y="535963"/>
                </a:lnTo>
                <a:close/>
              </a:path>
              <a:path w="4716145" h="536575">
                <a:moveTo>
                  <a:pt x="1502048" y="535963"/>
                </a:moveTo>
                <a:lnTo>
                  <a:pt x="1457009" y="535963"/>
                </a:lnTo>
                <a:lnTo>
                  <a:pt x="1457009" y="522451"/>
                </a:lnTo>
                <a:lnTo>
                  <a:pt x="1502048" y="522451"/>
                </a:lnTo>
                <a:lnTo>
                  <a:pt x="1502048" y="535963"/>
                </a:lnTo>
                <a:close/>
              </a:path>
              <a:path w="4716145" h="536575">
                <a:moveTo>
                  <a:pt x="1420978" y="535963"/>
                </a:moveTo>
                <a:lnTo>
                  <a:pt x="1375939" y="535963"/>
                </a:lnTo>
                <a:lnTo>
                  <a:pt x="1375939" y="522451"/>
                </a:lnTo>
                <a:lnTo>
                  <a:pt x="1420978" y="522451"/>
                </a:lnTo>
                <a:lnTo>
                  <a:pt x="1420978" y="535963"/>
                </a:lnTo>
                <a:close/>
              </a:path>
              <a:path w="4716145" h="536575">
                <a:moveTo>
                  <a:pt x="1339908" y="535963"/>
                </a:moveTo>
                <a:lnTo>
                  <a:pt x="1294869" y="535963"/>
                </a:lnTo>
                <a:lnTo>
                  <a:pt x="1294869" y="522451"/>
                </a:lnTo>
                <a:lnTo>
                  <a:pt x="1339908" y="522451"/>
                </a:lnTo>
                <a:lnTo>
                  <a:pt x="1339908" y="535963"/>
                </a:lnTo>
                <a:close/>
              </a:path>
              <a:path w="4716145" h="536575">
                <a:moveTo>
                  <a:pt x="1258838" y="535963"/>
                </a:moveTo>
                <a:lnTo>
                  <a:pt x="1213799" y="535963"/>
                </a:lnTo>
                <a:lnTo>
                  <a:pt x="1213799" y="522451"/>
                </a:lnTo>
                <a:lnTo>
                  <a:pt x="1258838" y="522451"/>
                </a:lnTo>
                <a:lnTo>
                  <a:pt x="1258838" y="535963"/>
                </a:lnTo>
                <a:close/>
              </a:path>
              <a:path w="4716145" h="536575">
                <a:moveTo>
                  <a:pt x="1177768" y="535963"/>
                </a:moveTo>
                <a:lnTo>
                  <a:pt x="1132729" y="535963"/>
                </a:lnTo>
                <a:lnTo>
                  <a:pt x="1132729" y="522451"/>
                </a:lnTo>
                <a:lnTo>
                  <a:pt x="1177768" y="522451"/>
                </a:lnTo>
                <a:lnTo>
                  <a:pt x="1177768" y="535963"/>
                </a:lnTo>
                <a:close/>
              </a:path>
              <a:path w="4716145" h="536575">
                <a:moveTo>
                  <a:pt x="1096698" y="535963"/>
                </a:moveTo>
                <a:lnTo>
                  <a:pt x="1051659" y="535963"/>
                </a:lnTo>
                <a:lnTo>
                  <a:pt x="1051659" y="522451"/>
                </a:lnTo>
                <a:lnTo>
                  <a:pt x="1096698" y="522451"/>
                </a:lnTo>
                <a:lnTo>
                  <a:pt x="1096698" y="535963"/>
                </a:lnTo>
                <a:close/>
              </a:path>
              <a:path w="4716145" h="536575">
                <a:moveTo>
                  <a:pt x="1015628" y="535963"/>
                </a:moveTo>
                <a:lnTo>
                  <a:pt x="970589" y="535963"/>
                </a:lnTo>
                <a:lnTo>
                  <a:pt x="970589" y="522451"/>
                </a:lnTo>
                <a:lnTo>
                  <a:pt x="1015628" y="522451"/>
                </a:lnTo>
                <a:lnTo>
                  <a:pt x="1015628" y="535963"/>
                </a:lnTo>
                <a:close/>
              </a:path>
              <a:path w="4716145" h="536575">
                <a:moveTo>
                  <a:pt x="934558" y="535963"/>
                </a:moveTo>
                <a:lnTo>
                  <a:pt x="889519" y="535963"/>
                </a:lnTo>
                <a:lnTo>
                  <a:pt x="889519" y="522451"/>
                </a:lnTo>
                <a:lnTo>
                  <a:pt x="934558" y="522451"/>
                </a:lnTo>
                <a:lnTo>
                  <a:pt x="934558" y="535963"/>
                </a:lnTo>
                <a:close/>
              </a:path>
              <a:path w="4716145" h="536575">
                <a:moveTo>
                  <a:pt x="853488" y="535963"/>
                </a:moveTo>
                <a:lnTo>
                  <a:pt x="808449" y="535963"/>
                </a:lnTo>
                <a:lnTo>
                  <a:pt x="808449" y="522451"/>
                </a:lnTo>
                <a:lnTo>
                  <a:pt x="853488" y="522451"/>
                </a:lnTo>
                <a:lnTo>
                  <a:pt x="853488" y="535963"/>
                </a:lnTo>
                <a:close/>
              </a:path>
              <a:path w="4716145" h="536575">
                <a:moveTo>
                  <a:pt x="772417" y="535963"/>
                </a:moveTo>
                <a:lnTo>
                  <a:pt x="727378" y="535963"/>
                </a:lnTo>
                <a:lnTo>
                  <a:pt x="727378" y="522451"/>
                </a:lnTo>
                <a:lnTo>
                  <a:pt x="772417" y="522451"/>
                </a:lnTo>
                <a:lnTo>
                  <a:pt x="772417" y="535963"/>
                </a:lnTo>
                <a:close/>
              </a:path>
              <a:path w="4716145" h="536575">
                <a:moveTo>
                  <a:pt x="691347" y="535963"/>
                </a:moveTo>
                <a:lnTo>
                  <a:pt x="646308" y="535963"/>
                </a:lnTo>
                <a:lnTo>
                  <a:pt x="646308" y="522451"/>
                </a:lnTo>
                <a:lnTo>
                  <a:pt x="691347" y="522451"/>
                </a:lnTo>
                <a:lnTo>
                  <a:pt x="691347" y="535963"/>
                </a:lnTo>
                <a:close/>
              </a:path>
              <a:path w="4716145" h="536575">
                <a:moveTo>
                  <a:pt x="610277" y="535963"/>
                </a:moveTo>
                <a:lnTo>
                  <a:pt x="565238" y="535963"/>
                </a:lnTo>
                <a:lnTo>
                  <a:pt x="565238" y="522451"/>
                </a:lnTo>
                <a:lnTo>
                  <a:pt x="610277" y="522451"/>
                </a:lnTo>
                <a:lnTo>
                  <a:pt x="610277" y="535963"/>
                </a:lnTo>
                <a:close/>
              </a:path>
              <a:path w="4716145" h="536575">
                <a:moveTo>
                  <a:pt x="529207" y="535963"/>
                </a:moveTo>
                <a:lnTo>
                  <a:pt x="484168" y="535963"/>
                </a:lnTo>
                <a:lnTo>
                  <a:pt x="484168" y="522451"/>
                </a:lnTo>
                <a:lnTo>
                  <a:pt x="529207" y="522451"/>
                </a:lnTo>
                <a:lnTo>
                  <a:pt x="529207" y="535963"/>
                </a:lnTo>
                <a:close/>
              </a:path>
              <a:path w="4716145" h="536575">
                <a:moveTo>
                  <a:pt x="448137" y="535963"/>
                </a:moveTo>
                <a:lnTo>
                  <a:pt x="403098" y="535963"/>
                </a:lnTo>
                <a:lnTo>
                  <a:pt x="403098" y="522451"/>
                </a:lnTo>
                <a:lnTo>
                  <a:pt x="448137" y="522451"/>
                </a:lnTo>
                <a:lnTo>
                  <a:pt x="448137" y="535963"/>
                </a:lnTo>
                <a:close/>
              </a:path>
              <a:path w="4716145" h="536575">
                <a:moveTo>
                  <a:pt x="367067" y="535963"/>
                </a:moveTo>
                <a:lnTo>
                  <a:pt x="322028" y="535963"/>
                </a:lnTo>
                <a:lnTo>
                  <a:pt x="322028" y="522451"/>
                </a:lnTo>
                <a:lnTo>
                  <a:pt x="367067" y="522451"/>
                </a:lnTo>
                <a:lnTo>
                  <a:pt x="367067" y="535963"/>
                </a:lnTo>
                <a:close/>
              </a:path>
              <a:path w="4716145" h="536575">
                <a:moveTo>
                  <a:pt x="285997" y="535963"/>
                </a:moveTo>
                <a:lnTo>
                  <a:pt x="240958" y="535963"/>
                </a:lnTo>
                <a:lnTo>
                  <a:pt x="240958" y="522451"/>
                </a:lnTo>
                <a:lnTo>
                  <a:pt x="285997" y="522451"/>
                </a:lnTo>
                <a:lnTo>
                  <a:pt x="285997" y="535963"/>
                </a:lnTo>
                <a:close/>
              </a:path>
              <a:path w="4716145" h="536575">
                <a:moveTo>
                  <a:pt x="204927" y="535963"/>
                </a:moveTo>
                <a:lnTo>
                  <a:pt x="159888" y="535963"/>
                </a:lnTo>
                <a:lnTo>
                  <a:pt x="159888" y="522451"/>
                </a:lnTo>
                <a:lnTo>
                  <a:pt x="204927" y="522451"/>
                </a:lnTo>
                <a:lnTo>
                  <a:pt x="204927" y="535963"/>
                </a:lnTo>
                <a:close/>
              </a:path>
              <a:path w="4716145" h="536575">
                <a:moveTo>
                  <a:pt x="123857" y="535963"/>
                </a:moveTo>
                <a:lnTo>
                  <a:pt x="78818" y="535963"/>
                </a:lnTo>
                <a:lnTo>
                  <a:pt x="78818" y="522451"/>
                </a:lnTo>
                <a:lnTo>
                  <a:pt x="123857" y="522451"/>
                </a:lnTo>
                <a:lnTo>
                  <a:pt x="123857" y="535963"/>
                </a:lnTo>
                <a:close/>
              </a:path>
              <a:path w="4716145" h="536575">
                <a:moveTo>
                  <a:pt x="42786" y="535963"/>
                </a:moveTo>
                <a:lnTo>
                  <a:pt x="0" y="535963"/>
                </a:lnTo>
                <a:lnTo>
                  <a:pt x="0" y="520199"/>
                </a:lnTo>
                <a:lnTo>
                  <a:pt x="13511" y="520199"/>
                </a:lnTo>
                <a:lnTo>
                  <a:pt x="13511" y="522451"/>
                </a:lnTo>
                <a:lnTo>
                  <a:pt x="6755" y="522451"/>
                </a:lnTo>
                <a:lnTo>
                  <a:pt x="6755" y="529207"/>
                </a:lnTo>
                <a:lnTo>
                  <a:pt x="42786" y="529207"/>
                </a:lnTo>
                <a:lnTo>
                  <a:pt x="42786" y="535963"/>
                </a:lnTo>
                <a:close/>
              </a:path>
              <a:path w="4716145" h="536575">
                <a:moveTo>
                  <a:pt x="13511" y="529207"/>
                </a:moveTo>
                <a:lnTo>
                  <a:pt x="6755" y="529207"/>
                </a:lnTo>
                <a:lnTo>
                  <a:pt x="6755" y="522451"/>
                </a:lnTo>
                <a:lnTo>
                  <a:pt x="13511" y="522451"/>
                </a:lnTo>
                <a:lnTo>
                  <a:pt x="13511" y="529207"/>
                </a:lnTo>
                <a:close/>
              </a:path>
              <a:path w="4716145" h="536575">
                <a:moveTo>
                  <a:pt x="42786" y="529207"/>
                </a:moveTo>
                <a:lnTo>
                  <a:pt x="13511" y="529207"/>
                </a:lnTo>
                <a:lnTo>
                  <a:pt x="13511" y="522451"/>
                </a:lnTo>
                <a:lnTo>
                  <a:pt x="42786" y="522451"/>
                </a:lnTo>
                <a:lnTo>
                  <a:pt x="42786" y="529207"/>
                </a:lnTo>
                <a:close/>
              </a:path>
              <a:path w="4716145" h="536575">
                <a:moveTo>
                  <a:pt x="13511" y="484168"/>
                </a:moveTo>
                <a:lnTo>
                  <a:pt x="0" y="484168"/>
                </a:lnTo>
                <a:lnTo>
                  <a:pt x="0" y="439129"/>
                </a:lnTo>
                <a:lnTo>
                  <a:pt x="13511" y="439129"/>
                </a:lnTo>
                <a:lnTo>
                  <a:pt x="13511" y="484168"/>
                </a:lnTo>
                <a:close/>
              </a:path>
              <a:path w="4716145" h="536575">
                <a:moveTo>
                  <a:pt x="13511" y="403098"/>
                </a:moveTo>
                <a:lnTo>
                  <a:pt x="0" y="403098"/>
                </a:lnTo>
                <a:lnTo>
                  <a:pt x="0" y="358059"/>
                </a:lnTo>
                <a:lnTo>
                  <a:pt x="13511" y="358059"/>
                </a:lnTo>
                <a:lnTo>
                  <a:pt x="13511" y="403098"/>
                </a:lnTo>
                <a:close/>
              </a:path>
              <a:path w="4716145" h="536575">
                <a:moveTo>
                  <a:pt x="13511" y="322028"/>
                </a:moveTo>
                <a:lnTo>
                  <a:pt x="0" y="322028"/>
                </a:lnTo>
                <a:lnTo>
                  <a:pt x="0" y="276989"/>
                </a:lnTo>
                <a:lnTo>
                  <a:pt x="13511" y="276989"/>
                </a:lnTo>
                <a:lnTo>
                  <a:pt x="13511" y="322028"/>
                </a:lnTo>
                <a:close/>
              </a:path>
              <a:path w="4716145" h="536575">
                <a:moveTo>
                  <a:pt x="13511" y="240958"/>
                </a:moveTo>
                <a:lnTo>
                  <a:pt x="0" y="240958"/>
                </a:lnTo>
                <a:lnTo>
                  <a:pt x="0" y="195919"/>
                </a:lnTo>
                <a:lnTo>
                  <a:pt x="13511" y="195919"/>
                </a:lnTo>
                <a:lnTo>
                  <a:pt x="13511" y="240958"/>
                </a:lnTo>
                <a:close/>
              </a:path>
              <a:path w="4716145" h="536575">
                <a:moveTo>
                  <a:pt x="13511" y="159888"/>
                </a:moveTo>
                <a:lnTo>
                  <a:pt x="0" y="159888"/>
                </a:lnTo>
                <a:lnTo>
                  <a:pt x="0" y="114849"/>
                </a:lnTo>
                <a:lnTo>
                  <a:pt x="13511" y="114849"/>
                </a:lnTo>
                <a:lnTo>
                  <a:pt x="13511" y="159888"/>
                </a:lnTo>
                <a:close/>
              </a:path>
              <a:path w="4716145" h="536575">
                <a:moveTo>
                  <a:pt x="13511" y="78818"/>
                </a:moveTo>
                <a:lnTo>
                  <a:pt x="0" y="78818"/>
                </a:lnTo>
                <a:lnTo>
                  <a:pt x="0" y="33779"/>
                </a:lnTo>
                <a:lnTo>
                  <a:pt x="13511" y="33779"/>
                </a:lnTo>
                <a:lnTo>
                  <a:pt x="13511" y="78818"/>
                </a:lnTo>
                <a:close/>
              </a:path>
              <a:path w="4716145" h="536575">
                <a:moveTo>
                  <a:pt x="51794" y="13511"/>
                </a:moveTo>
                <a:lnTo>
                  <a:pt x="6755" y="13511"/>
                </a:lnTo>
                <a:lnTo>
                  <a:pt x="6755" y="0"/>
                </a:lnTo>
                <a:lnTo>
                  <a:pt x="51794" y="0"/>
                </a:lnTo>
                <a:lnTo>
                  <a:pt x="51794" y="13511"/>
                </a:lnTo>
                <a:close/>
              </a:path>
            </a:pathLst>
          </a:custGeom>
          <a:solidFill>
            <a:srgbClr val="111111"/>
          </a:solidFill>
        </p:spPr>
        <p:txBody>
          <a:bodyPr wrap="square" lIns="0" tIns="0" rIns="0" bIns="0" rtlCol="0"/>
          <a:lstStyle/>
          <a:p>
            <a:pPr algn="l" rtl="0"/>
            <a:endParaRPr/>
          </a:p>
        </p:txBody>
      </p:sp>
      <p:sp>
        <p:nvSpPr>
          <p:cNvPr id="59" name="object 59"/>
          <p:cNvSpPr txBox="1"/>
          <p:nvPr/>
        </p:nvSpPr>
        <p:spPr>
          <a:xfrm>
            <a:off x="2272307" y="5181092"/>
            <a:ext cx="2846705" cy="171201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000" b="1" dirty="0">
                <a:solidFill>
                  <a:srgbClr val="6A6A6A"/>
                </a:solidFill>
                <a:latin typeface="Arial"/>
                <a:cs typeface="Arial"/>
              </a:rPr>
              <a:t>CLOUD</a:t>
            </a:r>
            <a:r>
              <a:rPr sz="1000" b="1" spc="-5" dirty="0">
                <a:solidFill>
                  <a:srgbClr val="6A6A6A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6A6A6A"/>
                </a:solidFill>
                <a:latin typeface="Arial"/>
                <a:cs typeface="Arial"/>
              </a:rPr>
              <a:t>PUBLIC</a:t>
            </a:r>
            <a:r>
              <a:rPr sz="1000" b="1" spc="-10" dirty="0">
                <a:solidFill>
                  <a:srgbClr val="6A6A6A"/>
                </a:solidFill>
                <a:latin typeface="Arial"/>
                <a:cs typeface="Arial"/>
              </a:rPr>
              <a:t> </a:t>
            </a:r>
            <a:r>
              <a:rPr sz="1000" b="1" spc="105" dirty="0">
                <a:solidFill>
                  <a:srgbClr val="6A6A6A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6A6A6A"/>
                </a:solidFill>
                <a:latin typeface="Arial"/>
                <a:cs typeface="Arial"/>
              </a:rPr>
              <a:t>PaaS</a:t>
            </a:r>
            <a:r>
              <a:rPr sz="1000" b="1" spc="5" dirty="0">
                <a:solidFill>
                  <a:srgbClr val="6A6A6A"/>
                </a:solidFill>
                <a:latin typeface="Arial"/>
                <a:cs typeface="Arial"/>
              </a:rPr>
              <a:t> </a:t>
            </a:r>
            <a:r>
              <a:rPr lang="fr-FR" sz="1000" b="1" spc="105" dirty="0">
                <a:solidFill>
                  <a:srgbClr val="6A6A6A"/>
                </a:solidFill>
                <a:latin typeface="Arial"/>
                <a:cs typeface="Arial"/>
              </a:rPr>
              <a:t>- </a:t>
            </a:r>
            <a:r>
              <a:rPr sz="1000" b="1" dirty="0" err="1">
                <a:solidFill>
                  <a:srgbClr val="6A6A6A"/>
                </a:solidFill>
                <a:latin typeface="Arial"/>
                <a:cs typeface="Arial"/>
              </a:rPr>
              <a:t>cible</a:t>
            </a:r>
            <a:r>
              <a:rPr sz="1000" b="1" dirty="0">
                <a:solidFill>
                  <a:srgbClr val="6A6A6A"/>
                </a:solidFill>
                <a:latin typeface="Arial"/>
                <a:cs typeface="Arial"/>
              </a:rPr>
              <a:t>,</a:t>
            </a:r>
            <a:r>
              <a:rPr sz="1000" b="1" spc="95" dirty="0">
                <a:solidFill>
                  <a:srgbClr val="6A6A6A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6A6A6A"/>
                </a:solidFill>
                <a:latin typeface="Arial"/>
                <a:cs typeface="Arial"/>
              </a:rPr>
              <a:t>hors</a:t>
            </a:r>
            <a:r>
              <a:rPr sz="1000" b="1" spc="5" dirty="0">
                <a:solidFill>
                  <a:srgbClr val="6A6A6A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6A6A6A"/>
                </a:solidFill>
                <a:latin typeface="Arial"/>
                <a:cs typeface="Arial"/>
              </a:rPr>
              <a:t>prototype</a:t>
            </a:r>
            <a:endParaRPr sz="1000" dirty="0">
              <a:latin typeface="Arial"/>
              <a:cs typeface="Arial"/>
            </a:endParaRPr>
          </a:p>
        </p:txBody>
      </p:sp>
      <p:pic>
        <p:nvPicPr>
          <p:cNvPr id="60" name="object 6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11981" y="5848349"/>
            <a:ext cx="259556" cy="154781"/>
          </a:xfrm>
          <a:prstGeom prst="rect">
            <a:avLst/>
          </a:prstGeom>
        </p:spPr>
      </p:pic>
      <p:sp>
        <p:nvSpPr>
          <p:cNvPr id="61" name="object 61"/>
          <p:cNvSpPr/>
          <p:nvPr/>
        </p:nvSpPr>
        <p:spPr>
          <a:xfrm>
            <a:off x="3467100" y="5867400"/>
            <a:ext cx="190500" cy="104775"/>
          </a:xfrm>
          <a:custGeom>
            <a:avLst/>
            <a:gdLst/>
            <a:ahLst/>
            <a:cxnLst/>
            <a:rect l="l" t="t" r="r" b="b"/>
            <a:pathLst>
              <a:path w="190500" h="104775">
                <a:moveTo>
                  <a:pt x="190499" y="104774"/>
                </a:moveTo>
                <a:lnTo>
                  <a:pt x="0" y="104774"/>
                </a:lnTo>
                <a:lnTo>
                  <a:pt x="0" y="0"/>
                </a:lnTo>
                <a:lnTo>
                  <a:pt x="190499" y="0"/>
                </a:lnTo>
                <a:lnTo>
                  <a:pt x="190499" y="104774"/>
                </a:lnTo>
                <a:close/>
              </a:path>
            </a:pathLst>
          </a:custGeom>
          <a:solidFill>
            <a:srgbClr val="1F36C7"/>
          </a:solidFill>
        </p:spPr>
        <p:txBody>
          <a:bodyPr wrap="square" lIns="0" tIns="0" rIns="0" bIns="0" rtlCol="0"/>
          <a:lstStyle/>
          <a:p>
            <a:pPr algn="l" rtl="0"/>
            <a:endParaRPr/>
          </a:p>
        </p:txBody>
      </p:sp>
      <p:sp>
        <p:nvSpPr>
          <p:cNvPr id="72" name="object 72"/>
          <p:cNvSpPr txBox="1"/>
          <p:nvPr/>
        </p:nvSpPr>
        <p:spPr>
          <a:xfrm>
            <a:off x="7131049" y="5162366"/>
            <a:ext cx="2380615" cy="670055"/>
          </a:xfrm>
          <a:prstGeom prst="rect">
            <a:avLst/>
          </a:prstGeom>
        </p:spPr>
        <p:txBody>
          <a:bodyPr vert="horz" wrap="square" lIns="0" tIns="412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25"/>
              </a:spcBef>
            </a:pPr>
            <a:r>
              <a:rPr sz="1250" spc="-95" dirty="0">
                <a:solidFill>
                  <a:srgbClr val="111111"/>
                </a:solidFill>
                <a:latin typeface="Lucida Console"/>
                <a:cs typeface="Lucida Console"/>
              </a:rPr>
              <a:t>docker </a:t>
            </a:r>
            <a:r>
              <a:rPr sz="1250" spc="-100" dirty="0">
                <a:solidFill>
                  <a:srgbClr val="111111"/>
                </a:solidFill>
                <a:latin typeface="Lucida Console"/>
                <a:cs typeface="Lucida Console"/>
              </a:rPr>
              <a:t>compose</a:t>
            </a:r>
            <a:r>
              <a:rPr sz="1250" spc="-85" dirty="0">
                <a:solidFill>
                  <a:srgbClr val="111111"/>
                </a:solidFill>
                <a:latin typeface="Lucida Console"/>
                <a:cs typeface="Lucida Console"/>
              </a:rPr>
              <a:t> </a:t>
            </a:r>
            <a:r>
              <a:rPr sz="1250" spc="-95" dirty="0">
                <a:solidFill>
                  <a:srgbClr val="111111"/>
                </a:solidFill>
                <a:latin typeface="Lucida Console"/>
                <a:cs typeface="Lucida Console"/>
              </a:rPr>
              <a:t>up </a:t>
            </a:r>
            <a:r>
              <a:rPr sz="1250" spc="-210" dirty="0">
                <a:solidFill>
                  <a:srgbClr val="111111"/>
                </a:solidFill>
                <a:latin typeface="Lucida Console"/>
                <a:cs typeface="Lucida Console"/>
              </a:rPr>
              <a:t>-</a:t>
            </a:r>
            <a:r>
              <a:rPr sz="1250" spc="-645" dirty="0">
                <a:solidFill>
                  <a:srgbClr val="111111"/>
                </a:solidFill>
                <a:latin typeface="Lucida Console"/>
                <a:cs typeface="Lucida Console"/>
              </a:rPr>
              <a:t> </a:t>
            </a:r>
            <a:r>
              <a:rPr sz="1250" dirty="0">
                <a:solidFill>
                  <a:srgbClr val="111111"/>
                </a:solidFill>
                <a:latin typeface="Lucida Console"/>
                <a:cs typeface="Lucida Console"/>
              </a:rPr>
              <a:t>d</a:t>
            </a:r>
            <a:r>
              <a:rPr sz="1250" spc="-105" dirty="0">
                <a:solidFill>
                  <a:srgbClr val="111111"/>
                </a:solidFill>
                <a:latin typeface="Lucida Console"/>
                <a:cs typeface="Lucida Console"/>
              </a:rPr>
              <a:t> </a:t>
            </a:r>
            <a:r>
              <a:rPr sz="1250" spc="-50" dirty="0">
                <a:solidFill>
                  <a:srgbClr val="111111"/>
                </a:solidFill>
                <a:latin typeface="Lucida Console"/>
                <a:cs typeface="Lucida Console"/>
              </a:rPr>
              <a:t>\</a:t>
            </a:r>
            <a:endParaRPr sz="1250" dirty="0">
              <a:latin typeface="Lucida Console"/>
              <a:cs typeface="Lucida Console"/>
            </a:endParaRPr>
          </a:p>
          <a:p>
            <a:pPr marL="180975">
              <a:lnSpc>
                <a:spcPct val="100000"/>
              </a:lnSpc>
              <a:spcBef>
                <a:spcPts val="225"/>
              </a:spcBef>
            </a:pPr>
            <a:r>
              <a:rPr sz="1250" spc="-100" dirty="0">
                <a:solidFill>
                  <a:srgbClr val="111111"/>
                </a:solidFill>
                <a:latin typeface="Lucida Console"/>
                <a:cs typeface="Lucida Console"/>
              </a:rPr>
              <a:t>-</a:t>
            </a:r>
            <a:r>
              <a:rPr sz="1250" spc="-210" dirty="0">
                <a:solidFill>
                  <a:srgbClr val="111111"/>
                </a:solidFill>
                <a:latin typeface="Lucida Console"/>
                <a:cs typeface="Lucida Console"/>
              </a:rPr>
              <a:t>-</a:t>
            </a:r>
            <a:r>
              <a:rPr sz="1250" spc="-645" dirty="0">
                <a:solidFill>
                  <a:srgbClr val="111111"/>
                </a:solidFill>
                <a:latin typeface="Lucida Console"/>
                <a:cs typeface="Lucida Console"/>
              </a:rPr>
              <a:t> </a:t>
            </a:r>
            <a:r>
              <a:rPr sz="1250" spc="-100" dirty="0">
                <a:solidFill>
                  <a:srgbClr val="111111"/>
                </a:solidFill>
                <a:latin typeface="Lucida Console"/>
                <a:cs typeface="Lucida Console"/>
              </a:rPr>
              <a:t>scale</a:t>
            </a:r>
            <a:r>
              <a:rPr sz="1250" spc="-50" dirty="0">
                <a:solidFill>
                  <a:srgbClr val="111111"/>
                </a:solidFill>
                <a:latin typeface="Lucida Console"/>
                <a:cs typeface="Lucida Console"/>
              </a:rPr>
              <a:t> </a:t>
            </a:r>
            <a:r>
              <a:rPr sz="1250" spc="-100" dirty="0">
                <a:solidFill>
                  <a:srgbClr val="111111"/>
                </a:solidFill>
                <a:latin typeface="Lucida Console"/>
                <a:cs typeface="Lucida Console"/>
              </a:rPr>
              <a:t>backend=3</a:t>
            </a:r>
            <a:r>
              <a:rPr sz="1250" spc="-45" dirty="0">
                <a:solidFill>
                  <a:srgbClr val="111111"/>
                </a:solidFill>
                <a:latin typeface="Lucida Console"/>
                <a:cs typeface="Lucida Console"/>
              </a:rPr>
              <a:t> </a:t>
            </a:r>
            <a:r>
              <a:rPr sz="1250" spc="-50" dirty="0">
                <a:solidFill>
                  <a:srgbClr val="111111"/>
                </a:solidFill>
                <a:latin typeface="Lucida Console"/>
                <a:cs typeface="Lucida Console"/>
              </a:rPr>
              <a:t>\</a:t>
            </a:r>
            <a:endParaRPr sz="1250" dirty="0">
              <a:latin typeface="Lucida Console"/>
              <a:cs typeface="Lucida Console"/>
            </a:endParaRPr>
          </a:p>
          <a:p>
            <a:pPr marL="180975">
              <a:lnSpc>
                <a:spcPct val="100000"/>
              </a:lnSpc>
              <a:spcBef>
                <a:spcPts val="225"/>
              </a:spcBef>
            </a:pPr>
            <a:r>
              <a:rPr sz="1250" spc="-100" dirty="0">
                <a:solidFill>
                  <a:srgbClr val="111111"/>
                </a:solidFill>
                <a:latin typeface="Lucida Console"/>
                <a:cs typeface="Lucida Console"/>
              </a:rPr>
              <a:t>-</a:t>
            </a:r>
            <a:r>
              <a:rPr sz="1250" spc="-210" dirty="0">
                <a:solidFill>
                  <a:srgbClr val="111111"/>
                </a:solidFill>
                <a:latin typeface="Lucida Console"/>
                <a:cs typeface="Lucida Console"/>
              </a:rPr>
              <a:t>-</a:t>
            </a:r>
            <a:r>
              <a:rPr sz="1250" spc="-650" dirty="0">
                <a:solidFill>
                  <a:srgbClr val="111111"/>
                </a:solidFill>
                <a:latin typeface="Lucida Console"/>
                <a:cs typeface="Lucida Console"/>
              </a:rPr>
              <a:t> </a:t>
            </a:r>
            <a:r>
              <a:rPr sz="1250" spc="-100" dirty="0">
                <a:solidFill>
                  <a:srgbClr val="111111"/>
                </a:solidFill>
                <a:latin typeface="Lucida Console"/>
                <a:cs typeface="Lucida Console"/>
              </a:rPr>
              <a:t>scale</a:t>
            </a:r>
            <a:r>
              <a:rPr sz="1250" spc="-15" dirty="0">
                <a:solidFill>
                  <a:srgbClr val="111111"/>
                </a:solidFill>
                <a:latin typeface="Lucida Console"/>
                <a:cs typeface="Lucida Console"/>
              </a:rPr>
              <a:t> </a:t>
            </a:r>
            <a:r>
              <a:rPr sz="1250" spc="-114" dirty="0">
                <a:solidFill>
                  <a:srgbClr val="111111"/>
                </a:solidFill>
                <a:latin typeface="Lucida Console"/>
                <a:cs typeface="Lucida Console"/>
              </a:rPr>
              <a:t>sensor-</a:t>
            </a:r>
            <a:r>
              <a:rPr sz="1250" spc="-635" dirty="0">
                <a:solidFill>
                  <a:srgbClr val="111111"/>
                </a:solidFill>
                <a:latin typeface="Lucida Console"/>
                <a:cs typeface="Lucida Console"/>
              </a:rPr>
              <a:t> </a:t>
            </a:r>
            <a:r>
              <a:rPr sz="1250" spc="-75" dirty="0">
                <a:solidFill>
                  <a:srgbClr val="111111"/>
                </a:solidFill>
                <a:latin typeface="Lucida Console"/>
                <a:cs typeface="Lucida Console"/>
              </a:rPr>
              <a:t>simulator=3</a:t>
            </a:r>
            <a:endParaRPr sz="1250" dirty="0">
              <a:latin typeface="Lucida Console"/>
              <a:cs typeface="Lucida Console"/>
            </a:endParaRPr>
          </a:p>
        </p:txBody>
      </p:sp>
      <p:sp>
        <p:nvSpPr>
          <p:cNvPr id="73" name="object 73"/>
          <p:cNvSpPr/>
          <p:nvPr/>
        </p:nvSpPr>
        <p:spPr>
          <a:xfrm>
            <a:off x="609599" y="6229348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10972799" y="9524"/>
                </a:moveTo>
                <a:lnTo>
                  <a:pt x="0" y="9524"/>
                </a:lnTo>
                <a:lnTo>
                  <a:pt x="0" y="0"/>
                </a:lnTo>
                <a:lnTo>
                  <a:pt x="10972799" y="0"/>
                </a:lnTo>
                <a:lnTo>
                  <a:pt x="10972799" y="9524"/>
                </a:lnTo>
                <a:close/>
              </a:path>
            </a:pathLst>
          </a:custGeom>
          <a:solidFill>
            <a:srgbClr val="D5D5D5"/>
          </a:solidFill>
        </p:spPr>
        <p:txBody>
          <a:bodyPr wrap="square" lIns="0" tIns="0" rIns="0" bIns="0" rtlCol="0"/>
          <a:lstStyle/>
          <a:p>
            <a:pPr algn="l" rtl="0"/>
            <a:endParaRPr/>
          </a:p>
        </p:txBody>
      </p:sp>
      <p:sp>
        <p:nvSpPr>
          <p:cNvPr id="74" name="object 7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005"/>
              </a:lnSpc>
            </a:pPr>
            <a:r>
              <a:rPr spc="-25" dirty="0"/>
              <a:t>FactorySense</a:t>
            </a:r>
          </a:p>
        </p:txBody>
      </p:sp>
      <p:sp>
        <p:nvSpPr>
          <p:cNvPr id="75" name="object 7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3500">
              <a:lnSpc>
                <a:spcPts val="1005"/>
              </a:lnSpc>
            </a:pPr>
            <a:r>
              <a:rPr spc="-35" dirty="0"/>
              <a:t>3</a:t>
            </a:r>
            <a:r>
              <a:rPr spc="-70" dirty="0"/>
              <a:t> </a:t>
            </a:r>
            <a:r>
              <a:rPr dirty="0"/>
              <a:t>/</a:t>
            </a:r>
            <a:r>
              <a:rPr spc="-85" dirty="0"/>
              <a:t> </a:t>
            </a:r>
            <a:r>
              <a:rPr spc="-50" dirty="0"/>
              <a:t>4</a:t>
            </a:r>
          </a:p>
        </p:txBody>
      </p:sp>
      <p:pic>
        <p:nvPicPr>
          <p:cNvPr id="76" name="Image 75">
            <a:extLst>
              <a:ext uri="{FF2B5EF4-FFF2-40B4-BE49-F238E27FC236}">
                <a16:creationId xmlns:a16="http://schemas.microsoft.com/office/drawing/2014/main" id="{537F3DA2-E42B-30EE-55E6-364516CA87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88700" y="103820"/>
            <a:ext cx="812242" cy="1143636"/>
          </a:xfrm>
          <a:prstGeom prst="rect">
            <a:avLst/>
          </a:prstGeom>
        </p:spPr>
      </p:pic>
      <p:sp>
        <p:nvSpPr>
          <p:cNvPr id="77" name="object 65">
            <a:extLst>
              <a:ext uri="{FF2B5EF4-FFF2-40B4-BE49-F238E27FC236}">
                <a16:creationId xmlns:a16="http://schemas.microsoft.com/office/drawing/2014/main" id="{9005B962-F387-72A9-7E48-40E6B92222AF}"/>
              </a:ext>
            </a:extLst>
          </p:cNvPr>
          <p:cNvSpPr/>
          <p:nvPr/>
        </p:nvSpPr>
        <p:spPr>
          <a:xfrm>
            <a:off x="7143749" y="2033000"/>
            <a:ext cx="4438650" cy="9525"/>
          </a:xfrm>
          <a:custGeom>
            <a:avLst/>
            <a:gdLst/>
            <a:ahLst/>
            <a:cxnLst/>
            <a:rect l="l" t="t" r="r" b="b"/>
            <a:pathLst>
              <a:path w="4438650" h="9525">
                <a:moveTo>
                  <a:pt x="4438649" y="9524"/>
                </a:moveTo>
                <a:lnTo>
                  <a:pt x="0" y="9524"/>
                </a:lnTo>
                <a:lnTo>
                  <a:pt x="0" y="0"/>
                </a:lnTo>
                <a:lnTo>
                  <a:pt x="4438649" y="0"/>
                </a:lnTo>
                <a:lnTo>
                  <a:pt x="4438649" y="9524"/>
                </a:lnTo>
                <a:close/>
              </a:path>
            </a:pathLst>
          </a:custGeom>
          <a:solidFill>
            <a:srgbClr val="111111"/>
          </a:solidFill>
        </p:spPr>
        <p:txBody>
          <a:bodyPr wrap="square" lIns="0" tIns="0" rIns="0" bIns="0" rtlCol="0"/>
          <a:lstStyle/>
          <a:p>
            <a:pPr algn="l" rtl="0"/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596899" y="619127"/>
            <a:ext cx="6393815" cy="548227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1878964" algn="l"/>
              </a:tabLst>
            </a:pPr>
            <a:r>
              <a:rPr spc="-75" dirty="0" err="1"/>
              <a:t>Risques</a:t>
            </a:r>
            <a:r>
              <a:rPr spc="-530" dirty="0"/>
              <a:t> </a:t>
            </a:r>
            <a:r>
              <a:rPr spc="75" dirty="0"/>
              <a:t>et</a:t>
            </a:r>
            <a:r>
              <a:rPr spc="-490" dirty="0"/>
              <a:t> </a:t>
            </a:r>
            <a:r>
              <a:rPr spc="-10" dirty="0"/>
              <a:t>atténuation</a:t>
            </a:r>
            <a:endParaRPr sz="7300" dirty="0"/>
          </a:p>
        </p:txBody>
      </p:sp>
      <p:graphicFrame>
        <p:nvGraphicFramePr>
          <p:cNvPr id="3" name="object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4159126"/>
              </p:ext>
            </p:extLst>
          </p:nvPr>
        </p:nvGraphicFramePr>
        <p:xfrm>
          <a:off x="609599" y="1714999"/>
          <a:ext cx="10972799" cy="32004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221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869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111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524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1460">
                <a:tc>
                  <a:txBody>
                    <a:bodyPr/>
                    <a:lstStyle/>
                    <a:p>
                      <a:pPr>
                        <a:lnSpc>
                          <a:spcPts val="1125"/>
                        </a:lnSpc>
                      </a:pPr>
                      <a:r>
                        <a:rPr sz="115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Menace</a:t>
                      </a:r>
                      <a:endParaRPr sz="11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71780">
                        <a:lnSpc>
                          <a:spcPts val="1125"/>
                        </a:lnSpc>
                      </a:pPr>
                      <a:r>
                        <a:rPr sz="115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Conséquence</a:t>
                      </a:r>
                      <a:endParaRPr sz="11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8425">
                        <a:lnSpc>
                          <a:spcPts val="1125"/>
                        </a:lnSpc>
                      </a:pPr>
                      <a:r>
                        <a:rPr sz="1150" b="1" dirty="0">
                          <a:solidFill>
                            <a:srgbClr val="C00000"/>
                          </a:solidFill>
                          <a:latin typeface="Arial"/>
                          <a:cs typeface="Arial"/>
                        </a:rPr>
                        <a:t>Dans</a:t>
                      </a:r>
                      <a:r>
                        <a:rPr sz="1150" b="1" spc="-50" dirty="0">
                          <a:solidFill>
                            <a:srgbClr val="C0000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50" b="1" dirty="0">
                          <a:solidFill>
                            <a:srgbClr val="C00000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1150" b="1" spc="-55" dirty="0">
                          <a:solidFill>
                            <a:srgbClr val="C0000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50" b="1" spc="-10" dirty="0">
                          <a:solidFill>
                            <a:srgbClr val="C00000"/>
                          </a:solidFill>
                          <a:latin typeface="Arial"/>
                          <a:cs typeface="Arial"/>
                        </a:rPr>
                        <a:t>prototype</a:t>
                      </a:r>
                      <a:endParaRPr sz="1150" dirty="0">
                        <a:solidFill>
                          <a:srgbClr val="C00000"/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9850">
                        <a:lnSpc>
                          <a:spcPts val="1125"/>
                        </a:lnSpc>
                      </a:pPr>
                      <a:r>
                        <a:rPr lang="fr-FR" sz="1150" b="1" spc="-10" dirty="0" err="1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Remediation</a:t>
                      </a:r>
                      <a:endParaRPr sz="1150" dirty="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13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b="1" spc="-5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Usurpation </a:t>
                      </a:r>
                      <a:r>
                        <a:rPr sz="1300" b="1" spc="-35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de</a:t>
                      </a:r>
                      <a:r>
                        <a:rPr sz="1300" b="1" spc="-8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30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capteur</a:t>
                      </a:r>
                      <a:endParaRPr sz="1300" dirty="0">
                        <a:latin typeface="Arial"/>
                        <a:cs typeface="Arial"/>
                      </a:endParaRPr>
                    </a:p>
                  </a:txBody>
                  <a:tcPr marL="0" marR="0" marT="58419" marB="0">
                    <a:lnT w="9525">
                      <a:solidFill>
                        <a:srgbClr val="111111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71780" marR="90805">
                        <a:lnSpc>
                          <a:spcPct val="105800"/>
                        </a:lnSpc>
                        <a:spcBef>
                          <a:spcPts val="370"/>
                        </a:spcBef>
                      </a:pP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Alerte</a:t>
                      </a:r>
                      <a:r>
                        <a:rPr sz="1300" spc="-7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masquée</a:t>
                      </a:r>
                      <a:r>
                        <a:rPr sz="1300" spc="-6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3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ou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déclenchée </a:t>
                      </a:r>
                      <a:r>
                        <a:rPr sz="130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à</a:t>
                      </a:r>
                      <a:r>
                        <a:rPr sz="1300" spc="-13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tort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46990" marB="0">
                    <a:lnT w="9525">
                      <a:solidFill>
                        <a:srgbClr val="111111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8425" marR="691515">
                        <a:lnSpc>
                          <a:spcPct val="105800"/>
                        </a:lnSpc>
                        <a:spcBef>
                          <a:spcPts val="370"/>
                        </a:spcBef>
                      </a:pP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Clé</a:t>
                      </a:r>
                      <a:r>
                        <a:rPr sz="1300" spc="-10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4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API</a:t>
                      </a:r>
                      <a:r>
                        <a:rPr sz="1300" spc="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sur</a:t>
                      </a:r>
                      <a:r>
                        <a:rPr sz="1300" spc="-13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l’ingestion</a:t>
                      </a:r>
                      <a:r>
                        <a:rPr sz="1300" spc="-6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(refus</a:t>
                      </a:r>
                      <a:r>
                        <a:rPr sz="1300" spc="-9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401),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données</a:t>
                      </a:r>
                      <a:r>
                        <a:rPr sz="1300" spc="-4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validées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46990" marB="0">
                    <a:lnT w="9525">
                      <a:solidFill>
                        <a:srgbClr val="111111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9850" marR="254000">
                        <a:lnSpc>
                          <a:spcPct val="105800"/>
                        </a:lnSpc>
                        <a:spcBef>
                          <a:spcPts val="370"/>
                        </a:spcBef>
                      </a:pP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Identité</a:t>
                      </a:r>
                      <a:r>
                        <a:rPr sz="1300" spc="-6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propre</a:t>
                      </a:r>
                      <a:r>
                        <a:rPr sz="1300" spc="-6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à</a:t>
                      </a:r>
                      <a:r>
                        <a:rPr sz="1300" spc="-1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chaque</a:t>
                      </a:r>
                      <a:r>
                        <a:rPr sz="1300" spc="-6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capteur</a:t>
                      </a:r>
                      <a:r>
                        <a:rPr sz="1300" spc="-10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(mTLS), détection</a:t>
                      </a:r>
                      <a:r>
                        <a:rPr sz="1300" spc="-7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d’anomalies</a:t>
                      </a:r>
                      <a:endParaRPr sz="1300" dirty="0">
                        <a:latin typeface="Arial MT"/>
                        <a:cs typeface="Arial MT"/>
                      </a:endParaRPr>
                    </a:p>
                  </a:txBody>
                  <a:tcPr marL="0" marR="0" marT="46990" marB="0">
                    <a:lnT w="9525">
                      <a:solidFill>
                        <a:srgbClr val="111111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13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b="1" spc="-4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Accès</a:t>
                      </a:r>
                      <a:r>
                        <a:rPr sz="1300" b="1" spc="-10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300" b="1" spc="-6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non </a:t>
                      </a:r>
                      <a:r>
                        <a:rPr sz="130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autorisé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7178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3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Un</a:t>
                      </a:r>
                      <a:r>
                        <a:rPr sz="1300" spc="-5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tiers</a:t>
                      </a:r>
                      <a:r>
                        <a:rPr sz="1300" spc="-8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acquitte</a:t>
                      </a:r>
                      <a:r>
                        <a:rPr sz="1300" spc="-9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des</a:t>
                      </a:r>
                      <a:r>
                        <a:rPr sz="1300" spc="-8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alertes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8425" marR="76200">
                        <a:lnSpc>
                          <a:spcPct val="105800"/>
                        </a:lnSpc>
                        <a:spcBef>
                          <a:spcPts val="370"/>
                        </a:spcBef>
                      </a:pPr>
                      <a:r>
                        <a:rPr sz="1300" spc="-4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Tableau</a:t>
                      </a:r>
                      <a:r>
                        <a:rPr sz="1300" spc="-5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de</a:t>
                      </a:r>
                      <a:r>
                        <a:rPr sz="1300" spc="-8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bord</a:t>
                      </a:r>
                      <a:r>
                        <a:rPr sz="1300" spc="-5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sans</a:t>
                      </a:r>
                      <a:r>
                        <a:rPr sz="1300" spc="-8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authentification</a:t>
                      </a:r>
                      <a:r>
                        <a:rPr sz="1300" spc="-5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;</a:t>
                      </a:r>
                      <a:r>
                        <a:rPr sz="1300" spc="4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API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et</a:t>
                      </a:r>
                      <a:r>
                        <a:rPr sz="1300" spc="-8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bases</a:t>
                      </a:r>
                      <a:r>
                        <a:rPr sz="1300" spc="-8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non</a:t>
                      </a:r>
                      <a:r>
                        <a:rPr sz="1300" spc="-5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exposées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46990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9850" marR="410209">
                        <a:lnSpc>
                          <a:spcPct val="105800"/>
                        </a:lnSpc>
                        <a:spcBef>
                          <a:spcPts val="370"/>
                        </a:spcBef>
                      </a:pP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Authentification</a:t>
                      </a:r>
                      <a:r>
                        <a:rPr sz="1300" spc="-6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unique</a:t>
                      </a:r>
                      <a:r>
                        <a:rPr sz="1300" spc="-9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(OIDC)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et</a:t>
                      </a:r>
                      <a:r>
                        <a:rPr sz="1300" spc="-9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rôles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opérateur</a:t>
                      </a:r>
                      <a:r>
                        <a:rPr sz="1300" spc="-7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/</a:t>
                      </a:r>
                      <a:r>
                        <a:rPr sz="1300" spc="-7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ingénieur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46990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13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b="1" spc="-4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Fuite</a:t>
                      </a:r>
                      <a:r>
                        <a:rPr sz="1300" b="1" spc="-10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300" b="1" spc="-35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de</a:t>
                      </a:r>
                      <a:r>
                        <a:rPr sz="1300" b="1" spc="-95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30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données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71780" marR="640715">
                        <a:lnSpc>
                          <a:spcPct val="105800"/>
                        </a:lnSpc>
                        <a:spcBef>
                          <a:spcPts val="370"/>
                        </a:spcBef>
                      </a:pP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Cadence</a:t>
                      </a:r>
                      <a:r>
                        <a:rPr sz="1300" spc="-7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de</a:t>
                      </a:r>
                      <a:r>
                        <a:rPr sz="1300" spc="-7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production divulguée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46990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8425" marR="62230">
                        <a:lnSpc>
                          <a:spcPct val="105800"/>
                        </a:lnSpc>
                        <a:spcBef>
                          <a:spcPts val="370"/>
                        </a:spcBef>
                      </a:pP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Secrets</a:t>
                      </a:r>
                      <a:r>
                        <a:rPr sz="1300" spc="-10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hors</a:t>
                      </a:r>
                      <a:r>
                        <a:rPr sz="1300" spc="-10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3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du</a:t>
                      </a:r>
                      <a:r>
                        <a:rPr sz="1300" spc="-6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dépôt</a:t>
                      </a:r>
                      <a:r>
                        <a:rPr sz="1300" spc="-9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;</a:t>
                      </a:r>
                      <a:r>
                        <a:rPr sz="1300" spc="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token</a:t>
                      </a:r>
                      <a:r>
                        <a:rPr sz="1300" spc="-7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InfluxDB</a:t>
                      </a:r>
                      <a:r>
                        <a:rPr sz="1300" spc="-1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aux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droits</a:t>
                      </a:r>
                      <a:r>
                        <a:rPr sz="1300" spc="-7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admin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46990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9850" marR="273050">
                        <a:lnSpc>
                          <a:spcPct val="105800"/>
                        </a:lnSpc>
                        <a:spcBef>
                          <a:spcPts val="370"/>
                        </a:spcBef>
                      </a:pPr>
                      <a:r>
                        <a:rPr sz="1300" spc="-4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TLS</a:t>
                      </a:r>
                      <a:r>
                        <a:rPr sz="1300" spc="-7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entre</a:t>
                      </a:r>
                      <a:r>
                        <a:rPr sz="1300" spc="-8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services,</a:t>
                      </a:r>
                      <a:r>
                        <a:rPr sz="1300" spc="4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chiffrement</a:t>
                      </a:r>
                      <a:r>
                        <a:rPr sz="1300" spc="-6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5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au</a:t>
                      </a:r>
                      <a:r>
                        <a:rPr sz="1300" spc="-3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repos, coffre</a:t>
                      </a:r>
                      <a:r>
                        <a:rPr sz="1300" spc="-7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à</a:t>
                      </a:r>
                      <a:r>
                        <a:rPr sz="1300" spc="-13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secrets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46990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179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b="1" spc="-45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Altération,</a:t>
                      </a:r>
                      <a:r>
                        <a:rPr sz="1300" b="1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30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injection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7178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Historique</a:t>
                      </a:r>
                      <a:r>
                        <a:rPr sz="1300" spc="-8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falsifié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8425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Requêtes</a:t>
                      </a:r>
                      <a:r>
                        <a:rPr sz="1300" spc="-8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Flux</a:t>
                      </a:r>
                      <a:r>
                        <a:rPr sz="1300" spc="-1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filtrées,</a:t>
                      </a:r>
                      <a:r>
                        <a:rPr sz="1300" spc="3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SQL</a:t>
                      </a:r>
                      <a:r>
                        <a:rPr sz="1300" spc="-114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paramétré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985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Journal</a:t>
                      </a:r>
                      <a:r>
                        <a:rPr sz="1300" spc="-4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d’audit</a:t>
                      </a:r>
                      <a:r>
                        <a:rPr sz="1300" spc="-9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inaltérable,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sauvegardes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179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b="1" spc="-45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Panne</a:t>
                      </a:r>
                      <a:r>
                        <a:rPr sz="1300" b="1" spc="-9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300" b="1" spc="-35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de</a:t>
                      </a:r>
                      <a:r>
                        <a:rPr sz="1300" b="1" spc="-9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30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capteur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7178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La</a:t>
                      </a:r>
                      <a:r>
                        <a:rPr sz="1300" spc="-13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3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panne</a:t>
                      </a:r>
                      <a:r>
                        <a:rPr sz="1300" spc="-6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passe</a:t>
                      </a:r>
                      <a:r>
                        <a:rPr sz="1300" spc="-7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inaperçue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8425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Non</a:t>
                      </a:r>
                      <a:r>
                        <a:rPr sz="1300" spc="-6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couvert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985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Alerte</a:t>
                      </a:r>
                      <a:r>
                        <a:rPr sz="1300" spc="-9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6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«</a:t>
                      </a:r>
                      <a:r>
                        <a:rPr sz="1300" spc="-6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capteur</a:t>
                      </a:r>
                      <a:r>
                        <a:rPr sz="1300" spc="-13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muet</a:t>
                      </a:r>
                      <a:r>
                        <a:rPr sz="1300" spc="-8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5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»,</a:t>
                      </a:r>
                      <a:r>
                        <a:rPr sz="1300" spc="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tampon</a:t>
                      </a:r>
                      <a:r>
                        <a:rPr sz="1300" spc="-5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local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13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b="1" spc="-45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Panne</a:t>
                      </a:r>
                      <a:r>
                        <a:rPr sz="1300" b="1" spc="-85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300" b="1" spc="-55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d’un</a:t>
                      </a:r>
                      <a:r>
                        <a:rPr sz="1300" b="1" spc="-5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30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service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71780" marR="273685">
                        <a:lnSpc>
                          <a:spcPct val="105800"/>
                        </a:lnSpc>
                        <a:spcBef>
                          <a:spcPts val="370"/>
                        </a:spcBef>
                      </a:pP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Alertes</a:t>
                      </a:r>
                      <a:r>
                        <a:rPr sz="1300" spc="-9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perdues,</a:t>
                      </a:r>
                      <a:r>
                        <a:rPr sz="1300" spc="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supervision aveugle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46990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8425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3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Redémarrage</a:t>
                      </a:r>
                      <a:r>
                        <a:rPr sz="1300" spc="-7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auto,</a:t>
                      </a:r>
                      <a:r>
                        <a:rPr sz="1300" spc="4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services</a:t>
                      </a:r>
                      <a:r>
                        <a:rPr sz="1300" spc="-7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répliqués</a:t>
                      </a:r>
                      <a:r>
                        <a:rPr sz="1300" spc="-6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5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;</a:t>
                      </a:r>
                      <a:endParaRPr sz="1300">
                        <a:latin typeface="Arial MT"/>
                        <a:cs typeface="Arial MT"/>
                      </a:endParaRPr>
                    </a:p>
                    <a:p>
                      <a:pPr marL="98425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bases</a:t>
                      </a:r>
                      <a:r>
                        <a:rPr sz="1300" spc="-7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et</a:t>
                      </a:r>
                      <a:r>
                        <a:rPr sz="1300" spc="-7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nginx</a:t>
                      </a:r>
                      <a:r>
                        <a:rPr sz="1300" spc="-1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uniques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985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Bases</a:t>
                      </a:r>
                      <a:r>
                        <a:rPr sz="1300" spc="-6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répliquées,</a:t>
                      </a:r>
                      <a:r>
                        <a:rPr sz="1300" spc="5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répartiteur</a:t>
                      </a:r>
                      <a:r>
                        <a:rPr sz="1300" spc="-1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redondant</a:t>
                      </a:r>
                      <a:endParaRPr sz="1300" dirty="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object 4"/>
          <p:cNvSpPr txBox="1"/>
          <p:nvPr/>
        </p:nvSpPr>
        <p:spPr>
          <a:xfrm>
            <a:off x="2861625" y="5189571"/>
            <a:ext cx="6468745" cy="546945"/>
          </a:xfrm>
          <a:prstGeom prst="rect">
            <a:avLst/>
          </a:prstGeom>
        </p:spPr>
        <p:txBody>
          <a:bodyPr vert="horz" wrap="square" lIns="0" tIns="33655" rIns="0" bIns="0" rtlCol="0">
            <a:spAutoFit/>
          </a:bodyPr>
          <a:lstStyle/>
          <a:p>
            <a:pPr marL="12700" marR="5080" algn="ctr">
              <a:lnSpc>
                <a:spcPts val="1950"/>
              </a:lnSpc>
              <a:spcBef>
                <a:spcPts val="265"/>
              </a:spcBef>
            </a:pPr>
            <a:r>
              <a:rPr sz="1700" spc="-85" dirty="0">
                <a:solidFill>
                  <a:srgbClr val="111111"/>
                </a:solidFill>
                <a:latin typeface="Arial"/>
                <a:cs typeface="Arial"/>
              </a:rPr>
              <a:t>Risques</a:t>
            </a:r>
            <a:r>
              <a:rPr sz="1700" spc="-18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700" spc="-85" dirty="0">
                <a:solidFill>
                  <a:srgbClr val="111111"/>
                </a:solidFill>
                <a:latin typeface="Arial"/>
                <a:cs typeface="Arial"/>
              </a:rPr>
              <a:t>résiduels</a:t>
            </a:r>
            <a:r>
              <a:rPr sz="1700" spc="-175" dirty="0">
                <a:solidFill>
                  <a:srgbClr val="111111"/>
                </a:solidFill>
                <a:latin typeface="Arial"/>
                <a:cs typeface="Arial"/>
              </a:rPr>
              <a:t> :</a:t>
            </a:r>
            <a:r>
              <a:rPr sz="1700" spc="1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700" spc="-85" dirty="0">
                <a:solidFill>
                  <a:srgbClr val="111111"/>
                </a:solidFill>
                <a:latin typeface="Arial"/>
                <a:cs typeface="Arial"/>
              </a:rPr>
              <a:t>tableau</a:t>
            </a:r>
            <a:r>
              <a:rPr sz="1700" spc="-12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700" spc="-55" dirty="0">
                <a:solidFill>
                  <a:srgbClr val="111111"/>
                </a:solidFill>
                <a:latin typeface="Arial"/>
                <a:cs typeface="Arial"/>
              </a:rPr>
              <a:t>de</a:t>
            </a:r>
            <a:r>
              <a:rPr sz="1700" spc="-17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700" spc="-105" dirty="0">
                <a:solidFill>
                  <a:srgbClr val="111111"/>
                </a:solidFill>
                <a:latin typeface="Arial"/>
                <a:cs typeface="Arial"/>
              </a:rPr>
              <a:t>bord</a:t>
            </a:r>
            <a:r>
              <a:rPr sz="1700" spc="-13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700" spc="-80" dirty="0">
                <a:solidFill>
                  <a:srgbClr val="111111"/>
                </a:solidFill>
                <a:latin typeface="Arial"/>
                <a:cs typeface="Arial"/>
              </a:rPr>
              <a:t>sans</a:t>
            </a:r>
            <a:r>
              <a:rPr sz="1700" spc="-18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700" spc="-90" dirty="0">
                <a:solidFill>
                  <a:srgbClr val="111111"/>
                </a:solidFill>
                <a:latin typeface="Arial"/>
                <a:cs typeface="Arial"/>
              </a:rPr>
              <a:t>authentification,</a:t>
            </a:r>
            <a:r>
              <a:rPr sz="1700" spc="-2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700" spc="-60" dirty="0">
                <a:solidFill>
                  <a:srgbClr val="111111"/>
                </a:solidFill>
                <a:latin typeface="Arial"/>
                <a:cs typeface="Arial"/>
              </a:rPr>
              <a:t>clé</a:t>
            </a:r>
            <a:r>
              <a:rPr sz="1700" spc="-17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700" spc="-10" dirty="0">
                <a:solidFill>
                  <a:srgbClr val="111111"/>
                </a:solidFill>
                <a:latin typeface="Arial"/>
                <a:cs typeface="Arial"/>
              </a:rPr>
              <a:t>capteur </a:t>
            </a:r>
            <a:r>
              <a:rPr sz="1700" spc="-75" dirty="0">
                <a:solidFill>
                  <a:srgbClr val="111111"/>
                </a:solidFill>
                <a:latin typeface="Arial"/>
                <a:cs typeface="Arial"/>
              </a:rPr>
              <a:t>partagée,</a:t>
            </a:r>
            <a:r>
              <a:rPr sz="1700" spc="-3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700" spc="-70" dirty="0">
                <a:solidFill>
                  <a:srgbClr val="111111"/>
                </a:solidFill>
                <a:latin typeface="Arial"/>
                <a:cs typeface="Arial"/>
              </a:rPr>
              <a:t>bases</a:t>
            </a:r>
            <a:r>
              <a:rPr sz="1700" spc="-18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700" spc="-95" dirty="0">
                <a:solidFill>
                  <a:srgbClr val="111111"/>
                </a:solidFill>
                <a:latin typeface="Arial"/>
                <a:cs typeface="Arial"/>
              </a:rPr>
              <a:t>uniques.</a:t>
            </a:r>
            <a:r>
              <a:rPr sz="1700" spc="-2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700" spc="-70" dirty="0">
                <a:solidFill>
                  <a:srgbClr val="111111"/>
                </a:solidFill>
                <a:latin typeface="Arial"/>
                <a:cs typeface="Arial"/>
              </a:rPr>
              <a:t>Une</a:t>
            </a:r>
            <a:r>
              <a:rPr sz="1700" spc="-18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700" spc="-85" dirty="0">
                <a:solidFill>
                  <a:srgbClr val="111111"/>
                </a:solidFill>
                <a:latin typeface="Arial"/>
                <a:cs typeface="Arial"/>
              </a:rPr>
              <a:t>panne</a:t>
            </a:r>
            <a:r>
              <a:rPr sz="1700" spc="-18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700" spc="-80" dirty="0">
                <a:solidFill>
                  <a:srgbClr val="111111"/>
                </a:solidFill>
                <a:latin typeface="Arial"/>
                <a:cs typeface="Arial"/>
              </a:rPr>
              <a:t>d’InfluxDB</a:t>
            </a:r>
            <a:r>
              <a:rPr sz="1700" spc="-19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700" spc="-95" dirty="0">
                <a:solidFill>
                  <a:srgbClr val="111111"/>
                </a:solidFill>
                <a:latin typeface="Arial"/>
                <a:cs typeface="Arial"/>
              </a:rPr>
              <a:t>suspend</a:t>
            </a:r>
            <a:r>
              <a:rPr sz="1700" spc="-13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700" spc="-30" dirty="0">
                <a:solidFill>
                  <a:srgbClr val="111111"/>
                </a:solidFill>
                <a:latin typeface="Arial"/>
                <a:cs typeface="Arial"/>
              </a:rPr>
              <a:t>la</a:t>
            </a:r>
            <a:r>
              <a:rPr sz="1700" spc="-25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700" spc="-65" dirty="0">
                <a:solidFill>
                  <a:srgbClr val="111111"/>
                </a:solidFill>
                <a:latin typeface="Arial"/>
                <a:cs typeface="Arial"/>
              </a:rPr>
              <a:t>détection.</a:t>
            </a:r>
            <a:endParaRPr sz="1700" dirty="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609599" y="6229348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10972799" y="9524"/>
                </a:moveTo>
                <a:lnTo>
                  <a:pt x="0" y="9524"/>
                </a:lnTo>
                <a:lnTo>
                  <a:pt x="0" y="0"/>
                </a:lnTo>
                <a:lnTo>
                  <a:pt x="10972799" y="0"/>
                </a:lnTo>
                <a:lnTo>
                  <a:pt x="10972799" y="9524"/>
                </a:lnTo>
                <a:close/>
              </a:path>
            </a:pathLst>
          </a:custGeom>
          <a:solidFill>
            <a:srgbClr val="D5D5D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005"/>
              </a:lnSpc>
            </a:pPr>
            <a:r>
              <a:rPr spc="-25" dirty="0"/>
              <a:t>FactorySense</a:t>
            </a:r>
          </a:p>
        </p:txBody>
      </p:sp>
      <p:sp>
        <p:nvSpPr>
          <p:cNvPr id="7" name="object 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3500">
              <a:lnSpc>
                <a:spcPts val="1005"/>
              </a:lnSpc>
            </a:pPr>
            <a:r>
              <a:rPr spc="-35" dirty="0"/>
              <a:t>4</a:t>
            </a:r>
            <a:r>
              <a:rPr spc="-70" dirty="0"/>
              <a:t> </a:t>
            </a:r>
            <a:r>
              <a:rPr dirty="0"/>
              <a:t>/</a:t>
            </a:r>
            <a:r>
              <a:rPr spc="-85" dirty="0"/>
              <a:t> </a:t>
            </a:r>
            <a:r>
              <a:rPr spc="-50" dirty="0"/>
              <a:t>4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C471B968-4290-F30B-DE31-3DFAAEC489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88700" y="103820"/>
            <a:ext cx="812242" cy="114363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295</TotalTime>
  <Words>688</Words>
  <Application>Microsoft Macintosh PowerPoint</Application>
  <PresentationFormat>Grand écran</PresentationFormat>
  <Paragraphs>138</Paragraphs>
  <Slides>5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5</vt:i4>
      </vt:variant>
    </vt:vector>
  </HeadingPairs>
  <TitlesOfParts>
    <vt:vector size="11" baseType="lpstr">
      <vt:lpstr>Arial MT</vt:lpstr>
      <vt:lpstr>Arial</vt:lpstr>
      <vt:lpstr>Calibri</vt:lpstr>
      <vt:lpstr>Lucida Console</vt:lpstr>
      <vt:lpstr>Microsoft Sans Serif</vt:lpstr>
      <vt:lpstr>Office Theme</vt:lpstr>
      <vt:lpstr>Présentation PowerPoint</vt:lpstr>
      <vt:lpstr>Besoins métier</vt:lpstr>
      <vt:lpstr>Besoins techniques</vt:lpstr>
      <vt:lpstr>Architecture proposée</vt:lpstr>
      <vt:lpstr>Risques et atténuation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FactorySense — Soutenance</dc:title>
  <cp:lastModifiedBy>Amine Slaoui</cp:lastModifiedBy>
  <cp:revision>6</cp:revision>
  <dcterms:created xsi:type="dcterms:W3CDTF">2026-09-28T13:28:27Z</dcterms:created>
  <dcterms:modified xsi:type="dcterms:W3CDTF">2026-10-03T23:20:00Z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v10.0.20290.1</vt:lpwstr>
  </property>
  <property fmtid="{D5CDD505-2E9C-101B-9397-08002B2CF9AE}" pid="3" name="Created">
    <vt:filetime>2026-09-28T00:00:00Z</vt:filetime>
  </property>
  <property fmtid="{D5CDD505-2E9C-101B-9397-08002B2CF9AE}" pid="4" name="Creator">
    <vt:lpwstr>Mozilla/5.0 (X11; Linux x86_64) AppleWebKit/537.36 (KHTML, like Gecko) HeadlessChrome/153.0.0.0 Safari/537.36</vt:lpwstr>
  </property>
  <property fmtid="{D5CDD505-2E9C-101B-9397-08002B2CF9AE}" pid="5" name="LastSaved">
    <vt:filetime>2026-09-28T00:00:00Z</vt:filetime>
  </property>
  <property fmtid="{D5CDD505-2E9C-101B-9397-08002B2CF9AE}" pid="6" name="Producer">
    <vt:lpwstr>Skia/PDF m153</vt:lpwstr>
  </property>
</Properties>
</file>