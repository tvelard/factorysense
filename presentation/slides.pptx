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5"/>
  </p:normalViewPr>
  <p:slideViewPr>
    <p:cSldViewPr>
      <p:cViewPr varScale="1">
        <p:scale>
          <a:sx n="113" d="100"/>
          <a:sy n="113" d="100"/>
        </p:scale>
        <p:origin x="544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09599" y="1390648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208048"/>
            <a:ext cx="6407784" cy="11436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50" b="1" i="0">
                <a:solidFill>
                  <a:srgbClr val="11111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499" y="1714999"/>
            <a:ext cx="11049000" cy="3200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6899" y="6363872"/>
            <a:ext cx="734694" cy="132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07564" y="6363872"/>
            <a:ext cx="289559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50" b="0" i="0">
                <a:solidFill>
                  <a:srgbClr val="6A6A6A"/>
                </a:solidFill>
                <a:latin typeface="Arial MT"/>
                <a:cs typeface="Arial MT"/>
              </a:defRPr>
            </a:lvl1pPr>
          </a:lstStyle>
          <a:p>
            <a:pPr marL="63500">
              <a:lnSpc>
                <a:spcPts val="1005"/>
              </a:lnSpc>
            </a:pPr>
            <a:fld id="{81D60167-4931-47E6-BA6A-407CBD079E47}" type="slidenum">
              <a:rPr spc="-35" dirty="0"/>
              <a:t>‹N°›</a:t>
            </a:fld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96899" y="2894284"/>
            <a:ext cx="6900545" cy="2222500"/>
          </a:xfrm>
          <a:prstGeom prst="rect">
            <a:avLst/>
          </a:prstGeom>
        </p:spPr>
        <p:txBody>
          <a:bodyPr vert="horz" wrap="square" lIns="0" tIns="340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85"/>
              </a:spcBef>
            </a:pP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F</a:t>
            </a:r>
            <a:r>
              <a:rPr sz="7300" b="1" spc="-195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7300" b="1" spc="30" dirty="0">
                <a:solidFill>
                  <a:srgbClr val="111111"/>
                </a:solidFill>
                <a:latin typeface="Arial"/>
                <a:cs typeface="Arial"/>
              </a:rPr>
              <a:t>c</a:t>
            </a:r>
            <a:r>
              <a:rPr sz="7300" b="1" spc="100" dirty="0">
                <a:solidFill>
                  <a:srgbClr val="111111"/>
                </a:solidFill>
                <a:latin typeface="Arial"/>
                <a:cs typeface="Arial"/>
              </a:rPr>
              <a:t>t</a:t>
            </a:r>
            <a:r>
              <a:rPr sz="7300" b="1" spc="-30" dirty="0">
                <a:solidFill>
                  <a:srgbClr val="111111"/>
                </a:solidFill>
                <a:latin typeface="Arial"/>
                <a:cs typeface="Arial"/>
              </a:rPr>
              <a:t>o</a:t>
            </a:r>
            <a:r>
              <a:rPr sz="7300" b="1" spc="-65" dirty="0">
                <a:solidFill>
                  <a:srgbClr val="111111"/>
                </a:solidFill>
                <a:latin typeface="Arial"/>
                <a:cs typeface="Arial"/>
              </a:rPr>
              <a:t>r</a:t>
            </a:r>
            <a:r>
              <a:rPr sz="7300" b="1" spc="-235" dirty="0">
                <a:solidFill>
                  <a:srgbClr val="111111"/>
                </a:solidFill>
                <a:latin typeface="Arial"/>
                <a:cs typeface="Arial"/>
              </a:rPr>
              <a:t>y</a:t>
            </a:r>
            <a:r>
              <a:rPr sz="7300" b="1" spc="-40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1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r>
              <a:rPr sz="7300" b="1" spc="155" dirty="0">
                <a:solidFill>
                  <a:srgbClr val="111111"/>
                </a:solidFill>
                <a:latin typeface="Arial"/>
                <a:cs typeface="Arial"/>
              </a:rPr>
              <a:t>n</a:t>
            </a:r>
            <a:r>
              <a:rPr sz="7300" b="1" dirty="0">
                <a:solidFill>
                  <a:srgbClr val="111111"/>
                </a:solidFill>
                <a:latin typeface="Arial"/>
                <a:cs typeface="Arial"/>
              </a:rPr>
              <a:t>s</a:t>
            </a:r>
            <a:r>
              <a:rPr sz="7300" b="1" spc="380" dirty="0">
                <a:solidFill>
                  <a:srgbClr val="111111"/>
                </a:solidFill>
                <a:latin typeface="Arial"/>
                <a:cs typeface="Arial"/>
              </a:rPr>
              <a:t>e</a:t>
            </a:r>
            <a:endParaRPr sz="7300" dirty="0">
              <a:latin typeface="Arial"/>
              <a:cs typeface="Arial"/>
            </a:endParaRPr>
          </a:p>
          <a:p>
            <a:pPr marL="12700" marR="5080">
              <a:lnSpc>
                <a:spcPts val="2550"/>
              </a:lnSpc>
              <a:spcBef>
                <a:spcPts val="925"/>
              </a:spcBef>
            </a:pP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Surveiller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équipements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0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production</a:t>
            </a:r>
            <a:r>
              <a:rPr sz="2200" spc="-1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0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2200" spc="-1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temps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14" dirty="0">
                <a:solidFill>
                  <a:srgbClr val="4A4A4A"/>
                </a:solidFill>
                <a:latin typeface="Arial MT"/>
                <a:cs typeface="Arial MT"/>
              </a:rPr>
              <a:t>réel</a:t>
            </a:r>
            <a:r>
              <a:rPr sz="22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4A4A4A"/>
                </a:solidFill>
                <a:latin typeface="Arial MT"/>
                <a:cs typeface="Arial MT"/>
              </a:rPr>
              <a:t>pour </a:t>
            </a:r>
            <a:r>
              <a:rPr sz="2200" spc="-65" dirty="0">
                <a:solidFill>
                  <a:srgbClr val="4A4A4A"/>
                </a:solidFill>
                <a:latin typeface="Arial MT"/>
                <a:cs typeface="Arial MT"/>
              </a:rPr>
              <a:t>éviter</a:t>
            </a:r>
            <a:r>
              <a:rPr sz="2200" spc="-254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6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2200" spc="-1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75" dirty="0">
                <a:solidFill>
                  <a:srgbClr val="4A4A4A"/>
                </a:solidFill>
                <a:latin typeface="Arial MT"/>
                <a:cs typeface="Arial MT"/>
              </a:rPr>
              <a:t>arrêts</a:t>
            </a:r>
            <a:r>
              <a:rPr sz="2200" spc="-1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4A4A4A"/>
                </a:solidFill>
                <a:latin typeface="Arial MT"/>
                <a:cs typeface="Arial MT"/>
              </a:rPr>
              <a:t>coûteux.</a:t>
            </a:r>
            <a:endParaRPr sz="2200" dirty="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5495924"/>
            <a:ext cx="10972800" cy="38100"/>
          </a:xfrm>
          <a:custGeom>
            <a:avLst/>
            <a:gdLst/>
            <a:ahLst/>
            <a:cxnLst/>
            <a:rect l="l" t="t" r="r" b="b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5674619"/>
            <a:ext cx="1283970" cy="2647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550" b="1" spc="-60" dirty="0">
                <a:solidFill>
                  <a:srgbClr val="111111"/>
                </a:solidFill>
                <a:latin typeface="Arial"/>
                <a:cs typeface="Arial"/>
              </a:rPr>
              <a:t>[Prénom</a:t>
            </a:r>
            <a:r>
              <a:rPr sz="15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50" b="1" spc="-55" dirty="0">
                <a:solidFill>
                  <a:srgbClr val="111111"/>
                </a:solidFill>
                <a:latin typeface="Arial"/>
                <a:cs typeface="Arial"/>
              </a:rPr>
              <a:t>Nom]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3800" y="5674619"/>
            <a:ext cx="1283970" cy="2647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550" b="1" spc="-60" dirty="0">
                <a:solidFill>
                  <a:srgbClr val="111111"/>
                </a:solidFill>
                <a:latin typeface="Arial"/>
                <a:cs typeface="Arial"/>
              </a:rPr>
              <a:t>[Prénom</a:t>
            </a:r>
            <a:r>
              <a:rPr sz="15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50" b="1" spc="-55" dirty="0">
                <a:solidFill>
                  <a:srgbClr val="111111"/>
                </a:solidFill>
                <a:latin typeface="Arial"/>
                <a:cs typeface="Arial"/>
              </a:rPr>
              <a:t>Nom]</a:t>
            </a:r>
            <a:endParaRPr sz="15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30700" y="5674619"/>
            <a:ext cx="1283970" cy="2647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550" b="1" spc="-60" dirty="0">
                <a:solidFill>
                  <a:srgbClr val="111111"/>
                </a:solidFill>
                <a:latin typeface="Arial"/>
                <a:cs typeface="Arial"/>
              </a:rPr>
              <a:t>[Prénom</a:t>
            </a:r>
            <a:r>
              <a:rPr sz="15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50" b="1" spc="-55" dirty="0">
                <a:solidFill>
                  <a:srgbClr val="111111"/>
                </a:solidFill>
                <a:latin typeface="Arial"/>
                <a:cs typeface="Arial"/>
              </a:rPr>
              <a:t>Nom]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5674619"/>
            <a:ext cx="1283970" cy="2647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550" b="1" spc="-60" dirty="0">
                <a:solidFill>
                  <a:srgbClr val="111111"/>
                </a:solidFill>
                <a:latin typeface="Arial"/>
                <a:cs typeface="Arial"/>
              </a:rPr>
              <a:t>[Prénom</a:t>
            </a:r>
            <a:r>
              <a:rPr sz="15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50" b="1" spc="-55" dirty="0">
                <a:solidFill>
                  <a:srgbClr val="111111"/>
                </a:solidFill>
                <a:latin typeface="Arial"/>
                <a:cs typeface="Arial"/>
              </a:rPr>
              <a:t>Nom]</a:t>
            </a:r>
            <a:endParaRPr sz="15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10788" y="5646444"/>
            <a:ext cx="1085850" cy="425450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R="5715" algn="r">
              <a:lnSpc>
                <a:spcPct val="100000"/>
              </a:lnSpc>
              <a:spcBef>
                <a:spcPts val="290"/>
              </a:spcBef>
            </a:pP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Télécom</a:t>
            </a:r>
            <a:r>
              <a:rPr sz="115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Paris</a:t>
            </a:r>
            <a:endParaRPr sz="115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  <a:spcBef>
                <a:spcPts val="195"/>
              </a:spcBef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Septembre</a:t>
            </a:r>
            <a:r>
              <a:rPr sz="1150" spc="-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2026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6899" y="6335297"/>
            <a:ext cx="3308985" cy="1689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950" spc="-40" dirty="0">
                <a:solidFill>
                  <a:srgbClr val="6A6A6A"/>
                </a:solidFill>
                <a:latin typeface="Arial MT"/>
                <a:cs typeface="Arial MT"/>
              </a:rPr>
              <a:t>Membres</a:t>
            </a:r>
            <a:r>
              <a:rPr sz="950" spc="-45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35" dirty="0">
                <a:solidFill>
                  <a:srgbClr val="6A6A6A"/>
                </a:solidFill>
                <a:latin typeface="Arial MT"/>
                <a:cs typeface="Arial MT"/>
              </a:rPr>
              <a:t>du</a:t>
            </a:r>
            <a:r>
              <a:rPr sz="950" spc="-10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35" dirty="0">
                <a:solidFill>
                  <a:srgbClr val="6A6A6A"/>
                </a:solidFill>
                <a:latin typeface="Arial MT"/>
                <a:cs typeface="Arial MT"/>
              </a:rPr>
              <a:t>groupe</a:t>
            </a:r>
            <a:r>
              <a:rPr sz="950" spc="-45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120" dirty="0">
                <a:solidFill>
                  <a:srgbClr val="6A6A6A"/>
                </a:solidFill>
                <a:latin typeface="Arial MT"/>
                <a:cs typeface="Arial MT"/>
              </a:rPr>
              <a:t>·</a:t>
            </a:r>
            <a:r>
              <a:rPr sz="950" spc="75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35" dirty="0">
                <a:solidFill>
                  <a:srgbClr val="6A6A6A"/>
                </a:solidFill>
                <a:latin typeface="Arial MT"/>
                <a:cs typeface="Arial MT"/>
              </a:rPr>
              <a:t>Présentation</a:t>
            </a:r>
            <a:r>
              <a:rPr sz="950" spc="-20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25" dirty="0">
                <a:solidFill>
                  <a:srgbClr val="6A6A6A"/>
                </a:solidFill>
                <a:latin typeface="Arial MT"/>
                <a:cs typeface="Arial MT"/>
              </a:rPr>
              <a:t>et</a:t>
            </a:r>
            <a:r>
              <a:rPr sz="950" spc="-40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25" dirty="0">
                <a:solidFill>
                  <a:srgbClr val="6A6A6A"/>
                </a:solidFill>
                <a:latin typeface="Arial MT"/>
                <a:cs typeface="Arial MT"/>
              </a:rPr>
              <a:t>prototype</a:t>
            </a:r>
            <a:r>
              <a:rPr sz="950" spc="-45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35" dirty="0">
                <a:solidFill>
                  <a:srgbClr val="6A6A6A"/>
                </a:solidFill>
                <a:latin typeface="Arial MT"/>
                <a:cs typeface="Arial MT"/>
              </a:rPr>
              <a:t>Docker</a:t>
            </a:r>
            <a:r>
              <a:rPr sz="950" spc="-80" dirty="0">
                <a:solidFill>
                  <a:srgbClr val="6A6A6A"/>
                </a:solidFill>
                <a:latin typeface="Arial MT"/>
                <a:cs typeface="Arial MT"/>
              </a:rPr>
              <a:t> </a:t>
            </a:r>
            <a:r>
              <a:rPr sz="950" spc="-10" dirty="0">
                <a:solidFill>
                  <a:srgbClr val="6A6A6A"/>
                </a:solidFill>
                <a:latin typeface="Arial MT"/>
                <a:cs typeface="Arial MT"/>
              </a:rPr>
              <a:t>Compose</a:t>
            </a:r>
            <a:endParaRPr sz="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208048"/>
            <a:ext cx="4918075" cy="11436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z="7300" spc="265" dirty="0">
                <a:solidFill>
                  <a:srgbClr val="1F36C7"/>
                </a:solidFill>
              </a:rPr>
              <a:t>01</a:t>
            </a:r>
            <a:r>
              <a:rPr sz="7300" dirty="0">
                <a:solidFill>
                  <a:srgbClr val="1F36C7"/>
                </a:solidFill>
              </a:rPr>
              <a:t>	</a:t>
            </a:r>
            <a:r>
              <a:rPr spc="-75" dirty="0"/>
              <a:t>Besoins</a:t>
            </a:r>
            <a:r>
              <a:rPr spc="-509" dirty="0"/>
              <a:t> </a:t>
            </a:r>
            <a:r>
              <a:rPr spc="-10" dirty="0"/>
              <a:t>métier</a:t>
            </a:r>
            <a:endParaRPr sz="7300"/>
          </a:p>
        </p:txBody>
      </p:sp>
      <p:sp>
        <p:nvSpPr>
          <p:cNvPr id="3" name="object 3"/>
          <p:cNvSpPr txBox="1"/>
          <p:nvPr/>
        </p:nvSpPr>
        <p:spPr>
          <a:xfrm>
            <a:off x="596899" y="1641230"/>
            <a:ext cx="6946265" cy="1286510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>
              <a:lnSpc>
                <a:spcPts val="2630"/>
              </a:lnSpc>
              <a:spcBef>
                <a:spcPts val="345"/>
              </a:spcBef>
            </a:pPr>
            <a:r>
              <a:rPr sz="2350" b="1" spc="-140" dirty="0">
                <a:solidFill>
                  <a:srgbClr val="111111"/>
                </a:solidFill>
                <a:latin typeface="Arial"/>
                <a:cs typeface="Arial"/>
              </a:rPr>
              <a:t>Voir</a:t>
            </a:r>
            <a:r>
              <a:rPr sz="235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235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5" dirty="0">
                <a:solidFill>
                  <a:srgbClr val="111111"/>
                </a:solidFill>
                <a:latin typeface="Arial"/>
                <a:cs typeface="Arial"/>
              </a:rPr>
              <a:t>machine</a:t>
            </a:r>
            <a:r>
              <a:rPr sz="235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dériver</a:t>
            </a:r>
            <a:r>
              <a:rPr sz="2350" b="1" spc="-3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avant</a:t>
            </a:r>
            <a:r>
              <a:rPr sz="235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qu’elle</a:t>
            </a:r>
            <a:r>
              <a:rPr sz="2350" b="1" spc="-25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30" dirty="0">
                <a:solidFill>
                  <a:srgbClr val="111111"/>
                </a:solidFill>
                <a:latin typeface="Arial"/>
                <a:cs typeface="Arial"/>
              </a:rPr>
              <a:t>tombe</a:t>
            </a:r>
            <a:r>
              <a:rPr sz="2350" b="1" spc="-2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350" b="1" spc="-1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10" dirty="0">
                <a:solidFill>
                  <a:srgbClr val="111111"/>
                </a:solidFill>
                <a:latin typeface="Arial"/>
                <a:cs typeface="Arial"/>
              </a:rPr>
              <a:t>panne, </a:t>
            </a:r>
            <a:r>
              <a:rPr sz="2350" b="1" spc="-80" dirty="0">
                <a:solidFill>
                  <a:srgbClr val="111111"/>
                </a:solidFill>
                <a:latin typeface="Arial"/>
                <a:cs typeface="Arial"/>
              </a:rPr>
              <a:t>et</a:t>
            </a:r>
            <a:r>
              <a:rPr sz="235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40" dirty="0">
                <a:solidFill>
                  <a:srgbClr val="111111"/>
                </a:solidFill>
                <a:latin typeface="Arial"/>
                <a:cs typeface="Arial"/>
              </a:rPr>
              <a:t>prouver</a:t>
            </a:r>
            <a:r>
              <a:rPr sz="2350" b="1" spc="-3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que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chaque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05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111111"/>
                </a:solidFill>
                <a:latin typeface="Arial"/>
                <a:cs typeface="Arial"/>
              </a:rPr>
              <a:t>a</a:t>
            </a:r>
            <a:r>
              <a:rPr sz="2350" b="1" spc="-36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85" dirty="0">
                <a:solidFill>
                  <a:srgbClr val="111111"/>
                </a:solidFill>
                <a:latin typeface="Arial"/>
                <a:cs typeface="Arial"/>
              </a:rPr>
              <a:t>été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0" dirty="0">
                <a:solidFill>
                  <a:srgbClr val="111111"/>
                </a:solidFill>
                <a:latin typeface="Arial"/>
                <a:cs typeface="Arial"/>
              </a:rPr>
              <a:t>prise</a:t>
            </a:r>
            <a:r>
              <a:rPr sz="2350" b="1" spc="-2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25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2350" b="1" spc="-20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2350" b="1" spc="-10" dirty="0">
                <a:solidFill>
                  <a:srgbClr val="111111"/>
                </a:solidFill>
                <a:latin typeface="Arial"/>
                <a:cs typeface="Arial"/>
              </a:rPr>
              <a:t>charge.</a:t>
            </a:r>
            <a:endParaRPr sz="23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2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3745865" algn="l"/>
              </a:tabLst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Ingénieurs</a:t>
            </a:r>
            <a:r>
              <a:rPr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production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	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Équipes</a:t>
            </a:r>
            <a:r>
              <a:rPr sz="15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5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maintenance</a:t>
            </a:r>
            <a:endParaRPr sz="1500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064499" y="2674353"/>
            <a:ext cx="178879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F36C7"/>
                </a:solidFill>
                <a:latin typeface="Arial"/>
                <a:cs typeface="Arial"/>
              </a:rPr>
              <a:t>Bénéfices</a:t>
            </a:r>
            <a:r>
              <a:rPr sz="1500" b="1" spc="-35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F36C7"/>
                </a:solidFill>
                <a:latin typeface="Arial"/>
                <a:cs typeface="Arial"/>
              </a:rPr>
              <a:t>attendus</a:t>
            </a:r>
            <a:endParaRPr sz="15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9599" y="3028949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343399" y="3028949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077199" y="3028949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96899" y="3194968"/>
            <a:ext cx="3450590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L’état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du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parc</a:t>
            </a:r>
            <a:r>
              <a:rPr sz="1400" b="1" spc="-114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un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coup</a:t>
            </a:r>
            <a:r>
              <a:rPr sz="1400" b="1" spc="-1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d’œil</a:t>
            </a:r>
            <a:r>
              <a:rPr sz="1400" b="1" spc="-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un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statut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par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machine,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normal,</a:t>
            </a:r>
            <a:r>
              <a:rPr sz="1400" spc="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ou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3194968"/>
            <a:ext cx="335089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alerte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en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temps</a:t>
            </a:r>
            <a:r>
              <a:rPr sz="14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réel</a:t>
            </a:r>
            <a:r>
              <a:rPr sz="1400" b="1" spc="-2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dès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qu’un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seuil</a:t>
            </a:r>
            <a:r>
              <a:rPr sz="1400" spc="-1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est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franchi,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recharger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page.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3800474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343399" y="3800474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8064499" y="3194968"/>
            <a:ext cx="347472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Moins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d’arrêts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non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 planifiés</a:t>
            </a:r>
            <a:r>
              <a:rPr sz="1400" b="1" spc="-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maintenance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intervient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pendant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la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dérive,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après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la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casse.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6899" y="3852193"/>
            <a:ext cx="3571240" cy="1406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7630">
              <a:lnSpc>
                <a:spcPct val="1116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Les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tendances</a:t>
            </a:r>
            <a:r>
              <a:rPr sz="140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historiques</a:t>
            </a:r>
            <a:r>
              <a:rPr sz="1400" b="1" spc="-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vibration,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température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pression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pour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comprendre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une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dérive.</a:t>
            </a:r>
            <a:endParaRPr sz="1400">
              <a:latin typeface="Arial MT"/>
              <a:cs typeface="Arial MT"/>
            </a:endParaRPr>
          </a:p>
          <a:p>
            <a:pPr marL="12700">
              <a:lnSpc>
                <a:spcPts val="1415"/>
              </a:lnSpc>
              <a:tabLst>
                <a:tab pos="3557904" algn="l"/>
              </a:tabLst>
            </a:pPr>
            <a:r>
              <a:rPr sz="1350" u="sng" dirty="0">
                <a:solidFill>
                  <a:srgbClr val="111111"/>
                </a:solidFill>
                <a:uFill>
                  <a:solidFill>
                    <a:srgbClr val="D5D5D5"/>
                  </a:solidFill>
                </a:uFill>
                <a:latin typeface="Times New Roman"/>
                <a:cs typeface="Times New Roman"/>
              </a:rPr>
              <a:t>	</a:t>
            </a:r>
            <a:endParaRPr sz="1350">
              <a:latin typeface="Times New Roman"/>
              <a:cs typeface="Times New Roman"/>
            </a:endParaRPr>
          </a:p>
          <a:p>
            <a:pPr marL="12700" marR="1033780">
              <a:lnSpc>
                <a:spcPct val="111600"/>
              </a:lnSpc>
              <a:spcBef>
                <a:spcPts val="85"/>
              </a:spcBef>
            </a:pP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Des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seuils</a:t>
            </a:r>
            <a:r>
              <a:rPr sz="1400" b="1" spc="-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explicites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capteur,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avertissement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puis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critique.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0700" y="3852193"/>
            <a:ext cx="32378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Prioriser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critique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avant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l’avertissement,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seule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par</a:t>
            </a:r>
            <a:r>
              <a:rPr sz="1400" spc="-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franchissement.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8077199" y="4038599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343399" y="4457699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30700" y="4499893"/>
            <a:ext cx="3358515" cy="520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100"/>
              </a:lnSpc>
              <a:spcBef>
                <a:spcPts val="95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Acquitter</a:t>
            </a:r>
            <a:r>
              <a:rPr sz="140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l’alerte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l’heure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prise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charge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reste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enregistrée.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064499" y="4090318"/>
            <a:ext cx="3256279" cy="7493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60"/>
              </a:spcBef>
            </a:pPr>
            <a:r>
              <a:rPr sz="1400" b="1" spc="-60" dirty="0">
                <a:solidFill>
                  <a:srgbClr val="111111"/>
                </a:solidFill>
                <a:latin typeface="Arial"/>
                <a:cs typeface="Arial"/>
              </a:rPr>
              <a:t>Économies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interventions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planifiées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plutôt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qu’en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urgence,</a:t>
            </a:r>
            <a:r>
              <a:rPr sz="1400" spc="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pièces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remplacées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avant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d’endommager</a:t>
            </a:r>
            <a:r>
              <a:rPr sz="1400" spc="-114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le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reste.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077199" y="4943474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5199" y="9524"/>
                </a:moveTo>
                <a:lnTo>
                  <a:pt x="0" y="9524"/>
                </a:lnTo>
                <a:lnTo>
                  <a:pt x="0" y="0"/>
                </a:lnTo>
                <a:lnTo>
                  <a:pt x="3505199" y="0"/>
                </a:lnTo>
                <a:lnTo>
                  <a:pt x="35051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8064499" y="4995193"/>
            <a:ext cx="3314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Conformité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journal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horodaté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alertes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acquittements,</a:t>
            </a:r>
            <a:r>
              <a:rPr sz="1400" spc="4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exploitable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audit.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09599" y="622934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1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208048"/>
            <a:ext cx="5863590" cy="11436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z="7300" spc="265" dirty="0">
                <a:solidFill>
                  <a:srgbClr val="1F36C7"/>
                </a:solidFill>
              </a:rPr>
              <a:t>02</a:t>
            </a:r>
            <a:r>
              <a:rPr sz="7300" dirty="0">
                <a:solidFill>
                  <a:srgbClr val="1F36C7"/>
                </a:solidFill>
              </a:rPr>
              <a:t>	</a:t>
            </a:r>
            <a:r>
              <a:rPr spc="-75" dirty="0"/>
              <a:t>Besoins</a:t>
            </a:r>
            <a:r>
              <a:rPr spc="-509" dirty="0"/>
              <a:t> </a:t>
            </a:r>
            <a:r>
              <a:rPr spc="-30" dirty="0"/>
              <a:t>techniques</a:t>
            </a:r>
            <a:endParaRPr sz="7300"/>
          </a:p>
        </p:txBody>
      </p:sp>
      <p:sp>
        <p:nvSpPr>
          <p:cNvPr id="5" name="object 5"/>
          <p:cNvSpPr txBox="1"/>
          <p:nvPr/>
        </p:nvSpPr>
        <p:spPr>
          <a:xfrm>
            <a:off x="596899" y="1655178"/>
            <a:ext cx="203009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Services</a:t>
            </a:r>
            <a:r>
              <a:rPr sz="15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111111"/>
                </a:solidFill>
                <a:latin typeface="Arial"/>
                <a:cs typeface="Arial"/>
              </a:rPr>
              <a:t>à</a:t>
            </a:r>
            <a:r>
              <a:rPr sz="1500" b="1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développer</a:t>
            </a:r>
            <a:endParaRPr sz="15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97600" y="1655178"/>
            <a:ext cx="2813050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F36C7"/>
                </a:solidFill>
                <a:latin typeface="Arial"/>
                <a:cs typeface="Arial"/>
              </a:rPr>
              <a:t>Données</a:t>
            </a:r>
            <a:r>
              <a:rPr sz="1500" b="1" spc="-130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spc="114" dirty="0">
                <a:solidFill>
                  <a:srgbClr val="1F36C7"/>
                </a:solidFill>
                <a:latin typeface="Arial"/>
                <a:cs typeface="Arial"/>
              </a:rPr>
              <a:t>à</a:t>
            </a:r>
            <a:r>
              <a:rPr sz="1500" b="1" spc="-195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F36C7"/>
                </a:solidFill>
                <a:latin typeface="Arial"/>
                <a:cs typeface="Arial"/>
              </a:rPr>
              <a:t>stocker</a:t>
            </a:r>
            <a:r>
              <a:rPr sz="1500" b="1" spc="-185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spc="50" dirty="0">
                <a:solidFill>
                  <a:srgbClr val="1F36C7"/>
                </a:solidFill>
                <a:latin typeface="Arial"/>
                <a:cs typeface="Arial"/>
              </a:rPr>
              <a:t>et</a:t>
            </a:r>
            <a:r>
              <a:rPr sz="1500" b="1" spc="-110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F36C7"/>
                </a:solidFill>
                <a:latin typeface="Arial"/>
                <a:cs typeface="Arial"/>
              </a:rPr>
              <a:t>sécuriser</a:t>
            </a:r>
            <a:endParaRPr sz="15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09599" y="2009774"/>
            <a:ext cx="5372100" cy="9525"/>
          </a:xfrm>
          <a:custGeom>
            <a:avLst/>
            <a:gdLst/>
            <a:ahLst/>
            <a:cxnLst/>
            <a:rect l="l" t="t" r="r" b="b"/>
            <a:pathLst>
              <a:path w="5372100" h="9525">
                <a:moveTo>
                  <a:pt x="5372099" y="9524"/>
                </a:moveTo>
                <a:lnTo>
                  <a:pt x="0" y="9524"/>
                </a:lnTo>
                <a:lnTo>
                  <a:pt x="0" y="0"/>
                </a:lnTo>
                <a:lnTo>
                  <a:pt x="5372099" y="0"/>
                </a:lnTo>
                <a:lnTo>
                  <a:pt x="537209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210299" y="2009774"/>
            <a:ext cx="5372100" cy="9525"/>
          </a:xfrm>
          <a:custGeom>
            <a:avLst/>
            <a:gdLst/>
            <a:ahLst/>
            <a:cxnLst/>
            <a:rect l="l" t="t" r="r" b="b"/>
            <a:pathLst>
              <a:path w="5372100" h="9525">
                <a:moveTo>
                  <a:pt x="5372099" y="9524"/>
                </a:moveTo>
                <a:lnTo>
                  <a:pt x="0" y="9524"/>
                </a:lnTo>
                <a:lnTo>
                  <a:pt x="0" y="0"/>
                </a:lnTo>
                <a:lnTo>
                  <a:pt x="5372099" y="0"/>
                </a:lnTo>
                <a:lnTo>
                  <a:pt x="5372099" y="952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09599" y="2153149"/>
          <a:ext cx="5371464" cy="27139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1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125"/>
                        </a:lnSpc>
                      </a:pPr>
                      <a:r>
                        <a:rPr sz="115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Rôle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Brique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Ingestion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Télémétrie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Détection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franchissement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FastAPI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Séries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temporelles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État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actif</a:t>
                      </a:r>
                      <a:r>
                        <a:rPr sz="1300" spc="-1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250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→</a:t>
                      </a:r>
                      <a:r>
                        <a:rPr sz="1250" spc="-55" dirty="0">
                          <a:solidFill>
                            <a:srgbClr val="111111"/>
                          </a:solidFill>
                          <a:latin typeface="Microsoft Sans Serif"/>
                          <a:cs typeface="Microsoft Sans Serif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acquitté,</a:t>
                      </a:r>
                      <a:r>
                        <a:rPr sz="1300" spc="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partagé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PostgreSQL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6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1300" b="1" spc="-7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réel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Pousser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navigateur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WebSocket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Visualisation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courbes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Répartition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Charge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répartie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210299" y="2153149"/>
          <a:ext cx="5372733" cy="24968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1935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Enjeu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Protection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Télémétrie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673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Intégrité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: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mesure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falsifiée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authentifiés,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entrées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Journal</a:t>
                      </a:r>
                      <a:r>
                        <a:rPr sz="1300" b="1" spc="2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2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Registre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maintenance,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interne,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non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830">
                <a:tc>
                  <a:txBody>
                    <a:bodyPr/>
                    <a:lstStyle/>
                    <a:p>
                      <a:pPr>
                        <a:lnSpc>
                          <a:spcPts val="1540"/>
                        </a:lnSpc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alertes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>
                        <a:lnSpc>
                          <a:spcPts val="1540"/>
                        </a:lnSpc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preuve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audit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ts val="1540"/>
                        </a:lnSpc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Secrets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7051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Tokens,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mots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10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200" spc="-2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.</a:t>
                      </a:r>
                      <a:r>
                        <a:rPr sz="1200" spc="-509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200" spc="-90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env</a:t>
                      </a:r>
                      <a:r>
                        <a:rPr sz="1200" spc="-455" dirty="0">
                          <a:solidFill>
                            <a:srgbClr val="111111"/>
                          </a:solidFill>
                          <a:latin typeface="Lucida Console"/>
                          <a:cs typeface="Lucida Console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Seuils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3830" marR="249554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seuil</a:t>
                      </a:r>
                      <a:r>
                        <a:rPr sz="1300" spc="-1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erroné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rend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l’alerte muette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Versionnés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avec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code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6197600" y="4785643"/>
            <a:ext cx="517842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Exigences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transverses</a:t>
            </a:r>
            <a:r>
              <a:rPr sz="14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400" spc="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4A4A4A"/>
                </a:solidFill>
                <a:latin typeface="Arial MT"/>
                <a:cs typeface="Arial MT"/>
              </a:rPr>
              <a:t>montée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r>
              <a:rPr sz="1400" spc="-9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horizontale,</a:t>
            </a:r>
            <a:r>
              <a:rPr sz="14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redémarrage </a:t>
            </a:r>
            <a:r>
              <a:rPr sz="1400" spc="-30" dirty="0">
                <a:solidFill>
                  <a:srgbClr val="4A4A4A"/>
                </a:solidFill>
                <a:latin typeface="Arial MT"/>
                <a:cs typeface="Arial MT"/>
              </a:rPr>
              <a:t>automatique,</a:t>
            </a:r>
            <a:r>
              <a:rPr sz="1400" spc="3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4A4A4A"/>
                </a:solidFill>
                <a:latin typeface="Arial MT"/>
                <a:cs typeface="Arial MT"/>
              </a:rPr>
              <a:t>démarrage</a:t>
            </a:r>
            <a:r>
              <a:rPr sz="1400" spc="-9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4A4A4A"/>
                </a:solidFill>
                <a:latin typeface="Arial MT"/>
                <a:cs typeface="Arial MT"/>
              </a:rPr>
              <a:t>en</a:t>
            </a:r>
            <a:r>
              <a:rPr sz="14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4A4A4A"/>
                </a:solidFill>
                <a:latin typeface="Arial MT"/>
                <a:cs typeface="Arial MT"/>
              </a:rPr>
              <a:t>une</a:t>
            </a:r>
            <a:r>
              <a:rPr sz="1400" spc="-10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4A4A4A"/>
                </a:solidFill>
                <a:latin typeface="Arial MT"/>
                <a:cs typeface="Arial MT"/>
              </a:rPr>
              <a:t>commande.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2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z="7300" spc="290" dirty="0">
                <a:solidFill>
                  <a:srgbClr val="1F36C7"/>
                </a:solidFill>
              </a:rPr>
              <a:t>03</a:t>
            </a:r>
            <a:r>
              <a:rPr sz="7300" dirty="0">
                <a:solidFill>
                  <a:srgbClr val="1F36C7"/>
                </a:solidFill>
              </a:rPr>
              <a:t>	</a:t>
            </a:r>
            <a:r>
              <a:rPr spc="-45" dirty="0"/>
              <a:t>Architecture</a:t>
            </a:r>
            <a:r>
              <a:rPr spc="-470" dirty="0"/>
              <a:t> </a:t>
            </a:r>
            <a:r>
              <a:rPr spc="-30" dirty="0"/>
              <a:t>proposée</a:t>
            </a:r>
            <a:endParaRPr sz="7300" dirty="0"/>
          </a:p>
        </p:txBody>
      </p:sp>
      <p:sp>
        <p:nvSpPr>
          <p:cNvPr id="3" name="object 3"/>
          <p:cNvSpPr/>
          <p:nvPr/>
        </p:nvSpPr>
        <p:spPr>
          <a:xfrm>
            <a:off x="2172500" y="1708961"/>
            <a:ext cx="4711700" cy="3270250"/>
          </a:xfrm>
          <a:custGeom>
            <a:avLst/>
            <a:gdLst/>
            <a:ahLst/>
            <a:cxnLst/>
            <a:rect l="l" t="t" r="r" b="b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272307" y="1749115"/>
            <a:ext cx="3768090" cy="1835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SUR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SITE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2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PRIVÉ</a:t>
            </a:r>
            <a:r>
              <a:rPr sz="1000" b="1" spc="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IaaS</a:t>
            </a:r>
            <a:r>
              <a:rPr sz="1000" b="1" spc="3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5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r>
              <a:rPr sz="1000" b="1" spc="4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Docker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Compose</a:t>
            </a:r>
            <a:endParaRPr sz="10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131049" y="1655178"/>
            <a:ext cx="19069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F36C7"/>
                </a:solidFill>
                <a:latin typeface="Arial"/>
                <a:cs typeface="Arial"/>
              </a:rPr>
              <a:t>Déploiement</a:t>
            </a:r>
            <a:r>
              <a:rPr sz="1500" b="1" spc="-60" dirty="0">
                <a:solidFill>
                  <a:srgbClr val="1F36C7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F36C7"/>
                </a:solidFill>
                <a:latin typeface="Arial"/>
                <a:cs typeface="Arial"/>
              </a:rPr>
              <a:t>hybride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7143749" y="200977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45680" y="2145839"/>
            <a:ext cx="1081405" cy="522605"/>
          </a:xfrm>
          <a:custGeom>
            <a:avLst/>
            <a:gdLst/>
            <a:ahLst/>
            <a:cxnLst/>
            <a:rect l="l" t="t" r="r" b="b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ln w="13511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1014" y="2195742"/>
            <a:ext cx="930275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Navigateur</a:t>
            </a:r>
            <a:endParaRPr sz="13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ingénieurs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719629" y="2369232"/>
            <a:ext cx="590550" cy="76200"/>
            <a:chOff x="1719629" y="2369232"/>
            <a:chExt cx="590550" cy="76200"/>
          </a:xfrm>
        </p:grpSpPr>
        <p:sp>
          <p:nvSpPr>
            <p:cNvPr id="35" name="object 35"/>
            <p:cNvSpPr/>
            <p:nvPr/>
          </p:nvSpPr>
          <p:spPr>
            <a:xfrm>
              <a:off x="1726614" y="240706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21798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767928" y="2181081"/>
            <a:ext cx="37274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90" dirty="0">
                <a:solidFill>
                  <a:srgbClr val="4A4A4A"/>
                </a:solidFill>
                <a:latin typeface="Arial MT"/>
                <a:cs typeface="Arial MT"/>
              </a:rPr>
              <a:t>:</a:t>
            </a:r>
            <a:r>
              <a:rPr sz="1100" spc="-21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3000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38695" y="3780494"/>
            <a:ext cx="1165225" cy="606425"/>
            <a:chOff x="638695" y="3780494"/>
            <a:chExt cx="1165225" cy="606425"/>
          </a:xfrm>
        </p:grpSpPr>
        <p:sp>
          <p:nvSpPr>
            <p:cNvPr id="8" name="object 8"/>
            <p:cNvSpPr/>
            <p:nvPr/>
          </p:nvSpPr>
          <p:spPr>
            <a:xfrm>
              <a:off x="717742" y="3785256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1711" y="3821288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45680" y="3857319"/>
              <a:ext cx="1081405" cy="522605"/>
            </a:xfrm>
            <a:custGeom>
              <a:avLst/>
              <a:gdLst/>
              <a:ahLst/>
              <a:cxnLst/>
              <a:rect l="l" t="t" r="r" b="b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2246" y="3864074"/>
            <a:ext cx="1006475" cy="43053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Capteurs</a:t>
            </a:r>
            <a:endParaRPr sz="1350" dirty="0">
              <a:latin typeface="Arial"/>
              <a:cs typeface="Arial"/>
            </a:endParaRPr>
          </a:p>
          <a:p>
            <a:pPr marL="31115">
              <a:lnSpc>
                <a:spcPts val="1280"/>
              </a:lnSpc>
              <a:spcBef>
                <a:spcPts val="50"/>
              </a:spcBef>
            </a:pP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simulés</a:t>
            </a:r>
            <a:r>
              <a:rPr sz="1100" spc="-4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×N</a:t>
            </a:r>
            <a:endParaRPr sz="11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314143" y="2138854"/>
            <a:ext cx="843280" cy="2247900"/>
            <a:chOff x="2314143" y="2138854"/>
            <a:chExt cx="843280" cy="2247900"/>
          </a:xfrm>
        </p:grpSpPr>
        <p:sp>
          <p:nvSpPr>
            <p:cNvPr id="15" name="object 15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21128" y="2145839"/>
              <a:ext cx="829310" cy="2233930"/>
            </a:xfrm>
            <a:custGeom>
              <a:avLst/>
              <a:gdLst/>
              <a:ahLst/>
              <a:cxnLst/>
              <a:rect l="l" t="t" r="r" b="b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98364" y="2195742"/>
            <a:ext cx="629285" cy="567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999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nginx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répartition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charge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75234" y="2069014"/>
            <a:ext cx="1435100" cy="606425"/>
            <a:chOff x="3575234" y="2069014"/>
            <a:chExt cx="1435100" cy="606425"/>
          </a:xfrm>
        </p:grpSpPr>
        <p:sp>
          <p:nvSpPr>
            <p:cNvPr id="19" name="object 19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654281" y="2073777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618250" y="2109808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82219" y="214583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658785" y="2195742"/>
            <a:ext cx="128524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frontend</a:t>
            </a:r>
            <a:r>
              <a:rPr sz="1350" b="1" spc="-10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Node</a:t>
            </a:r>
            <a:r>
              <a:rPr sz="110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4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interface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73855" y="3046618"/>
            <a:ext cx="1315720" cy="522605"/>
          </a:xfrm>
          <a:prstGeom prst="rect">
            <a:avLst/>
          </a:prstGeom>
          <a:solidFill>
            <a:srgbClr val="1F36C7"/>
          </a:solidFill>
        </p:spPr>
        <p:txBody>
          <a:bodyPr vert="horz" wrap="square" lIns="0" tIns="62230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49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InfluxDB</a:t>
            </a:r>
            <a:endParaRPr sz="1350">
              <a:latin typeface="Arial"/>
              <a:cs typeface="Arial"/>
            </a:endParaRPr>
          </a:p>
          <a:p>
            <a:pPr marL="107950">
              <a:lnSpc>
                <a:spcPct val="100000"/>
              </a:lnSpc>
              <a:spcBef>
                <a:spcPts val="50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télémétrie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719629" y="4080712"/>
            <a:ext cx="590550" cy="76200"/>
            <a:chOff x="1719629" y="4080712"/>
            <a:chExt cx="590550" cy="76200"/>
          </a:xfrm>
        </p:grpSpPr>
        <p:sp>
          <p:nvSpPr>
            <p:cNvPr id="39" name="object 39"/>
            <p:cNvSpPr/>
            <p:nvPr/>
          </p:nvSpPr>
          <p:spPr>
            <a:xfrm>
              <a:off x="1726614" y="4118545"/>
              <a:ext cx="576580" cy="0"/>
            </a:xfrm>
            <a:custGeom>
              <a:avLst/>
              <a:gdLst/>
              <a:ahLst/>
              <a:cxnLst/>
              <a:rect l="l" t="t" r="r" b="b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21798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821953" y="3892455"/>
            <a:ext cx="39941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POST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3575234" y="3780494"/>
            <a:ext cx="1435100" cy="606425"/>
            <a:chOff x="3575234" y="3780494"/>
            <a:chExt cx="1435100" cy="606425"/>
          </a:xfrm>
        </p:grpSpPr>
        <p:sp>
          <p:nvSpPr>
            <p:cNvPr id="27" name="object 27"/>
            <p:cNvSpPr/>
            <p:nvPr/>
          </p:nvSpPr>
          <p:spPr>
            <a:xfrm>
              <a:off x="3618250" y="3785256"/>
              <a:ext cx="1387475" cy="558800"/>
            </a:xfrm>
            <a:custGeom>
              <a:avLst/>
              <a:gdLst/>
              <a:ahLst/>
              <a:cxnLst/>
              <a:rect l="l" t="t" r="r" b="b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ln w="90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82219" y="3857319"/>
              <a:ext cx="1351280" cy="522605"/>
            </a:xfrm>
            <a:custGeom>
              <a:avLst/>
              <a:gdLst/>
              <a:ahLst/>
              <a:cxnLst/>
              <a:rect l="l" t="t" r="r" b="b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658785" y="3864074"/>
            <a:ext cx="1285240" cy="487680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55880" rIns="0" bIns="0" rtlCol="0">
            <a:spAutoFit/>
          </a:bodyPr>
          <a:lstStyle/>
          <a:p>
            <a:pPr marL="31115">
              <a:lnSpc>
                <a:spcPct val="100000"/>
              </a:lnSpc>
              <a:spcBef>
                <a:spcPts val="440"/>
              </a:spcBef>
            </a:pPr>
            <a:r>
              <a:rPr sz="1350" b="1" spc="-10" dirty="0">
                <a:solidFill>
                  <a:srgbClr val="111111"/>
                </a:solidFill>
                <a:latin typeface="Arial"/>
                <a:cs typeface="Arial"/>
              </a:rPr>
              <a:t>backend</a:t>
            </a:r>
            <a:r>
              <a:rPr sz="1350" b="1" spc="-10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11111"/>
                </a:solidFill>
                <a:latin typeface="Arial"/>
                <a:cs typeface="Arial"/>
              </a:rPr>
              <a:t>×N</a:t>
            </a:r>
            <a:endParaRPr sz="135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FastAPI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35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00" spc="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seuils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473855" y="4055490"/>
            <a:ext cx="1315720" cy="522605"/>
          </a:xfrm>
          <a:custGeom>
            <a:avLst/>
            <a:gdLst/>
            <a:ahLst/>
            <a:cxnLst/>
            <a:rect l="l" t="t" r="r" b="b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569147" y="4105504"/>
            <a:ext cx="1013460" cy="405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</a:rPr>
              <a:t>PostgreSQL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10" dirty="0">
                <a:solidFill>
                  <a:srgbClr val="FFFFFF"/>
                </a:solidFill>
                <a:latin typeface="Arial MT"/>
                <a:cs typeface="Arial MT"/>
              </a:rPr>
              <a:t>alertes</a:t>
            </a:r>
            <a:endParaRPr sz="1100">
              <a:latin typeface="Arial MT"/>
              <a:cs typeface="Arial MT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149845" y="2369232"/>
            <a:ext cx="2691130" cy="2395855"/>
            <a:chOff x="3149845" y="2369232"/>
            <a:chExt cx="2691130" cy="2395855"/>
          </a:xfrm>
        </p:grpSpPr>
        <p:sp>
          <p:nvSpPr>
            <p:cNvPr id="43" name="object 43"/>
            <p:cNvSpPr/>
            <p:nvPr/>
          </p:nvSpPr>
          <p:spPr>
            <a:xfrm>
              <a:off x="3149845" y="240706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479079" y="236923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149845" y="4118545"/>
              <a:ext cx="414655" cy="0"/>
            </a:xfrm>
            <a:custGeom>
              <a:avLst/>
              <a:gdLst/>
              <a:ahLst/>
              <a:cxnLst/>
              <a:rect l="l" t="t" r="r" b="b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9079" y="4080712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167860" y="2668291"/>
              <a:ext cx="1090295" cy="648970"/>
            </a:xfrm>
            <a:custGeom>
              <a:avLst/>
              <a:gdLst/>
              <a:ahLst/>
              <a:cxnLst/>
              <a:rect l="l" t="t" r="r" b="b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167860" y="3279019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933387" y="3307844"/>
              <a:ext cx="522605" cy="694055"/>
            </a:xfrm>
            <a:custGeom>
              <a:avLst/>
              <a:gdLst/>
              <a:ahLst/>
              <a:cxnLst/>
              <a:rect l="l" t="t" r="r" b="b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370715" y="3270011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933387" y="4235646"/>
              <a:ext cx="522605" cy="81280"/>
            </a:xfrm>
            <a:custGeom>
              <a:avLst/>
              <a:gdLst/>
              <a:ahLst/>
              <a:cxnLst/>
              <a:rect l="l" t="t" r="r" b="b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370715" y="4278883"/>
              <a:ext cx="85725" cy="76200"/>
            </a:xfrm>
            <a:custGeom>
              <a:avLst/>
              <a:gdLst/>
              <a:ahLst/>
              <a:cxnLst/>
              <a:rect l="l" t="t" r="r" b="b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57803" y="4397786"/>
              <a:ext cx="1576705" cy="360680"/>
            </a:xfrm>
            <a:custGeom>
              <a:avLst/>
              <a:gdLst/>
              <a:ahLst/>
              <a:cxnLst/>
              <a:rect l="l" t="t" r="r" b="b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ln w="13511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219970" y="4397786"/>
              <a:ext cx="76200" cy="85725"/>
            </a:xfrm>
            <a:custGeom>
              <a:avLst/>
              <a:gdLst/>
              <a:ahLst/>
              <a:cxnLst/>
              <a:rect l="l" t="t" r="r" b="b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131049" y="2175793"/>
            <a:ext cx="4348480" cy="739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b="1" spc="-55" dirty="0">
                <a:solidFill>
                  <a:srgbClr val="111111"/>
                </a:solidFill>
                <a:latin typeface="Arial"/>
                <a:cs typeface="Arial"/>
              </a:rPr>
              <a:t>Sur</a:t>
            </a:r>
            <a:r>
              <a:rPr sz="1400" b="1" spc="-17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11111"/>
                </a:solidFill>
                <a:latin typeface="Arial"/>
                <a:cs typeface="Arial"/>
              </a:rPr>
              <a:t>site</a:t>
            </a:r>
            <a:r>
              <a:rPr sz="14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80" dirty="0">
                <a:solidFill>
                  <a:srgbClr val="111111"/>
                </a:solidFill>
                <a:latin typeface="Arial"/>
                <a:cs typeface="Arial"/>
              </a:rPr>
              <a:t>—</a:t>
            </a:r>
            <a:r>
              <a:rPr sz="14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9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privé,</a:t>
            </a:r>
            <a:r>
              <a:rPr sz="1400" b="1" spc="-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30" dirty="0">
                <a:solidFill>
                  <a:srgbClr val="111111"/>
                </a:solidFill>
                <a:latin typeface="Arial"/>
                <a:cs typeface="Arial"/>
              </a:rPr>
              <a:t>IaaS.</a:t>
            </a:r>
            <a:r>
              <a:rPr sz="1400" b="1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Ingestion,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détection,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alertes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et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tableau</a:t>
            </a:r>
            <a:r>
              <a:rPr sz="1400" spc="-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de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bord</a:t>
            </a:r>
            <a:r>
              <a:rPr sz="1400" spc="-6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temps</a:t>
            </a:r>
            <a:r>
              <a:rPr sz="1400" spc="-10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55" dirty="0">
                <a:solidFill>
                  <a:srgbClr val="111111"/>
                </a:solidFill>
                <a:latin typeface="Arial MT"/>
                <a:cs typeface="Arial MT"/>
              </a:rPr>
              <a:t>réel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latence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faible,</a:t>
            </a:r>
            <a:r>
              <a:rPr sz="1400" spc="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réseau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industriel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isolé,</a:t>
            </a:r>
            <a:r>
              <a:rPr sz="1400" spc="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fonctionne</a:t>
            </a:r>
            <a:r>
              <a:rPr sz="1400" spc="-10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Internet.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326135" y="2802587"/>
            <a:ext cx="121475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REST</a:t>
            </a:r>
            <a:r>
              <a:rPr sz="1100" spc="-12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4A4A4A"/>
                </a:solidFill>
                <a:latin typeface="Arial MT"/>
                <a:cs typeface="Arial MT"/>
              </a:rPr>
              <a:t>+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WebSocket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4326135" y="2964661"/>
            <a:ext cx="949960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vers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</a:t>
            </a:r>
            <a:r>
              <a:rPr sz="110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backend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7143749" y="3019424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 txBox="1"/>
          <p:nvPr/>
        </p:nvSpPr>
        <p:spPr>
          <a:xfrm>
            <a:off x="7131049" y="3061618"/>
            <a:ext cx="4093210" cy="7588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13799"/>
              </a:lnSpc>
              <a:spcBef>
                <a:spcPts val="135"/>
              </a:spcBef>
            </a:pPr>
            <a:r>
              <a:rPr sz="1400" b="1" spc="-70" dirty="0">
                <a:solidFill>
                  <a:srgbClr val="111111"/>
                </a:solidFill>
                <a:latin typeface="Arial"/>
                <a:cs typeface="Arial"/>
              </a:rPr>
              <a:t>Cloud</a:t>
            </a:r>
            <a:r>
              <a:rPr sz="1400" b="1" spc="-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65" dirty="0">
                <a:solidFill>
                  <a:srgbClr val="111111"/>
                </a:solidFill>
                <a:latin typeface="Arial"/>
                <a:cs typeface="Arial"/>
              </a:rPr>
              <a:t>public</a:t>
            </a:r>
            <a:r>
              <a:rPr sz="1400" b="1" spc="-11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80" dirty="0">
                <a:solidFill>
                  <a:srgbClr val="111111"/>
                </a:solidFill>
                <a:latin typeface="Arial"/>
                <a:cs typeface="Arial"/>
              </a:rPr>
              <a:t>—</a:t>
            </a:r>
            <a:r>
              <a:rPr sz="1400" b="1" spc="-2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b="1" spc="-40" dirty="0">
                <a:solidFill>
                  <a:srgbClr val="111111"/>
                </a:solidFill>
                <a:latin typeface="Arial"/>
                <a:cs typeface="Arial"/>
              </a:rPr>
              <a:t>PaaS.</a:t>
            </a:r>
            <a:r>
              <a:rPr sz="1400" b="1" spc="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Historique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long</a:t>
            </a:r>
            <a:r>
              <a:rPr sz="1400" spc="-15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terme</a:t>
            </a:r>
            <a:r>
              <a:rPr sz="1400" spc="-9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et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consultation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hors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0" dirty="0">
                <a:solidFill>
                  <a:srgbClr val="111111"/>
                </a:solidFill>
                <a:latin typeface="Arial MT"/>
                <a:cs typeface="Arial MT"/>
              </a:rPr>
              <a:t>site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sur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bases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0" dirty="0">
                <a:solidFill>
                  <a:srgbClr val="111111"/>
                </a:solidFill>
                <a:latin typeface="Arial MT"/>
                <a:cs typeface="Arial MT"/>
              </a:rPr>
              <a:t>managées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:</a:t>
            </a:r>
            <a:r>
              <a:rPr sz="1400" spc="6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élastique,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9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exploitation.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7131049" y="4055478"/>
            <a:ext cx="2605405" cy="253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Prototype</a:t>
            </a:r>
            <a:r>
              <a:rPr sz="1500" b="1" spc="-14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14" dirty="0">
                <a:solidFill>
                  <a:srgbClr val="111111"/>
                </a:solidFill>
                <a:latin typeface="Arial"/>
                <a:cs typeface="Arial"/>
              </a:rPr>
              <a:t>:</a:t>
            </a:r>
            <a:r>
              <a:rPr sz="1500" b="1" spc="-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11111"/>
                </a:solidFill>
                <a:latin typeface="Arial"/>
                <a:cs typeface="Arial"/>
              </a:rPr>
              <a:t>Docker</a:t>
            </a:r>
            <a:r>
              <a:rPr sz="15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11111"/>
                </a:solidFill>
                <a:latin typeface="Arial"/>
                <a:cs typeface="Arial"/>
              </a:rPr>
              <a:t>Compose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5" name="object 65"/>
          <p:cNvSpPr/>
          <p:nvPr/>
        </p:nvSpPr>
        <p:spPr>
          <a:xfrm>
            <a:off x="7143749" y="4410073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 txBox="1"/>
          <p:nvPr/>
        </p:nvSpPr>
        <p:spPr>
          <a:xfrm>
            <a:off x="4326135" y="4748217"/>
            <a:ext cx="1854835" cy="1949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NOTIFY</a:t>
            </a:r>
            <a:r>
              <a:rPr sz="1100" spc="-1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4A4A4A"/>
                </a:solidFill>
                <a:latin typeface="Microsoft Sans Serif"/>
                <a:cs typeface="Microsoft Sans Serif"/>
              </a:rPr>
              <a:t>→</a:t>
            </a:r>
            <a:r>
              <a:rPr sz="1050" spc="-20" dirty="0">
                <a:solidFill>
                  <a:srgbClr val="4A4A4A"/>
                </a:solidFill>
                <a:latin typeface="Microsoft Sans Serif"/>
                <a:cs typeface="Microsoft Sans Serif"/>
              </a:rPr>
              <a:t>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toutes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les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répliques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131049" y="4490368"/>
            <a:ext cx="4076065" cy="501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1600"/>
              </a:lnSpc>
              <a:spcBef>
                <a:spcPts val="95"/>
              </a:spcBef>
            </a:pP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6</a:t>
            </a:r>
            <a:r>
              <a:rPr sz="1400" spc="-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services,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démarrés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en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5" dirty="0">
                <a:solidFill>
                  <a:srgbClr val="111111"/>
                </a:solidFill>
                <a:latin typeface="Arial MT"/>
                <a:cs typeface="Arial MT"/>
              </a:rPr>
              <a:t>une</a:t>
            </a:r>
            <a:r>
              <a:rPr sz="1400" spc="-12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commande.</a:t>
            </a:r>
            <a:r>
              <a:rPr sz="1400" spc="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45" dirty="0">
                <a:solidFill>
                  <a:srgbClr val="111111"/>
                </a:solidFill>
                <a:latin typeface="Arial MT"/>
                <a:cs typeface="Arial MT"/>
              </a:rPr>
              <a:t>Les</a:t>
            </a:r>
            <a:r>
              <a:rPr sz="1400" spc="-11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services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sans</a:t>
            </a:r>
            <a:r>
              <a:rPr sz="1400" spc="-8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25" dirty="0">
                <a:solidFill>
                  <a:srgbClr val="111111"/>
                </a:solidFill>
                <a:latin typeface="Arial MT"/>
                <a:cs typeface="Arial MT"/>
              </a:rPr>
              <a:t>état</a:t>
            </a:r>
            <a:r>
              <a:rPr sz="1400" spc="-7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se</a:t>
            </a:r>
            <a:r>
              <a:rPr sz="1400" spc="-8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30" dirty="0">
                <a:solidFill>
                  <a:srgbClr val="111111"/>
                </a:solidFill>
                <a:latin typeface="Arial MT"/>
                <a:cs typeface="Arial MT"/>
              </a:rPr>
              <a:t>répliquent</a:t>
            </a:r>
            <a:r>
              <a:rPr sz="1400" spc="-7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111111"/>
                </a:solidFill>
                <a:latin typeface="Arial MT"/>
                <a:cs typeface="Arial MT"/>
              </a:rPr>
              <a:t>à</a:t>
            </a:r>
            <a:r>
              <a:rPr sz="1400" spc="-14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111111"/>
                </a:solidFill>
                <a:latin typeface="Arial MT"/>
                <a:cs typeface="Arial MT"/>
              </a:rPr>
              <a:t>chaud.</a:t>
            </a:r>
            <a:endParaRPr sz="1400" dirty="0">
              <a:latin typeface="Arial MT"/>
              <a:cs typeface="Arial MT"/>
            </a:endParaRPr>
          </a:p>
        </p:txBody>
      </p:sp>
      <p:sp>
        <p:nvSpPr>
          <p:cNvPr id="66" name="object 66"/>
          <p:cNvSpPr/>
          <p:nvPr/>
        </p:nvSpPr>
        <p:spPr>
          <a:xfrm>
            <a:off x="7143749" y="5105398"/>
            <a:ext cx="4438650" cy="9525"/>
          </a:xfrm>
          <a:custGeom>
            <a:avLst/>
            <a:gdLst/>
            <a:ahLst/>
            <a:cxnLst/>
            <a:rect l="l" t="t" r="r" b="b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2170248" y="5129669"/>
            <a:ext cx="4716145" cy="536575"/>
          </a:xfrm>
          <a:custGeom>
            <a:avLst/>
            <a:gdLst/>
            <a:ahLst/>
            <a:cxnLst/>
            <a:rect l="l" t="t" r="r" b="b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 txBox="1"/>
          <p:nvPr/>
        </p:nvSpPr>
        <p:spPr>
          <a:xfrm>
            <a:off x="2272307" y="5181092"/>
            <a:ext cx="2846705" cy="1835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CLOUD</a:t>
            </a:r>
            <a:r>
              <a:rPr sz="1000" b="1" spc="-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PUBLIC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PaaS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·</a:t>
            </a:r>
            <a:r>
              <a:rPr sz="1000" b="1" spc="10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cible,</a:t>
            </a:r>
            <a:r>
              <a:rPr sz="1000" b="1" spc="9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6A6A6A"/>
                </a:solidFill>
                <a:latin typeface="Arial"/>
                <a:cs typeface="Arial"/>
              </a:rPr>
              <a:t>hors</a:t>
            </a:r>
            <a:r>
              <a:rPr sz="1000" b="1" spc="5" dirty="0">
                <a:solidFill>
                  <a:srgbClr val="6A6A6A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6A6A6A"/>
                </a:solidFill>
                <a:latin typeface="Arial"/>
                <a:cs typeface="Arial"/>
              </a:rPr>
              <a:t>prototype</a:t>
            </a:r>
            <a:endParaRPr sz="1000" dirty="0">
              <a:latin typeface="Arial"/>
              <a:cs typeface="Arial"/>
            </a:endParaRPr>
          </a:p>
        </p:txBody>
      </p:sp>
      <p:pic>
        <p:nvPicPr>
          <p:cNvPr id="60" name="object 6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1981" y="5848349"/>
            <a:ext cx="259556" cy="154781"/>
          </a:xfrm>
          <a:prstGeom prst="rect">
            <a:avLst/>
          </a:prstGeom>
        </p:spPr>
      </p:pic>
      <p:sp>
        <p:nvSpPr>
          <p:cNvPr id="61" name="object 61"/>
          <p:cNvSpPr/>
          <p:nvPr/>
        </p:nvSpPr>
        <p:spPr>
          <a:xfrm>
            <a:off x="3467100" y="5891212"/>
            <a:ext cx="190500" cy="104775"/>
          </a:xfrm>
          <a:custGeom>
            <a:avLst/>
            <a:gdLst/>
            <a:ahLst/>
            <a:cxnLst/>
            <a:rect l="l" t="t" r="r" b="b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 txBox="1"/>
          <p:nvPr/>
        </p:nvSpPr>
        <p:spPr>
          <a:xfrm>
            <a:off x="939799" y="5396810"/>
            <a:ext cx="5180330" cy="6184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344930">
              <a:lnSpc>
                <a:spcPct val="100000"/>
              </a:lnSpc>
              <a:spcBef>
                <a:spcPts val="110"/>
              </a:spcBef>
            </a:pP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0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5" dirty="0">
                <a:solidFill>
                  <a:srgbClr val="4A4A4A"/>
                </a:solidFill>
                <a:latin typeface="Arial MT"/>
                <a:cs typeface="Arial MT"/>
              </a:rPr>
              <a:t>de</a:t>
            </a:r>
            <a:r>
              <a:rPr sz="1100" spc="-6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l’historique,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consultation </a:t>
            </a:r>
            <a:r>
              <a:rPr sz="1100" spc="-20" dirty="0">
                <a:solidFill>
                  <a:srgbClr val="4A4A4A"/>
                </a:solidFill>
                <a:latin typeface="Arial MT"/>
                <a:cs typeface="Arial MT"/>
              </a:rPr>
              <a:t>hors</a:t>
            </a:r>
            <a:r>
              <a:rPr sz="1100" spc="-5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25" dirty="0">
                <a:solidFill>
                  <a:srgbClr val="4A4A4A"/>
                </a:solidFill>
                <a:latin typeface="Arial MT"/>
                <a:cs typeface="Arial MT"/>
              </a:rPr>
              <a:t>site,</a:t>
            </a:r>
            <a:r>
              <a:rPr sz="110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30" dirty="0">
                <a:solidFill>
                  <a:srgbClr val="4A4A4A"/>
                </a:solidFill>
                <a:latin typeface="Arial MT"/>
                <a:cs typeface="Arial MT"/>
              </a:rPr>
              <a:t>bases</a:t>
            </a:r>
            <a:r>
              <a:rPr sz="1100" spc="-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00" spc="-10" dirty="0">
                <a:solidFill>
                  <a:srgbClr val="4A4A4A"/>
                </a:solidFill>
                <a:latin typeface="Arial MT"/>
                <a:cs typeface="Arial MT"/>
              </a:rPr>
              <a:t>managées</a:t>
            </a:r>
            <a:endParaRPr sz="1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05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tabLst>
                <a:tab pos="2863215" algn="l"/>
              </a:tabLst>
            </a:pP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sans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6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30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50" spc="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se</a:t>
            </a:r>
            <a:r>
              <a:rPr sz="1150" spc="-7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4A4A4A"/>
                </a:solidFill>
                <a:latin typeface="Arial MT"/>
                <a:cs typeface="Arial MT"/>
              </a:rPr>
              <a:t>réplique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575" spc="-127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262" baseline="2645" dirty="0">
                <a:solidFill>
                  <a:srgbClr val="4A4A4A"/>
                </a:solidFill>
                <a:latin typeface="Lucida Console"/>
                <a:cs typeface="Lucida Console"/>
              </a:rPr>
              <a:t>-</a:t>
            </a:r>
            <a:r>
              <a:rPr sz="1575" spc="-794" baseline="2645" dirty="0">
                <a:solidFill>
                  <a:srgbClr val="4A4A4A"/>
                </a:solidFill>
                <a:latin typeface="Lucida Console"/>
                <a:cs typeface="Lucida Console"/>
              </a:rPr>
              <a:t> </a:t>
            </a:r>
            <a:r>
              <a:rPr sz="1575" spc="-30" baseline="2645" dirty="0">
                <a:solidFill>
                  <a:srgbClr val="4A4A4A"/>
                </a:solidFill>
                <a:latin typeface="Lucida Console"/>
                <a:cs typeface="Lucida Console"/>
              </a:rPr>
              <a:t>scale</a:t>
            </a:r>
            <a:r>
              <a:rPr sz="1575" baseline="2645" dirty="0">
                <a:solidFill>
                  <a:srgbClr val="4A4A4A"/>
                </a:solidFill>
                <a:latin typeface="Lucida Console"/>
                <a:cs typeface="Lucida Console"/>
              </a:rPr>
              <a:t>	</a:t>
            </a:r>
            <a:r>
              <a:rPr sz="1150" spc="-25" dirty="0">
                <a:solidFill>
                  <a:srgbClr val="4A4A4A"/>
                </a:solidFill>
                <a:latin typeface="Arial MT"/>
                <a:cs typeface="Arial MT"/>
              </a:rPr>
              <a:t>avec</a:t>
            </a:r>
            <a:r>
              <a:rPr sz="1150" spc="-8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état</a:t>
            </a:r>
            <a:r>
              <a:rPr sz="1150" spc="-75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30" dirty="0">
                <a:solidFill>
                  <a:srgbClr val="4A4A4A"/>
                </a:solidFill>
                <a:latin typeface="Arial MT"/>
                <a:cs typeface="Arial MT"/>
              </a:rPr>
              <a:t>·</a:t>
            </a:r>
            <a:r>
              <a:rPr sz="1150" spc="5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volume</a:t>
            </a:r>
            <a:r>
              <a:rPr sz="1150" spc="-80" dirty="0">
                <a:solidFill>
                  <a:srgbClr val="4A4A4A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4A4A4A"/>
                </a:solidFill>
                <a:latin typeface="Arial MT"/>
                <a:cs typeface="Arial MT"/>
              </a:rPr>
              <a:t>persistant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7131049" y="5162366"/>
            <a:ext cx="2380615" cy="89217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docker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compose</a:t>
            </a:r>
            <a:r>
              <a:rPr sz="1250" spc="-8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95" dirty="0">
                <a:solidFill>
                  <a:srgbClr val="111111"/>
                </a:solidFill>
                <a:latin typeface="Lucida Console"/>
                <a:cs typeface="Lucida Console"/>
              </a:rPr>
              <a:t>up 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dirty="0">
                <a:solidFill>
                  <a:srgbClr val="111111"/>
                </a:solidFill>
                <a:latin typeface="Lucida Console"/>
                <a:cs typeface="Lucida Console"/>
              </a:rPr>
              <a:t>d</a:t>
            </a:r>
            <a:r>
              <a:rPr sz="1250" spc="-10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backend=3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150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3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frontend=2</a:t>
            </a:r>
            <a:r>
              <a:rPr sz="1250" spc="-4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50" dirty="0">
                <a:solidFill>
                  <a:srgbClr val="111111"/>
                </a:solidFill>
                <a:latin typeface="Lucida Console"/>
                <a:cs typeface="Lucida Console"/>
              </a:rPr>
              <a:t>\</a:t>
            </a:r>
            <a:endParaRPr sz="1250" dirty="0">
              <a:latin typeface="Lucida Console"/>
              <a:cs typeface="Lucida Console"/>
            </a:endParaRPr>
          </a:p>
          <a:p>
            <a:pPr marL="180975">
              <a:lnSpc>
                <a:spcPct val="100000"/>
              </a:lnSpc>
              <a:spcBef>
                <a:spcPts val="225"/>
              </a:spcBef>
            </a:pP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210" dirty="0">
                <a:solidFill>
                  <a:srgbClr val="111111"/>
                </a:solidFill>
                <a:latin typeface="Lucida Console"/>
                <a:cs typeface="Lucida Console"/>
              </a:rPr>
              <a:t>-</a:t>
            </a:r>
            <a:r>
              <a:rPr sz="1250" spc="-650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00" dirty="0">
                <a:solidFill>
                  <a:srgbClr val="111111"/>
                </a:solidFill>
                <a:latin typeface="Lucida Console"/>
                <a:cs typeface="Lucida Console"/>
              </a:rPr>
              <a:t>scale</a:t>
            </a:r>
            <a:r>
              <a:rPr sz="1250" spc="-1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114" dirty="0">
                <a:solidFill>
                  <a:srgbClr val="111111"/>
                </a:solidFill>
                <a:latin typeface="Lucida Console"/>
                <a:cs typeface="Lucida Console"/>
              </a:rPr>
              <a:t>sensor-</a:t>
            </a:r>
            <a:r>
              <a:rPr sz="1250" spc="-635" dirty="0">
                <a:solidFill>
                  <a:srgbClr val="111111"/>
                </a:solidFill>
                <a:latin typeface="Lucida Console"/>
                <a:cs typeface="Lucida Console"/>
              </a:rPr>
              <a:t> </a:t>
            </a:r>
            <a:r>
              <a:rPr sz="1250" spc="-75" dirty="0">
                <a:solidFill>
                  <a:srgbClr val="111111"/>
                </a:solidFill>
                <a:latin typeface="Lucida Console"/>
                <a:cs typeface="Lucida Console"/>
              </a:rPr>
              <a:t>simulator=3</a:t>
            </a:r>
            <a:endParaRPr sz="1250" dirty="0">
              <a:latin typeface="Lucida Console"/>
              <a:cs typeface="Lucida Console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object 7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5" name="object 7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3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6899" y="208048"/>
            <a:ext cx="6393815" cy="11436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878964" algn="l"/>
              </a:tabLst>
            </a:pPr>
            <a:r>
              <a:rPr sz="7300" spc="370" dirty="0">
                <a:solidFill>
                  <a:srgbClr val="1F36C7"/>
                </a:solidFill>
              </a:rPr>
              <a:t>04</a:t>
            </a:r>
            <a:r>
              <a:rPr sz="7300" dirty="0">
                <a:solidFill>
                  <a:srgbClr val="1F36C7"/>
                </a:solidFill>
              </a:rPr>
              <a:t>	</a:t>
            </a:r>
            <a:r>
              <a:rPr spc="-75" dirty="0"/>
              <a:t>Risques</a:t>
            </a:r>
            <a:r>
              <a:rPr spc="-530" dirty="0"/>
              <a:t> </a:t>
            </a:r>
            <a:r>
              <a:rPr spc="75" dirty="0"/>
              <a:t>et</a:t>
            </a:r>
            <a:r>
              <a:rPr spc="-490" dirty="0"/>
              <a:t> </a:t>
            </a:r>
            <a:r>
              <a:rPr spc="-10" dirty="0"/>
              <a:t>atténuation</a:t>
            </a:r>
            <a:endParaRPr sz="730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09599" y="1714999"/>
          <a:ext cx="1097279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2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1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4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Menace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Conséquence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125"/>
                        </a:lnSpc>
                      </a:pPr>
                      <a:r>
                        <a:rPr sz="1150" b="1" dirty="0">
                          <a:solidFill>
                            <a:srgbClr val="1F36C7"/>
                          </a:solidFill>
                          <a:latin typeface="Arial"/>
                          <a:cs typeface="Arial"/>
                        </a:rPr>
                        <a:t>Dans</a:t>
                      </a:r>
                      <a:r>
                        <a:rPr sz="1150" b="1" spc="-50" dirty="0">
                          <a:solidFill>
                            <a:srgbClr val="1F36C7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dirty="0">
                          <a:solidFill>
                            <a:srgbClr val="1F36C7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1150" b="1" spc="-55" dirty="0">
                          <a:solidFill>
                            <a:srgbClr val="1F36C7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1F36C7"/>
                          </a:solidFill>
                          <a:latin typeface="Arial"/>
                          <a:cs typeface="Arial"/>
                        </a:rPr>
                        <a:t>prototype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1125"/>
                        </a:lnSpc>
                      </a:pP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En</a:t>
                      </a:r>
                      <a:r>
                        <a:rPr sz="115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production</a:t>
                      </a:r>
                      <a:endParaRPr sz="11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Usurpation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8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9080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masquée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ou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déclenchée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915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Clé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</a:t>
                      </a:r>
                      <a:r>
                        <a:rPr sz="1300" spc="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sur</a:t>
                      </a:r>
                      <a:r>
                        <a:rPr sz="1300" spc="-1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l’ingestion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(refus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401),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données</a:t>
                      </a: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validées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540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Identité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propre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chaque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(mTLS), détection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d’anomalies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111111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Accès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6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non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autorisé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tiers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acquitte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7620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Tableau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bord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sans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API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exposées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410209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Authentification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(OIDC)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9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rôles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opérateur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/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ingénieur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Fuite</a:t>
                      </a:r>
                      <a:r>
                        <a:rPr sz="1300" b="1" spc="-10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données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64071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Cadence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production divulguée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 marR="6223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hors</a:t>
                      </a:r>
                      <a:r>
                        <a:rPr sz="1300" spc="-1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du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dépôt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token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InfluxDB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aux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droits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admin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marR="273050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TLS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entre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services,</a:t>
                      </a:r>
                      <a:r>
                        <a:rPr sz="1300" spc="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chiffrement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</a:t>
                      </a:r>
                      <a:r>
                        <a:rPr sz="1300" spc="-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repos, coffre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à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secrets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Altération,</a:t>
                      </a:r>
                      <a:r>
                        <a:rPr sz="1300" b="1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injection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Historique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falsifié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Requêtes</a:t>
                      </a:r>
                      <a:r>
                        <a:rPr sz="1300" spc="-8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Flux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filtrées,</a:t>
                      </a:r>
                      <a:r>
                        <a:rPr sz="1300" spc="3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SQL</a:t>
                      </a:r>
                      <a:r>
                        <a:rPr sz="1300" spc="-114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paramétré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Journal</a:t>
                      </a:r>
                      <a:r>
                        <a:rPr sz="1300" spc="-4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d’audit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inaltérable,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sauvegardes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3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de</a:t>
                      </a:r>
                      <a:r>
                        <a:rPr sz="1300" b="1" spc="-9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capteur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La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panne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passe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inaperçue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Non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couvert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«</a:t>
                      </a:r>
                      <a:r>
                        <a:rPr sz="1300" spc="-6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capteur</a:t>
                      </a:r>
                      <a:r>
                        <a:rPr sz="1300" spc="-1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muet</a:t>
                      </a:r>
                      <a:r>
                        <a:rPr sz="1300" spc="-8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»,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tampon</a:t>
                      </a:r>
                      <a:r>
                        <a:rPr sz="1300" spc="-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local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D5D5D5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3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b="1" spc="-4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Panne</a:t>
                      </a:r>
                      <a:r>
                        <a:rPr sz="1300" b="1" spc="-8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55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d’un</a:t>
                      </a:r>
                      <a:r>
                        <a:rPr sz="1300" b="1" spc="-5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00" b="1" spc="-10" dirty="0">
                          <a:solidFill>
                            <a:srgbClr val="111111"/>
                          </a:solidFill>
                          <a:latin typeface="Arial"/>
                          <a:cs typeface="Arial"/>
                        </a:rPr>
                        <a:t>service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273685">
                        <a:lnSpc>
                          <a:spcPct val="105800"/>
                        </a:lnSpc>
                        <a:spcBef>
                          <a:spcPts val="370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Alertes</a:t>
                      </a:r>
                      <a:r>
                        <a:rPr sz="1300" spc="-9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perdues,</a:t>
                      </a:r>
                      <a:r>
                        <a:rPr sz="1300" spc="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supervision aveugle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3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Redémarrage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auto,</a:t>
                      </a:r>
                      <a:r>
                        <a:rPr sz="1300" spc="4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services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5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;</a:t>
                      </a:r>
                      <a:endParaRPr sz="1300">
                        <a:latin typeface="Arial MT"/>
                        <a:cs typeface="Arial MT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7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et</a:t>
                      </a:r>
                      <a:r>
                        <a:rPr sz="1300" spc="-7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nginx</a:t>
                      </a:r>
                      <a:r>
                        <a:rPr sz="1300" spc="-1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uniques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Bases</a:t>
                      </a:r>
                      <a:r>
                        <a:rPr sz="1300" spc="-6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répliquées,</a:t>
                      </a:r>
                      <a:r>
                        <a:rPr sz="1300" spc="55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2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répartiteur</a:t>
                      </a:r>
                      <a:r>
                        <a:rPr sz="1300" spc="-1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1300" spc="-10" dirty="0">
                          <a:solidFill>
                            <a:srgbClr val="111111"/>
                          </a:solidFill>
                          <a:latin typeface="Arial MT"/>
                          <a:cs typeface="Arial MT"/>
                        </a:rPr>
                        <a:t>redondant</a:t>
                      </a:r>
                      <a:endParaRPr sz="1300">
                        <a:latin typeface="Arial MT"/>
                        <a:cs typeface="Arial MT"/>
                      </a:endParaRPr>
                    </a:p>
                  </a:txBody>
                  <a:tcPr marL="0" marR="0" marT="58419" marB="0">
                    <a:lnT w="9525">
                      <a:solidFill>
                        <a:srgbClr val="D5D5D5"/>
                      </a:solidFill>
                      <a:prstDash val="solid"/>
                    </a:lnT>
                    <a:lnB w="9525">
                      <a:solidFill>
                        <a:srgbClr val="11111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596899" y="5064157"/>
            <a:ext cx="6468745" cy="535940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>
              <a:lnSpc>
                <a:spcPts val="1950"/>
              </a:lnSpc>
              <a:spcBef>
                <a:spcPts val="265"/>
              </a:spcBef>
            </a:pP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Risques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résiduels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:</a:t>
            </a:r>
            <a:r>
              <a:rPr sz="1700" b="1" spc="1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tableau</a:t>
            </a:r>
            <a:r>
              <a:rPr sz="1700" b="1" spc="-1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55" dirty="0">
                <a:solidFill>
                  <a:srgbClr val="111111"/>
                </a:solidFill>
                <a:latin typeface="Arial"/>
                <a:cs typeface="Arial"/>
              </a:rPr>
              <a:t>de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5" dirty="0">
                <a:solidFill>
                  <a:srgbClr val="111111"/>
                </a:solidFill>
                <a:latin typeface="Arial"/>
                <a:cs typeface="Arial"/>
              </a:rPr>
              <a:t>bord</a:t>
            </a:r>
            <a:r>
              <a:rPr sz="1700" b="1" spc="-13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sans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0" dirty="0">
                <a:solidFill>
                  <a:srgbClr val="111111"/>
                </a:solidFill>
                <a:latin typeface="Arial"/>
                <a:cs typeface="Arial"/>
              </a:rPr>
              <a:t>authentification,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0" dirty="0">
                <a:solidFill>
                  <a:srgbClr val="111111"/>
                </a:solidFill>
                <a:latin typeface="Arial"/>
                <a:cs typeface="Arial"/>
              </a:rPr>
              <a:t>clé</a:t>
            </a:r>
            <a:r>
              <a:rPr sz="1700" b="1" spc="-17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10" dirty="0">
                <a:solidFill>
                  <a:srgbClr val="111111"/>
                </a:solidFill>
                <a:latin typeface="Arial"/>
                <a:cs typeface="Arial"/>
              </a:rPr>
              <a:t>capteur </a:t>
            </a:r>
            <a:r>
              <a:rPr sz="1700" b="1" spc="-75" dirty="0">
                <a:solidFill>
                  <a:srgbClr val="111111"/>
                </a:solidFill>
                <a:latin typeface="Arial"/>
                <a:cs typeface="Arial"/>
              </a:rPr>
              <a:t>partagée,</a:t>
            </a:r>
            <a:r>
              <a:rPr sz="1700" b="1" spc="-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bases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uniques.</a:t>
            </a:r>
            <a:r>
              <a:rPr sz="1700" b="1" spc="-2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70" dirty="0">
                <a:solidFill>
                  <a:srgbClr val="111111"/>
                </a:solidFill>
                <a:latin typeface="Arial"/>
                <a:cs typeface="Arial"/>
              </a:rPr>
              <a:t>Une</a:t>
            </a:r>
            <a:r>
              <a:rPr sz="1700" b="1" spc="-18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5" dirty="0">
                <a:solidFill>
                  <a:srgbClr val="111111"/>
                </a:solidFill>
                <a:latin typeface="Arial"/>
                <a:cs typeface="Arial"/>
              </a:rPr>
              <a:t>panne</a:t>
            </a:r>
            <a:r>
              <a:rPr sz="1700" b="1" spc="-18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80" dirty="0">
                <a:solidFill>
                  <a:srgbClr val="111111"/>
                </a:solidFill>
                <a:latin typeface="Arial"/>
                <a:cs typeface="Arial"/>
              </a:rPr>
              <a:t>d’InfluxDB</a:t>
            </a:r>
            <a:r>
              <a:rPr sz="1700" b="1" spc="-19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95" dirty="0">
                <a:solidFill>
                  <a:srgbClr val="111111"/>
                </a:solidFill>
                <a:latin typeface="Arial"/>
                <a:cs typeface="Arial"/>
              </a:rPr>
              <a:t>suspend</a:t>
            </a:r>
            <a:r>
              <a:rPr sz="1700" b="1" spc="-135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30" dirty="0">
                <a:solidFill>
                  <a:srgbClr val="111111"/>
                </a:solidFill>
                <a:latin typeface="Arial"/>
                <a:cs typeface="Arial"/>
              </a:rPr>
              <a:t>la</a:t>
            </a:r>
            <a:r>
              <a:rPr sz="1700" b="1" spc="-250" dirty="0">
                <a:solidFill>
                  <a:srgbClr val="111111"/>
                </a:solidFill>
                <a:latin typeface="Arial"/>
                <a:cs typeface="Arial"/>
              </a:rPr>
              <a:t> </a:t>
            </a:r>
            <a:r>
              <a:rPr sz="1700" b="1" spc="-65" dirty="0">
                <a:solidFill>
                  <a:srgbClr val="111111"/>
                </a:solidFill>
                <a:latin typeface="Arial"/>
                <a:cs typeface="Arial"/>
              </a:rPr>
              <a:t>détection.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9599" y="6229348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005"/>
              </a:lnSpc>
            </a:pPr>
            <a:r>
              <a:rPr spc="-25" dirty="0"/>
              <a:t>FactorySense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005"/>
              </a:lnSpc>
            </a:pPr>
            <a:r>
              <a:rPr spc="-35" dirty="0"/>
              <a:t>4</a:t>
            </a:r>
            <a:r>
              <a:rPr spc="-70" dirty="0"/>
              <a:t> </a:t>
            </a:r>
            <a:r>
              <a:rPr dirty="0"/>
              <a:t>/</a:t>
            </a:r>
            <a:r>
              <a:rPr spc="-85" dirty="0"/>
              <a:t> </a:t>
            </a:r>
            <a:r>
              <a:rPr spc="-50" dirty="0"/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724</Words>
  <Application>Microsoft Macintosh PowerPoint</Application>
  <PresentationFormat>Grand écran</PresentationFormat>
  <Paragraphs>143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2" baseType="lpstr">
      <vt:lpstr>Arial MT</vt:lpstr>
      <vt:lpstr>Arial</vt:lpstr>
      <vt:lpstr>Calibri</vt:lpstr>
      <vt:lpstr>Lucida Console</vt:lpstr>
      <vt:lpstr>Microsoft Sans Serif</vt:lpstr>
      <vt:lpstr>Times New Roman</vt:lpstr>
      <vt:lpstr>Office Theme</vt:lpstr>
      <vt:lpstr>Présentation PowerPoint</vt:lpstr>
      <vt:lpstr>01 Besoins métier</vt:lpstr>
      <vt:lpstr>02 Besoins techniques</vt:lpstr>
      <vt:lpstr>03 Architecture proposée</vt:lpstr>
      <vt:lpstr>04 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cp:lastModifiedBy>Amine Slaoui</cp:lastModifiedBy>
  <cp:revision>1</cp:revision>
  <dcterms:created xsi:type="dcterms:W3CDTF">2026-09-28T13:28:27Z</dcterms:created>
  <dcterms:modified xsi:type="dcterms:W3CDTF">2026-09-28T13:29:47Z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oducer">
    <vt:lpwstr>Skia/PDF m153</vt:lpwstr>
  </property>
</Properties>
</file>