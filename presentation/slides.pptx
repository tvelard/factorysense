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déplacer la diapo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651C5B8-81D4-4FD6-8B55-8BEEE368F076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L’état</a:t>
            </a:r>
            <a:r>
              <a:rPr lang="fr-FR" sz="1400" b="1" u="none" spc="-11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du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parc</a:t>
            </a:r>
            <a:r>
              <a:rPr lang="fr-FR" sz="1400" b="1" u="none" spc="-113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un</a:t>
            </a:r>
            <a:r>
              <a:rPr lang="fr-FR" sz="140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coup</a:t>
            </a:r>
            <a:r>
              <a:rPr lang="fr-FR" sz="1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d’œil</a:t>
            </a:r>
            <a:r>
              <a:rPr lang="fr-FR" sz="1400" b="1" u="none" spc="-1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4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un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statut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par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machine,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normal,</a:t>
            </a:r>
            <a:r>
              <a:rPr lang="fr-FR" sz="1400" b="0" u="none" spc="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avertissement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ou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critique.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Les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tendances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historiques</a:t>
            </a: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vibration,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température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et</a:t>
            </a:r>
            <a:r>
              <a:rPr lang="fr-FR" sz="1400" b="0" u="none" spc="-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pression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pour</a:t>
            </a:r>
            <a:r>
              <a:rPr lang="fr-FR" sz="1400" b="0" u="none" spc="-113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comprendre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une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dérive.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ts val="1414"/>
              </a:lnSpc>
              <a:buNone/>
              <a:tabLst>
                <a:tab pos="0" algn="l"/>
              </a:tabLst>
            </a:pP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Des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seuils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explicites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par</a:t>
            </a:r>
            <a:r>
              <a:rPr lang="fr-FR" sz="1400" b="0" u="none" spc="-1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capteur,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avertissement</a:t>
            </a:r>
            <a:r>
              <a:rPr lang="fr-FR" sz="1400" b="0" u="none" spc="-5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puis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critique.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ts val="1414"/>
              </a:lnSpc>
              <a:buNone/>
              <a:tabLst>
                <a:tab pos="0" algn="l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1400" b="1" u="none" spc="-51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temps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réel</a:t>
            </a:r>
            <a:r>
              <a:rPr lang="fr-FR" sz="1400" b="1" u="none" spc="-2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dès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qu’un</a:t>
            </a:r>
            <a:r>
              <a:rPr lang="fr-FR" sz="1400" b="0" u="none" spc="-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seuil</a:t>
            </a:r>
            <a:r>
              <a:rPr lang="fr-FR" sz="1400" b="0" u="none" spc="-1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est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franchi,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recharger</a:t>
            </a:r>
            <a:r>
              <a:rPr lang="fr-FR" sz="1400" b="0" u="none" spc="-14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pc="-15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page.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Prioriser</a:t>
            </a:r>
            <a:r>
              <a:rPr lang="fr-FR" sz="1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critique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avant</a:t>
            </a:r>
            <a:r>
              <a:rPr lang="fr-FR" sz="1400" b="0" u="none" spc="-7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l’avertissement,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seule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alerte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par</a:t>
            </a:r>
            <a:r>
              <a:rPr lang="fr-FR" sz="1400" b="0" u="none" spc="-13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franchissement.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6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Acquitter</a:t>
            </a:r>
            <a:r>
              <a:rPr lang="fr-FR" sz="1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l’alerte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l’heure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prise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charge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reste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enregistrée.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6000"/>
              </a:lnSpc>
              <a:spcBef>
                <a:spcPts val="96"/>
              </a:spcBef>
              <a:buNone/>
              <a:tabLst>
                <a:tab pos="0" algn="l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Moins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d’arrêts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non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 planifiés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pc="-13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maintenance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intervient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pendant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pc="-15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dérive,</a:t>
            </a:r>
            <a:r>
              <a:rPr lang="fr-FR" sz="1400" b="0" u="none" spc="3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pas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après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la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casse.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3000"/>
              </a:lnSpc>
              <a:spcBef>
                <a:spcPts val="60"/>
              </a:spcBef>
              <a:buNone/>
              <a:tabLst>
                <a:tab pos="0" algn="l"/>
              </a:tabLst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Économies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interventions</a:t>
            </a:r>
            <a:r>
              <a:rPr lang="fr-FR" sz="1400" b="0" u="none" spc="-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planifiées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plutôt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qu’en</a:t>
            </a:r>
            <a:r>
              <a:rPr lang="fr-FR" sz="1400" b="0" u="none" spc="-5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urgence,</a:t>
            </a:r>
            <a:r>
              <a:rPr lang="fr-FR" sz="1400" b="0" u="none" spc="4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pièces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remplacées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avant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d’endommager</a:t>
            </a:r>
            <a:r>
              <a:rPr lang="fr-FR" sz="1400" b="0" u="none" spc="-113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le</a:t>
            </a:r>
            <a:r>
              <a:rPr lang="fr-FR" sz="1400" b="0" u="none" spc="-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reste.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0" algn="l"/>
              </a:tabLst>
            </a:pP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Conformité</a:t>
            </a:r>
            <a:r>
              <a:rPr lang="fr-FR" sz="14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journal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horodaté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des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alertes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et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des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acquittements,</a:t>
            </a:r>
            <a:r>
              <a:rPr lang="fr-FR" sz="1400" b="0" u="none" spc="4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exploitable</a:t>
            </a:r>
            <a:r>
              <a:rPr lang="fr-FR" sz="1400" b="0" u="none" spc="-9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5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audit.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Ingestion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Le sensor-simulator envoie du HTTP POST à load-balancer:8000 avec un header X-API-Key, et nginx transmet à une réplique du backend      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fr-FR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Détection (FastAPI)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  Pas d'appel réseau, c'est du calcul en mémoire pendant la même requête, avec les seuils de config.py        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Séries temporelles           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Le backend écrit et lit en HTTP sur le port 8086 (requêtes Flux). Seul le backend y accède                          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fr-FR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Alertes (PostgreSQL)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Le backend s'y connecte par le protocole Postgres (5432) via un pool de connexions. « Partagé » veut dire que toutes les répliques du  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fr-FR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réel (WebSocket)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Chaîne en 3 étapes, détaillée plus bas                                                                                                   │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fr-FR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Visualisation (Node) 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Le navigateur ne parle qu'au serveur Node, qui relaie les appels au backend (/api/machines → GET /machines, etc.) 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fr-FR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Répartition (nginx)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Deux ports : 3000 vers les frontend, 8000 vers les backend. Le DNS Docker (resolver 127.0.0.11) lui fait découvrir automatiquement les  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/>
          <p:cNvSpPr/>
          <p:nvPr/>
        </p:nvSpPr>
        <p:spPr>
          <a:xfrm>
            <a:off x="609480" y="1390680"/>
            <a:ext cx="10972080" cy="374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37440"/>
              <a:gd name="textAreaBottom" fmla="*/ 38160 h 3744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2126160"/>
            <a:ext cx="10362600" cy="47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pour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éditer le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 texte-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titre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596880" y="6363720"/>
            <a:ext cx="734040" cy="13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&lt;pied de page&gt;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1307600" y="6363720"/>
            <a:ext cx="288720" cy="13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fld id="{75C7805A-9E62-4783-8B30-9EE67E5B0507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&lt;numéro&gt;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 object 16"/>
          <p:cNvSpPr/>
          <p:nvPr/>
        </p:nvSpPr>
        <p:spPr>
          <a:xfrm>
            <a:off x="609480" y="1390680"/>
            <a:ext cx="10972080" cy="374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37440"/>
              <a:gd name="textAreaBottom" fmla="*/ 38160 h 3744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692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pour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éditer le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 texte-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titre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571320" y="1715040"/>
            <a:ext cx="11048400" cy="319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2286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4"/>
          </p:nvPr>
        </p:nvSpPr>
        <p:spPr>
          <a:xfrm>
            <a:off x="596880" y="6363720"/>
            <a:ext cx="734040" cy="13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&lt;pied de page&gt;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5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11307600" y="6363720"/>
            <a:ext cx="288720" cy="13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fld id="{52B33134-B296-40CF-8040-5DCA2CF45F9D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&lt;numéro&gt;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 object 16"/>
          <p:cNvSpPr/>
          <p:nvPr/>
        </p:nvSpPr>
        <p:spPr>
          <a:xfrm>
            <a:off x="609480" y="1390680"/>
            <a:ext cx="10972080" cy="374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37440"/>
              <a:gd name="textAreaBottom" fmla="*/ 38160 h 3744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692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pour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éditer le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 texte-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titre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577520"/>
            <a:ext cx="5302800" cy="2408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2286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78760" y="1577520"/>
            <a:ext cx="5302800" cy="2408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2286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7"/>
          </p:nvPr>
        </p:nvSpPr>
        <p:spPr>
          <a:xfrm>
            <a:off x="596880" y="6363720"/>
            <a:ext cx="734040" cy="13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&lt;pied de page&gt;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8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11307600" y="6363720"/>
            <a:ext cx="288720" cy="13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fld id="{3AC0E704-23C8-4D6E-8EE8-2E902B238B97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&lt;numéro&gt;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g object 16"/>
          <p:cNvSpPr/>
          <p:nvPr/>
        </p:nvSpPr>
        <p:spPr>
          <a:xfrm>
            <a:off x="609480" y="1390680"/>
            <a:ext cx="10972080" cy="374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37440"/>
              <a:gd name="textAreaBottom" fmla="*/ 38160 h 3744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692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li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u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z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u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it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u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x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-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0"/>
          </p:nvPr>
        </p:nvSpPr>
        <p:spPr>
          <a:xfrm>
            <a:off x="596880" y="6363720"/>
            <a:ext cx="734040" cy="13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&lt;pied de page&gt;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1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11307600" y="6363720"/>
            <a:ext cx="288720" cy="13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fld id="{C52C2E23-AF05-4515-850B-34132228C824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&lt;numéro&gt;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bg object 16"/>
          <p:cNvSpPr/>
          <p:nvPr/>
        </p:nvSpPr>
        <p:spPr>
          <a:xfrm>
            <a:off x="609480" y="1390680"/>
            <a:ext cx="10972080" cy="374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37440"/>
              <a:gd name="textAreaBottom" fmla="*/ 38160 h 3744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ftr" idx="13"/>
          </p:nvPr>
        </p:nvSpPr>
        <p:spPr>
          <a:xfrm>
            <a:off x="596880" y="6363720"/>
            <a:ext cx="734040" cy="13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&lt;pied de page&gt;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4"/>
          </p:nvPr>
        </p:nvSpPr>
        <p:spPr>
          <a:xfrm>
            <a:off x="609480" y="6378120"/>
            <a:ext cx="2803320" cy="342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5"/>
          </p:nvPr>
        </p:nvSpPr>
        <p:spPr>
          <a:xfrm>
            <a:off x="11307600" y="6363720"/>
            <a:ext cx="288720" cy="13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fld id="{B420B8D2-A83C-4DDE-A9C8-22D76D6D7D85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&lt;numéro&gt;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tVelard/FactorySense" TargetMode="External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3"/>
          <p:cNvSpPr/>
          <p:nvPr/>
        </p:nvSpPr>
        <p:spPr>
          <a:xfrm>
            <a:off x="596880" y="2894400"/>
            <a:ext cx="6899760" cy="222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4092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2684"/>
              </a:spcBef>
            </a:pPr>
            <a:r>
              <a:rPr lang="fr-FR" sz="7300" b="1" u="none" spc="-235" strike="noStrike">
                <a:solidFill>
                  <a:srgbClr val="111111"/>
                </a:solidFill>
                <a:effectLst/>
                <a:uFillTx/>
                <a:latin typeface="Arial"/>
              </a:rPr>
              <a:t>F</a:t>
            </a:r>
            <a:r>
              <a:rPr lang="fr-FR" sz="7300" b="1" u="none" spc="-196" strike="noStrike">
                <a:solidFill>
                  <a:srgbClr val="111111"/>
                </a:solidFill>
                <a:effectLst/>
                <a:uFillTx/>
                <a:latin typeface="Arial"/>
              </a:rPr>
              <a:t>a</a:t>
            </a:r>
            <a:r>
              <a:rPr lang="fr-FR" sz="7300" b="1" u="none" spc="31" strike="noStrike">
                <a:solidFill>
                  <a:srgbClr val="111111"/>
                </a:solidFill>
                <a:effectLst/>
                <a:uFillTx/>
                <a:latin typeface="Arial"/>
              </a:rPr>
              <a:t>c</a:t>
            </a:r>
            <a:r>
              <a:rPr lang="fr-FR" sz="7300" b="1" u="none" spc="99" strike="noStrike">
                <a:solidFill>
                  <a:srgbClr val="111111"/>
                </a:solidFill>
                <a:effectLst/>
                <a:uFillTx/>
                <a:latin typeface="Arial"/>
              </a:rPr>
              <a:t>t</a:t>
            </a:r>
            <a:r>
              <a:rPr lang="fr-FR" sz="730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o</a:t>
            </a:r>
            <a:r>
              <a:rPr lang="fr-FR" sz="73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r</a:t>
            </a:r>
            <a:r>
              <a:rPr lang="fr-FR" sz="7300" b="1" u="none" spc="-235" strike="noStrike">
                <a:solidFill>
                  <a:srgbClr val="111111"/>
                </a:solidFill>
                <a:effectLst/>
                <a:uFillTx/>
                <a:latin typeface="Arial"/>
              </a:rPr>
              <a:t>y</a:t>
            </a:r>
            <a:r>
              <a:rPr lang="fr-FR" sz="73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7300" b="1" u="none" spc="11" strike="noStrike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r>
              <a:rPr lang="fr-FR" sz="7300" b="1" u="none" spc="156" strike="noStrike">
                <a:solidFill>
                  <a:srgbClr val="111111"/>
                </a:solidFill>
                <a:effectLst/>
                <a:uFillTx/>
                <a:latin typeface="Arial"/>
              </a:rPr>
              <a:t>n</a:t>
            </a:r>
            <a:r>
              <a:rPr lang="fr-FR" sz="73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7300" b="1" u="none" spc="380" strike="noStrike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endParaRPr lang="fr-FR" sz="7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ts val="2551"/>
              </a:lnSpc>
              <a:spcBef>
                <a:spcPts val="924"/>
              </a:spcBef>
            </a:pPr>
            <a:r>
              <a:rPr lang="fr-FR" sz="22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Surveiller</a:t>
            </a:r>
            <a:r>
              <a:rPr lang="fr-FR" sz="2200" b="0" u="none" spc="-25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2200" b="0" u="none" spc="-18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équipements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production</a:t>
            </a:r>
            <a:r>
              <a:rPr lang="fr-FR" sz="2200" b="0" u="none" spc="-136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99" strike="noStrike">
                <a:solidFill>
                  <a:srgbClr val="4A4A4A"/>
                </a:solidFill>
                <a:effectLst/>
                <a:uFillTx/>
                <a:latin typeface="Arial MT"/>
              </a:rPr>
              <a:t>en</a:t>
            </a:r>
            <a:r>
              <a:rPr lang="fr-FR" sz="2200" b="0" u="none" spc="-13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temps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113" strike="noStrike">
                <a:solidFill>
                  <a:srgbClr val="4A4A4A"/>
                </a:solidFill>
                <a:effectLst/>
                <a:uFillTx/>
                <a:latin typeface="Arial MT"/>
              </a:rPr>
              <a:t>réel</a:t>
            </a:r>
            <a:r>
              <a:rPr lang="fr-FR" sz="22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pour </a:t>
            </a:r>
            <a:r>
              <a:rPr lang="fr-FR" sz="220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éviter</a:t>
            </a:r>
            <a:r>
              <a:rPr lang="fr-FR" sz="2200" b="0" u="none" spc="-25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arrêts</a:t>
            </a:r>
            <a:r>
              <a:rPr lang="fr-FR" sz="2200" b="0" u="none" spc="-18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coûteux.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object 4"/>
          <p:cNvSpPr/>
          <p:nvPr/>
        </p:nvSpPr>
        <p:spPr>
          <a:xfrm>
            <a:off x="609480" y="5495760"/>
            <a:ext cx="10972080" cy="374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37440"/>
              <a:gd name="textAreaBottom" fmla="*/ 38160 h 3744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object 5"/>
          <p:cNvSpPr/>
          <p:nvPr/>
        </p:nvSpPr>
        <p:spPr>
          <a:xfrm>
            <a:off x="596880" y="5674680"/>
            <a:ext cx="138348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76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13"/>
              </a:spcBef>
            </a:pPr>
            <a:r>
              <a:rPr lang="fr-FR" sz="15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Amine SLAOUI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object 6"/>
          <p:cNvSpPr/>
          <p:nvPr/>
        </p:nvSpPr>
        <p:spPr>
          <a:xfrm>
            <a:off x="2463840" y="5674680"/>
            <a:ext cx="15739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76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13"/>
              </a:spcBef>
            </a:pPr>
            <a:r>
              <a:rPr lang="fr-FR" sz="15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Thomas VELARD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object 9"/>
          <p:cNvSpPr/>
          <p:nvPr/>
        </p:nvSpPr>
        <p:spPr>
          <a:xfrm>
            <a:off x="10510920" y="5646600"/>
            <a:ext cx="1085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0" anchor="t">
            <a:spAutoFit/>
          </a:bodyPr>
          <a:p>
            <a:pPr algn="r" defTabSz="914400">
              <a:lnSpc>
                <a:spcPct val="100000"/>
              </a:lnSpc>
              <a:spcBef>
                <a:spcPts val="289"/>
              </a:spcBef>
            </a:pPr>
            <a:r>
              <a:rPr lang="fr-FR" sz="115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Télécom</a:t>
            </a:r>
            <a:r>
              <a:rPr lang="fr-FR" sz="115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Paris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spcBef>
                <a:spcPts val="196"/>
              </a:spcBef>
            </a:pP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Septembre</a:t>
            </a:r>
            <a:r>
              <a:rPr lang="fr-FR" sz="115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2026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10"/>
          <p:cNvPicPr/>
          <p:nvPr/>
        </p:nvPicPr>
        <p:blipFill>
          <a:blip r:embed="rId1"/>
          <a:stretch/>
        </p:blipFill>
        <p:spPr>
          <a:xfrm>
            <a:off x="10591920" y="343080"/>
            <a:ext cx="1271160" cy="1789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619200"/>
            <a:ext cx="4917240" cy="106920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 defTabSz="914400">
              <a:lnSpc>
                <a:spcPct val="100000"/>
              </a:lnSpc>
              <a:spcBef>
                <a:spcPts val="136"/>
              </a:spcBef>
              <a:buNone/>
              <a:tabLst>
                <a:tab pos="0" algn="l"/>
              </a:tabLst>
            </a:pP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Besoins</a:t>
            </a:r>
            <a:r>
              <a:rPr lang="fr-FR" sz="3450" b="1" u="none" spc="-51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métier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" name="object 3"/>
          <p:cNvSpPr/>
          <p:nvPr/>
        </p:nvSpPr>
        <p:spPr>
          <a:xfrm>
            <a:off x="596880" y="1641240"/>
            <a:ext cx="1099944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3920" rIns="0" bIns="0" anchor="t">
            <a:spAutoFit/>
          </a:bodyPr>
          <a:p>
            <a:pPr marL="12600" defTabSz="914400">
              <a:lnSpc>
                <a:spcPts val="2631"/>
              </a:lnSpc>
              <a:spcBef>
                <a:spcPts val="346"/>
              </a:spcBef>
            </a:pPr>
            <a:r>
              <a:rPr lang="fr-FR" sz="2400" b="1" u="none" spc="-139" strike="noStrike">
                <a:solidFill>
                  <a:srgbClr val="111111"/>
                </a:solidFill>
                <a:effectLst/>
                <a:uFillTx/>
                <a:latin typeface="Arial"/>
              </a:rPr>
              <a:t>Voir</a:t>
            </a:r>
            <a:r>
              <a:rPr lang="fr-FR" sz="2400" b="1" u="none" spc="-32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2400" b="1" u="none" spc="-26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6" strike="noStrike">
                <a:solidFill>
                  <a:srgbClr val="111111"/>
                </a:solidFill>
                <a:effectLst/>
                <a:uFillTx/>
                <a:latin typeface="Arial"/>
              </a:rPr>
              <a:t>machine</a:t>
            </a:r>
            <a:r>
              <a:rPr lang="fr-FR" sz="2400" b="1" u="none" spc="-25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dériver</a:t>
            </a:r>
            <a:r>
              <a:rPr lang="fr-FR" sz="2400" b="1" u="none" spc="-32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avant</a:t>
            </a:r>
            <a:r>
              <a:rPr lang="fr-FR" sz="2400" b="1" u="none" spc="-24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qu’elle</a:t>
            </a:r>
            <a:r>
              <a:rPr lang="fr-FR" sz="2400" b="1" u="none" spc="-25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tombe</a:t>
            </a:r>
            <a:r>
              <a:rPr lang="fr-FR" sz="2400" b="1" u="none" spc="-26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2400" b="1" u="none" spc="-19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1" strike="noStrike">
                <a:solidFill>
                  <a:srgbClr val="111111"/>
                </a:solidFill>
                <a:effectLst/>
                <a:uFillTx/>
                <a:latin typeface="Arial"/>
              </a:rPr>
              <a:t>panne, </a:t>
            </a:r>
            <a:r>
              <a:rPr lang="fr-FR" sz="2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et</a:t>
            </a:r>
            <a:r>
              <a:rPr lang="fr-FR" sz="2400" b="1" u="none" spc="-24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9" strike="noStrike">
                <a:solidFill>
                  <a:srgbClr val="111111"/>
                </a:solidFill>
                <a:effectLst/>
                <a:uFillTx/>
                <a:latin typeface="Arial"/>
              </a:rPr>
              <a:t>prouver</a:t>
            </a:r>
            <a:r>
              <a:rPr lang="fr-FR" sz="2400" b="1" u="none" spc="-33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que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chaque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</a:t>
            </a:r>
            <a:r>
              <a:rPr lang="fr-FR" sz="2400" b="1" u="none" spc="-36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été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prise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2400" b="1" u="none" spc="-20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charge.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object 17"/>
          <p:cNvSpPr/>
          <p:nvPr/>
        </p:nvSpPr>
        <p:spPr>
          <a:xfrm>
            <a:off x="8064360" y="2674440"/>
            <a:ext cx="20692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91"/>
              </a:spcBef>
            </a:pP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Bénéfices</a:t>
            </a:r>
            <a:r>
              <a:rPr lang="fr-FR" sz="1600" b="1" u="none" spc="-34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attendus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object 6"/>
          <p:cNvSpPr/>
          <p:nvPr/>
        </p:nvSpPr>
        <p:spPr>
          <a:xfrm>
            <a:off x="596880" y="3195000"/>
            <a:ext cx="34498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L’état</a:t>
            </a:r>
            <a:r>
              <a:rPr lang="fr-FR" sz="1400" b="1" u="none" spc="-11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du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parc</a:t>
            </a:r>
            <a:r>
              <a:rPr lang="fr-FR" sz="1400" b="1" u="none" spc="-113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un</a:t>
            </a:r>
            <a:r>
              <a:rPr lang="fr-FR" sz="140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instant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object 11"/>
          <p:cNvSpPr/>
          <p:nvPr/>
        </p:nvSpPr>
        <p:spPr>
          <a:xfrm>
            <a:off x="4407120" y="3185640"/>
            <a:ext cx="335016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51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temps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réel</a:t>
            </a:r>
            <a:r>
              <a:rPr lang="fr-FR" sz="1400" b="1" u="none" spc="-2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object 18"/>
          <p:cNvSpPr/>
          <p:nvPr/>
        </p:nvSpPr>
        <p:spPr>
          <a:xfrm>
            <a:off x="8064360" y="3195000"/>
            <a:ext cx="347400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Moins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d’arrêts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non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 planifiés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object 7"/>
          <p:cNvSpPr/>
          <p:nvPr/>
        </p:nvSpPr>
        <p:spPr>
          <a:xfrm>
            <a:off x="596880" y="3530520"/>
            <a:ext cx="357048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Les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tendances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historiques des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machines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object 12"/>
          <p:cNvSpPr/>
          <p:nvPr/>
        </p:nvSpPr>
        <p:spPr>
          <a:xfrm>
            <a:off x="4396320" y="3521160"/>
            <a:ext cx="323712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Prioriser les interventions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object 13"/>
          <p:cNvSpPr/>
          <p:nvPr/>
        </p:nvSpPr>
        <p:spPr>
          <a:xfrm>
            <a:off x="4396320" y="3870720"/>
            <a:ext cx="335772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6000"/>
              </a:lnSpc>
              <a:spcBef>
                <a:spcPts val="96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Acquitter</a:t>
            </a:r>
            <a:r>
              <a:rPr lang="fr-FR" sz="1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l’alerte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object 19"/>
          <p:cNvSpPr/>
          <p:nvPr/>
        </p:nvSpPr>
        <p:spPr>
          <a:xfrm>
            <a:off x="8084160" y="3530880"/>
            <a:ext cx="3255480" cy="2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560" rIns="0" bIns="0" anchor="t">
            <a:spAutoFit/>
          </a:bodyPr>
          <a:p>
            <a:pPr marL="12600" defTabSz="914400">
              <a:lnSpc>
                <a:spcPct val="113000"/>
              </a:lnSpc>
              <a:spcBef>
                <a:spcPts val="60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Économies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object 20"/>
          <p:cNvSpPr/>
          <p:nvPr/>
        </p:nvSpPr>
        <p:spPr>
          <a:xfrm>
            <a:off x="8083440" y="3890520"/>
            <a:ext cx="331344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Conformité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object 21"/>
          <p:cNvSpPr/>
          <p:nvPr/>
        </p:nvSpPr>
        <p:spPr>
          <a:xfrm>
            <a:off x="609480" y="6229440"/>
            <a:ext cx="10972080" cy="86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8640"/>
              <a:gd name="textAreaBottom" fmla="*/ 9360 h 864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ftr" idx="19"/>
          </p:nvPr>
        </p:nvSpPr>
        <p:spPr>
          <a:xfrm>
            <a:off x="596880" y="6363720"/>
            <a:ext cx="73404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sldNum" idx="20"/>
          </p:nvPr>
        </p:nvSpPr>
        <p:spPr>
          <a:xfrm>
            <a:off x="11307600" y="6363720"/>
            <a:ext cx="28872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1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" name="Image 23"/>
          <p:cNvPicPr/>
          <p:nvPr/>
        </p:nvPicPr>
        <p:blipFill>
          <a:blip r:embed="rId1"/>
          <a:stretch/>
        </p:blipFill>
        <p:spPr>
          <a:xfrm>
            <a:off x="11288880" y="103680"/>
            <a:ext cx="81144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ZoneTexte 27"/>
          <p:cNvSpPr/>
          <p:nvPr/>
        </p:nvSpPr>
        <p:spPr>
          <a:xfrm>
            <a:off x="501840" y="3850920"/>
            <a:ext cx="366948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12600" defTabSz="914400">
              <a:lnSpc>
                <a:spcPts val="1414"/>
              </a:lnSpc>
              <a:tabLst>
                <a:tab pos="3557880" algn="l"/>
              </a:tabLst>
            </a:pP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Des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seuils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explicites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ZoneTexte 29"/>
          <p:cNvSpPr/>
          <p:nvPr/>
        </p:nvSpPr>
        <p:spPr>
          <a:xfrm>
            <a:off x="506160" y="2648160"/>
            <a:ext cx="276948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Ingénieurs</a:t>
            </a:r>
            <a:r>
              <a:rPr lang="fr-FR" sz="1600" b="1" u="none" spc="-125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de</a:t>
            </a:r>
            <a:r>
              <a:rPr lang="fr-FR" sz="1600" b="1" u="none" spc="-125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productio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n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ZoneTexte 31"/>
          <p:cNvSpPr/>
          <p:nvPr/>
        </p:nvSpPr>
        <p:spPr>
          <a:xfrm>
            <a:off x="4308120" y="2648160"/>
            <a:ext cx="276948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Équipes</a:t>
            </a:r>
            <a:r>
              <a:rPr lang="fr-FR" sz="1600" b="1" u="none" spc="-119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de</a:t>
            </a:r>
            <a:r>
              <a:rPr lang="fr-FR" sz="1600" b="1" u="none" spc="-119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maintenance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96880" y="610560"/>
            <a:ext cx="5862960" cy="54864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 defTabSz="914400">
              <a:lnSpc>
                <a:spcPct val="100000"/>
              </a:lnSpc>
              <a:spcBef>
                <a:spcPts val="136"/>
              </a:spcBef>
              <a:buNone/>
              <a:tabLst>
                <a:tab pos="0" algn="l"/>
              </a:tabLst>
            </a:pP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B</a:t>
            </a: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o</a:t>
            </a: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i</a:t>
            </a: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n</a:t>
            </a: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3450" b="1" u="none" spc="-51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t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c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h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n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i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q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u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0" name="object 5"/>
          <p:cNvSpPr/>
          <p:nvPr/>
        </p:nvSpPr>
        <p:spPr>
          <a:xfrm>
            <a:off x="596880" y="1738800"/>
            <a:ext cx="202932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Services</a:t>
            </a:r>
            <a:r>
              <a:rPr lang="fr-FR" sz="1500" b="1" u="none" spc="-125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113" strike="noStrike">
                <a:solidFill>
                  <a:srgbClr val="C00000"/>
                </a:solidFill>
                <a:effectLst/>
                <a:uFillTx/>
                <a:latin typeface="Arial"/>
              </a:rPr>
              <a:t>à</a:t>
            </a:r>
            <a:r>
              <a:rPr lang="fr-FR" sz="1500" b="1" u="none" spc="-190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développer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object 8"/>
          <p:cNvSpPr/>
          <p:nvPr/>
        </p:nvSpPr>
        <p:spPr>
          <a:xfrm>
            <a:off x="6197760" y="1738800"/>
            <a:ext cx="33418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Données</a:t>
            </a:r>
            <a:r>
              <a:rPr lang="fr-FR" sz="1500" b="1" u="none" spc="-130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113" strike="noStrike">
                <a:solidFill>
                  <a:srgbClr val="C00000"/>
                </a:solidFill>
                <a:effectLst/>
                <a:uFillTx/>
                <a:latin typeface="Arial"/>
              </a:rPr>
              <a:t>à</a:t>
            </a:r>
            <a:r>
              <a:rPr lang="fr-FR" sz="1500" b="1" u="none" spc="-196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stocker</a:t>
            </a:r>
            <a:r>
              <a:rPr lang="fr-FR" sz="1500" b="1" u="none" spc="-184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51" strike="noStrike">
                <a:solidFill>
                  <a:srgbClr val="C00000"/>
                </a:solidFill>
                <a:effectLst/>
                <a:uFillTx/>
                <a:latin typeface="Arial"/>
              </a:rPr>
              <a:t>et</a:t>
            </a:r>
            <a:r>
              <a:rPr lang="fr-FR" sz="1500" b="1" u="none" spc="-111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sécuriser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object 4"/>
          <p:cNvGraphicFramePr/>
          <p:nvPr/>
        </p:nvGraphicFramePr>
        <p:xfrm>
          <a:off x="687240" y="2340000"/>
          <a:ext cx="5370480" cy="2892240"/>
        </p:xfrm>
        <a:graphic>
          <a:graphicData uri="http://schemas.openxmlformats.org/drawingml/2006/table">
            <a:tbl>
              <a:tblPr/>
              <a:tblGrid>
                <a:gridCol w="1460880"/>
                <a:gridCol w="2817360"/>
                <a:gridCol w="1092600"/>
              </a:tblGrid>
              <a:tr h="248040">
                <a:tc>
                  <a:txBody>
                    <a:bodyPr lIns="0" tIns="0" rIns="0" bIns="0" anchor="t">
                      <a:noAutofit/>
                    </a:bodyPr>
                    <a:p>
                      <a:pPr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Service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68760" defTabSz="914400">
                        <a:lnSpc>
                          <a:spcPts val="1125"/>
                        </a:lnSpc>
                      </a:pPr>
                      <a:r>
                        <a:rPr lang="fr-FR" sz="1150" b="1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Rôle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71640"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Brique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Ingestion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Télémétrie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authentifiés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FastAPI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46728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Détection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Seuils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:</a:t>
                      </a:r>
                      <a:r>
                        <a:rPr lang="fr-FR" sz="1300" b="0" u="none" spc="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franchissement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FastAPI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7044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Séries</a:t>
                      </a:r>
                      <a:r>
                        <a:rPr lang="fr-FR" sz="1300" b="1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temporelles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Historique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mesures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InfluxDB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État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actif</a:t>
                      </a:r>
                      <a:r>
                        <a:rPr lang="fr-FR" sz="1300" b="0" u="none" spc="-12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25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Microsoft Sans Serif"/>
                        </a:rPr>
                        <a:t>→</a:t>
                      </a:r>
                      <a:r>
                        <a:rPr lang="fr-FR" sz="125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Microsoft Sans Serif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acquitté,</a:t>
                      </a:r>
                      <a:r>
                        <a:rPr lang="fr-FR" sz="1300" b="0" u="none" spc="1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partagé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PostgreSQL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Temps</a:t>
                      </a:r>
                      <a:r>
                        <a:rPr lang="fr-FR" sz="1300" b="1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réel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Pousser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les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navigateur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WebSocket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Visualisation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Tableau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10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bord,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courbes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Node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216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Répartition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Charge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répartie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entre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nginx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3" name="object 7"/>
          <p:cNvGraphicFramePr/>
          <p:nvPr/>
        </p:nvGraphicFramePr>
        <p:xfrm>
          <a:off x="6210360" y="2315160"/>
          <a:ext cx="5371920" cy="2904840"/>
        </p:xfrm>
        <a:graphic>
          <a:graphicData uri="http://schemas.openxmlformats.org/drawingml/2006/table">
            <a:tbl>
              <a:tblPr/>
              <a:tblGrid>
                <a:gridCol w="1041840"/>
                <a:gridCol w="2372760"/>
                <a:gridCol w="1957680"/>
              </a:tblGrid>
              <a:tr h="280800">
                <a:tc>
                  <a:txBody>
                    <a:bodyPr lIns="0" tIns="0" rIns="0" bIns="0" anchor="t">
                      <a:noAutofit/>
                    </a:bodyPr>
                    <a:p>
                      <a:pPr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Donnée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163800"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Enjeu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74880"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Protection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  <a:tr h="65196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Télémétrie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16380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Intégrité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:</a:t>
                      </a:r>
                      <a:r>
                        <a:rPr lang="fr-FR" sz="1300" b="0" u="none" spc="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mesure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falsifiée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masque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panne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authentifiés,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880" defTabSz="914400">
                        <a:lnSpc>
                          <a:spcPct val="100000"/>
                        </a:lnSpc>
                        <a:spcBef>
                          <a:spcPts val="91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entrées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validées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2508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ts val="1539"/>
                        </a:lnSpc>
                      </a:pPr>
                      <a:r>
                        <a:rPr lang="fr-FR" sz="1300" b="1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  <a:ea typeface="Noto Sans CJK SC"/>
                        </a:rPr>
                        <a:t>Journal</a:t>
                      </a:r>
                      <a:r>
                        <a:rPr lang="fr-FR" sz="1300" b="1" u="none" spc="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  <a:ea typeface="Noto Sans CJK SC"/>
                        </a:rPr>
                        <a:t> </a:t>
                      </a:r>
                      <a:r>
                        <a:rPr lang="fr-FR" sz="1300" b="1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  <a:ea typeface="Noto Sans CJK SC"/>
                        </a:rPr>
                        <a:t>des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163800" defTabSz="914400">
                        <a:lnSpc>
                          <a:spcPts val="1539"/>
                        </a:lnSpc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Registre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de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maintenance,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preuve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audit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 defTabSz="914400">
                        <a:lnSpc>
                          <a:spcPts val="1539"/>
                        </a:lnSpc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Base</a:t>
                      </a:r>
                      <a:r>
                        <a:rPr lang="fr-FR" sz="1300" b="0" u="none" spc="-10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interne,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  <a:ea typeface="Noto Sans CJK SC"/>
                        </a:rPr>
                        <a:t> non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exposée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65196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Secrets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16380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Tokens,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mots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10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passe,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clé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200" b="0" u="none" spc="-28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.</a:t>
                      </a:r>
                      <a:r>
                        <a:rPr lang="fr-FR" sz="1200" b="0" u="none" spc="-51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 </a:t>
                      </a:r>
                      <a:r>
                        <a:rPr lang="fr-FR" sz="12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env</a:t>
                      </a:r>
                      <a:r>
                        <a:rPr lang="fr-FR" sz="1200" b="0" u="none" spc="-45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hors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du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dépôt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88092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Seuils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16380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seuil</a:t>
                      </a:r>
                      <a:r>
                        <a:rPr lang="fr-FR" sz="1300" b="0" u="none" spc="-1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erroné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rend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l’alerte muette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Versionnés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avec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le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code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4" name="object 9"/>
          <p:cNvSpPr/>
          <p:nvPr/>
        </p:nvSpPr>
        <p:spPr>
          <a:xfrm>
            <a:off x="3506760" y="5580000"/>
            <a:ext cx="51778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algn="ctr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Exigences</a:t>
            </a:r>
            <a:r>
              <a:rPr lang="fr-FR" sz="140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transverses</a:t>
            </a:r>
            <a:r>
              <a:rPr lang="fr-FR" sz="140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9" strike="noStrike">
                <a:solidFill>
                  <a:srgbClr val="4A4A4A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54" strike="noStrike">
                <a:solidFill>
                  <a:srgbClr val="4A4A4A"/>
                </a:solidFill>
                <a:effectLst/>
                <a:uFillTx/>
                <a:latin typeface="Arial MT"/>
              </a:rPr>
              <a:t> scalable</a:t>
            </a:r>
            <a:r>
              <a:rPr lang="fr-FR" sz="14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,</a:t>
            </a:r>
            <a:r>
              <a:rPr lang="fr-FR" sz="1400" b="0" u="none" spc="4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redémarrage </a:t>
            </a:r>
            <a:r>
              <a:rPr lang="fr-FR" sz="14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automatique,</a:t>
            </a:r>
            <a:r>
              <a:rPr lang="fr-FR" sz="1400" b="0" u="none" spc="3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4A4A4A"/>
                </a:solidFill>
                <a:effectLst/>
                <a:uFillTx/>
                <a:latin typeface="Arial MT"/>
              </a:rPr>
              <a:t>démarrage</a:t>
            </a:r>
            <a:r>
              <a:rPr lang="fr-FR" sz="1400" b="0" u="none" spc="-96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4A4A4A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5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pc="-99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commande.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object 10"/>
          <p:cNvSpPr/>
          <p:nvPr/>
        </p:nvSpPr>
        <p:spPr>
          <a:xfrm>
            <a:off x="609480" y="6229440"/>
            <a:ext cx="10972080" cy="86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8640"/>
              <a:gd name="textAreaBottom" fmla="*/ 9360 h 864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ftr" idx="21"/>
          </p:nvPr>
        </p:nvSpPr>
        <p:spPr>
          <a:xfrm>
            <a:off x="596880" y="6363720"/>
            <a:ext cx="73404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2"/>
          </p:nvPr>
        </p:nvSpPr>
        <p:spPr>
          <a:xfrm>
            <a:off x="11307600" y="6363720"/>
            <a:ext cx="28872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8" name="Image 12"/>
          <p:cNvPicPr/>
          <p:nvPr/>
        </p:nvPicPr>
        <p:blipFill>
          <a:blip r:embed="rId1"/>
          <a:stretch/>
        </p:blipFill>
        <p:spPr>
          <a:xfrm>
            <a:off x="11288880" y="103680"/>
            <a:ext cx="811440" cy="1143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object 62"/>
          <p:cNvSpPr/>
          <p:nvPr/>
        </p:nvSpPr>
        <p:spPr>
          <a:xfrm>
            <a:off x="900000" y="5326560"/>
            <a:ext cx="517968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344960" defTabSz="914400">
              <a:lnSpc>
                <a:spcPct val="100000"/>
              </a:lnSpc>
              <a:spcBef>
                <a:spcPts val="111"/>
              </a:spcBef>
            </a:pP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40"/>
              </a:spcBef>
            </a:pP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tabLst>
                <a:tab pos="2863080" algn="l"/>
              </a:tabLst>
            </a:pP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sans</a:t>
            </a:r>
            <a:r>
              <a:rPr lang="fr-FR" sz="115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état</a:t>
            </a:r>
            <a:r>
              <a:rPr lang="fr-FR" sz="115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,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se</a:t>
            </a:r>
            <a:r>
              <a:rPr lang="fr-FR" sz="115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réplique</a:t>
            </a:r>
            <a:r>
              <a:rPr lang="fr-FR" sz="115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avec</a:t>
            </a:r>
            <a:r>
              <a:rPr lang="fr-FR" sz="115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579" b="0" u="none" spc="-128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-</a:t>
            </a:r>
            <a:r>
              <a:rPr lang="fr-FR" sz="1579" b="0" u="none" spc="-261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-</a:t>
            </a:r>
            <a:r>
              <a:rPr lang="fr-FR" sz="1579" b="0" u="none" spc="-794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 </a:t>
            </a:r>
            <a:r>
              <a:rPr lang="fr-FR" sz="1579" b="0" u="none" spc="-31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scale</a:t>
            </a:r>
            <a:r>
              <a:rPr lang="fr-FR" sz="1579" b="0" u="none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	</a:t>
            </a:r>
            <a:r>
              <a:rPr lang="fr-FR" sz="115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avec</a:t>
            </a:r>
            <a:r>
              <a:rPr lang="fr-FR" sz="115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état</a:t>
            </a:r>
            <a:r>
              <a:rPr lang="fr-FR" sz="115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30" strike="noStrike">
                <a:solidFill>
                  <a:srgbClr val="4A4A4A"/>
                </a:solidFill>
                <a:effectLst/>
                <a:uFillTx/>
                <a:latin typeface="Arial MT"/>
              </a:rPr>
              <a:t> - 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volume</a:t>
            </a:r>
            <a:r>
              <a:rPr lang="fr-FR" sz="1150" b="0" u="none" spc="-79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persistant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96880" y="620640"/>
            <a:ext cx="6406920" cy="54864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 defTabSz="914400">
              <a:lnSpc>
                <a:spcPct val="100000"/>
              </a:lnSpc>
              <a:spcBef>
                <a:spcPts val="136"/>
              </a:spcBef>
              <a:buNone/>
              <a:tabLst>
                <a:tab pos="0" algn="l"/>
              </a:tabLst>
            </a:pPr>
            <a:r>
              <a:rPr lang="fr-FR" sz="3450" b="1" u="none" spc="-45" strike="noStrike">
                <a:solidFill>
                  <a:srgbClr val="111111"/>
                </a:solidFill>
                <a:effectLst/>
                <a:uFillTx/>
                <a:latin typeface="Arial"/>
              </a:rPr>
              <a:t>Archit</a:t>
            </a:r>
            <a:r>
              <a:rPr lang="fr-FR" sz="3450" b="1" u="none" spc="-45" strike="noStrike">
                <a:solidFill>
                  <a:srgbClr val="111111"/>
                </a:solidFill>
                <a:effectLst/>
                <a:uFillTx/>
                <a:latin typeface="Arial"/>
              </a:rPr>
              <a:t>ecture</a:t>
            </a:r>
            <a:r>
              <a:rPr lang="fr-FR" sz="3450" b="1" u="none" spc="-4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propo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sée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1" name="object 3"/>
          <p:cNvSpPr/>
          <p:nvPr/>
        </p:nvSpPr>
        <p:spPr>
          <a:xfrm>
            <a:off x="2172600" y="1708920"/>
            <a:ext cx="4710960" cy="3269520"/>
          </a:xfrm>
          <a:custGeom>
            <a:avLst/>
            <a:gdLst>
              <a:gd name="textAreaLeft" fmla="*/ 0 w 4710960"/>
              <a:gd name="textAreaRight" fmla="*/ 4711680 w 4710960"/>
              <a:gd name="textAreaTop" fmla="*/ 0 h 3269520"/>
              <a:gd name="textAreaBottom" fmla="*/ 3270240 h 3269520"/>
            </a:gdLst>
            <a:ahLst/>
            <a:cxnLst/>
            <a:rect l="textAreaLeft" t="textAreaTop" r="textAreaRight" b="textAreaBottom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object 4"/>
          <p:cNvSpPr/>
          <p:nvPr/>
        </p:nvSpPr>
        <p:spPr>
          <a:xfrm>
            <a:off x="2272320" y="1749240"/>
            <a:ext cx="376740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728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36"/>
              </a:spcBef>
            </a:pP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SUR</a:t>
            </a:r>
            <a:r>
              <a:rPr lang="fr-FR" sz="1000" b="1" u="none" spc="6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SITE</a:t>
            </a:r>
            <a:r>
              <a:rPr lang="fr-FR" sz="1000" b="1" u="none" spc="51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pc="150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CLOUD</a:t>
            </a:r>
            <a:r>
              <a:rPr lang="fr-FR" sz="1000" b="1" u="none" spc="26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PRIVÉ</a:t>
            </a:r>
            <a:r>
              <a:rPr lang="fr-FR" sz="1000" b="1" u="none" spc="51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IaaS</a:t>
            </a:r>
            <a:r>
              <a:rPr lang="fr-FR" sz="1000" b="1" u="none" spc="31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object 67"/>
          <p:cNvSpPr/>
          <p:nvPr/>
        </p:nvSpPr>
        <p:spPr>
          <a:xfrm>
            <a:off x="7130880" y="1655280"/>
            <a:ext cx="190620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Déploiement</a:t>
            </a:r>
            <a:r>
              <a:rPr lang="fr-FR" sz="1500" b="1" u="none" spc="-60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hybride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object 5"/>
          <p:cNvSpPr/>
          <p:nvPr/>
        </p:nvSpPr>
        <p:spPr>
          <a:xfrm>
            <a:off x="645840" y="2145960"/>
            <a:ext cx="1080720" cy="522000"/>
          </a:xfrm>
          <a:custGeom>
            <a:avLst/>
            <a:gdLst>
              <a:gd name="textAreaLeft" fmla="*/ 0 w 1080720"/>
              <a:gd name="textAreaRight" fmla="*/ 1081440 w 1080720"/>
              <a:gd name="textAreaTop" fmla="*/ 0 h 522000"/>
              <a:gd name="textAreaBottom" fmla="*/ 522720 h 522000"/>
            </a:gdLst>
            <a:ahLst/>
            <a:cxnLst/>
            <a:rect l="textAreaLeft" t="textAreaTop" r="textAreaRight" b="textAreaBottom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noFill/>
          <a:ln w="13511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object 6"/>
          <p:cNvSpPr/>
          <p:nvPr/>
        </p:nvSpPr>
        <p:spPr>
          <a:xfrm>
            <a:off x="740880" y="2195640"/>
            <a:ext cx="92952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Navigateur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ingénieurs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object 34"/>
          <p:cNvGrpSpPr/>
          <p:nvPr/>
        </p:nvGrpSpPr>
        <p:grpSpPr>
          <a:xfrm>
            <a:off x="1726560" y="2369160"/>
            <a:ext cx="576360" cy="75600"/>
            <a:chOff x="1726560" y="2369160"/>
            <a:chExt cx="576360" cy="75600"/>
          </a:xfrm>
        </p:grpSpPr>
        <p:sp>
          <p:nvSpPr>
            <p:cNvPr id="77" name="object 35"/>
            <p:cNvSpPr/>
            <p:nvPr/>
          </p:nvSpPr>
          <p:spPr>
            <a:xfrm>
              <a:off x="1726560" y="2406960"/>
              <a:ext cx="576000" cy="36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576580" h="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object 36"/>
            <p:cNvSpPr/>
            <p:nvPr/>
          </p:nvSpPr>
          <p:spPr>
            <a:xfrm>
              <a:off x="2217960" y="2369160"/>
              <a:ext cx="84960" cy="7560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object 37"/>
          <p:cNvSpPr/>
          <p:nvPr/>
        </p:nvSpPr>
        <p:spPr>
          <a:xfrm>
            <a:off x="1767960" y="2160000"/>
            <a:ext cx="4496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91" strike="noStrike">
                <a:solidFill>
                  <a:srgbClr val="4A4A4A"/>
                </a:solidFill>
                <a:effectLst/>
                <a:uFillTx/>
                <a:latin typeface="Arial MT"/>
              </a:rPr>
              <a:t>:</a:t>
            </a:r>
            <a:r>
              <a:rPr lang="fr-FR" sz="1100" b="0" u="none" spc="-21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3000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object 7"/>
          <p:cNvGrpSpPr/>
          <p:nvPr/>
        </p:nvGrpSpPr>
        <p:grpSpPr>
          <a:xfrm>
            <a:off x="645840" y="3785400"/>
            <a:ext cx="1152720" cy="594000"/>
            <a:chOff x="645840" y="3785400"/>
            <a:chExt cx="1152720" cy="594000"/>
          </a:xfrm>
        </p:grpSpPr>
        <p:sp>
          <p:nvSpPr>
            <p:cNvPr id="81" name="object 8"/>
            <p:cNvSpPr/>
            <p:nvPr/>
          </p:nvSpPr>
          <p:spPr>
            <a:xfrm>
              <a:off x="717840" y="3785400"/>
              <a:ext cx="1080720" cy="522000"/>
            </a:xfrm>
            <a:custGeom>
              <a:avLst/>
              <a:gdLst>
                <a:gd name="textAreaLeft" fmla="*/ 0 w 1080720"/>
                <a:gd name="textAreaRight" fmla="*/ 1081440 w 108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object 9"/>
            <p:cNvSpPr/>
            <p:nvPr/>
          </p:nvSpPr>
          <p:spPr>
            <a:xfrm>
              <a:off x="681840" y="3821400"/>
              <a:ext cx="1080720" cy="522000"/>
            </a:xfrm>
            <a:custGeom>
              <a:avLst/>
              <a:gdLst>
                <a:gd name="textAreaLeft" fmla="*/ 0 w 1080720"/>
                <a:gd name="textAreaRight" fmla="*/ 1081440 w 108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object 10"/>
            <p:cNvSpPr/>
            <p:nvPr/>
          </p:nvSpPr>
          <p:spPr>
            <a:xfrm>
              <a:off x="681840" y="3821400"/>
              <a:ext cx="1080720" cy="522000"/>
            </a:xfrm>
            <a:custGeom>
              <a:avLst/>
              <a:gdLst>
                <a:gd name="textAreaLeft" fmla="*/ 0 w 1080720"/>
                <a:gd name="textAreaRight" fmla="*/ 1081440 w 108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object 11"/>
            <p:cNvSpPr/>
            <p:nvPr/>
          </p:nvSpPr>
          <p:spPr>
            <a:xfrm>
              <a:off x="645840" y="3857400"/>
              <a:ext cx="1080720" cy="522000"/>
            </a:xfrm>
            <a:custGeom>
              <a:avLst/>
              <a:gdLst>
                <a:gd name="textAreaLeft" fmla="*/ 0 w 1080720"/>
                <a:gd name="textAreaRight" fmla="*/ 1081440 w 108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object 12"/>
            <p:cNvSpPr/>
            <p:nvPr/>
          </p:nvSpPr>
          <p:spPr>
            <a:xfrm>
              <a:off x="645840" y="3857400"/>
              <a:ext cx="1080720" cy="522000"/>
            </a:xfrm>
            <a:custGeom>
              <a:avLst/>
              <a:gdLst>
                <a:gd name="textAreaLeft" fmla="*/ 0 w 1080720"/>
                <a:gd name="textAreaRight" fmla="*/ 1081440 w 108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object 13"/>
          <p:cNvSpPr/>
          <p:nvPr/>
        </p:nvSpPr>
        <p:spPr>
          <a:xfrm>
            <a:off x="722160" y="3864240"/>
            <a:ext cx="1005840" cy="430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5800" rIns="0" bIns="0" anchor="t">
            <a:spAutoFit/>
          </a:bodyPr>
          <a:p>
            <a:pPr marL="30960" defTabSz="914400">
              <a:lnSpc>
                <a:spcPct val="100000"/>
              </a:lnSpc>
              <a:spcBef>
                <a:spcPts val="43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Capteurs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 defTabSz="914400">
              <a:lnSpc>
                <a:spcPts val="1281"/>
              </a:lnSpc>
              <a:spcBef>
                <a:spcPts val="51"/>
              </a:spcBef>
            </a:pP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simulés</a:t>
            </a:r>
            <a:r>
              <a:rPr lang="fr-FR" sz="1100" b="0" u="none" spc="-4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×N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object 14"/>
          <p:cNvGrpSpPr/>
          <p:nvPr/>
        </p:nvGrpSpPr>
        <p:grpSpPr>
          <a:xfrm>
            <a:off x="2321280" y="2145960"/>
            <a:ext cx="828720" cy="2233080"/>
            <a:chOff x="2321280" y="2145960"/>
            <a:chExt cx="828720" cy="2233080"/>
          </a:xfrm>
        </p:grpSpPr>
        <p:sp>
          <p:nvSpPr>
            <p:cNvPr id="88" name="object 15"/>
            <p:cNvSpPr/>
            <p:nvPr/>
          </p:nvSpPr>
          <p:spPr>
            <a:xfrm>
              <a:off x="2321280" y="2145960"/>
              <a:ext cx="828720" cy="2233080"/>
            </a:xfrm>
            <a:custGeom>
              <a:avLst/>
              <a:gdLst>
                <a:gd name="textAreaLeft" fmla="*/ 0 w 828720"/>
                <a:gd name="textAreaRight" fmla="*/ 829440 w 828720"/>
                <a:gd name="textAreaTop" fmla="*/ 0 h 2233080"/>
                <a:gd name="textAreaBottom" fmla="*/ 2233800 h 2233080"/>
              </a:gdLst>
              <a:ahLst/>
              <a:cxnLst/>
              <a:rect l="textAreaLeft" t="textAreaTop" r="textAreaRight" b="textAreaBottom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object 16"/>
            <p:cNvSpPr/>
            <p:nvPr/>
          </p:nvSpPr>
          <p:spPr>
            <a:xfrm>
              <a:off x="2321280" y="2145960"/>
              <a:ext cx="828720" cy="2233080"/>
            </a:xfrm>
            <a:custGeom>
              <a:avLst/>
              <a:gdLst>
                <a:gd name="textAreaLeft" fmla="*/ 0 w 828720"/>
                <a:gd name="textAreaRight" fmla="*/ 829440 w 828720"/>
                <a:gd name="textAreaTop" fmla="*/ 0 h 2233080"/>
                <a:gd name="textAreaBottom" fmla="*/ 2233800 h 2233080"/>
              </a:gdLst>
              <a:ahLst/>
              <a:cxnLst/>
              <a:rect l="textAreaLeft" t="textAreaTop" r="textAreaRight" b="textAreaBottom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object 17"/>
          <p:cNvSpPr/>
          <p:nvPr/>
        </p:nvSpPr>
        <p:spPr>
          <a:xfrm>
            <a:off x="2398320" y="2195640"/>
            <a:ext cx="628560" cy="56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defTabSz="914400">
              <a:lnSpc>
                <a:spcPct val="99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nginx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répartition </a:t>
            </a: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1100" b="0" u="none" spc="-79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charge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object 18"/>
          <p:cNvGrpSpPr/>
          <p:nvPr/>
        </p:nvGrpSpPr>
        <p:grpSpPr>
          <a:xfrm>
            <a:off x="3582360" y="2073600"/>
            <a:ext cx="1422720" cy="594360"/>
            <a:chOff x="3582360" y="2073600"/>
            <a:chExt cx="1422720" cy="594360"/>
          </a:xfrm>
        </p:grpSpPr>
        <p:sp>
          <p:nvSpPr>
            <p:cNvPr id="92" name="object 19"/>
            <p:cNvSpPr/>
            <p:nvPr/>
          </p:nvSpPr>
          <p:spPr>
            <a:xfrm>
              <a:off x="3654360" y="207360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object 20"/>
            <p:cNvSpPr/>
            <p:nvPr/>
          </p:nvSpPr>
          <p:spPr>
            <a:xfrm>
              <a:off x="3654360" y="207360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object 21"/>
            <p:cNvSpPr/>
            <p:nvPr/>
          </p:nvSpPr>
          <p:spPr>
            <a:xfrm>
              <a:off x="3618360" y="210996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object 22"/>
            <p:cNvSpPr/>
            <p:nvPr/>
          </p:nvSpPr>
          <p:spPr>
            <a:xfrm>
              <a:off x="3618360" y="210996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object 23"/>
            <p:cNvSpPr/>
            <p:nvPr/>
          </p:nvSpPr>
          <p:spPr>
            <a:xfrm>
              <a:off x="3582360" y="214596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object 24"/>
            <p:cNvSpPr/>
            <p:nvPr/>
          </p:nvSpPr>
          <p:spPr>
            <a:xfrm>
              <a:off x="3582360" y="214596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object 25"/>
          <p:cNvSpPr/>
          <p:nvPr/>
        </p:nvSpPr>
        <p:spPr>
          <a:xfrm>
            <a:off x="3658680" y="2195640"/>
            <a:ext cx="128448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30960" defTabSz="91440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frontend</a:t>
            </a:r>
            <a:r>
              <a:rPr lang="fr-FR" sz="135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350" b="1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×N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 defTabSz="9144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Node</a:t>
            </a:r>
            <a:r>
              <a:rPr lang="fr-FR" sz="110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36" strike="noStrike">
                <a:solidFill>
                  <a:srgbClr val="4A4A4A"/>
                </a:solidFill>
                <a:effectLst/>
                <a:uFillTx/>
                <a:latin typeface="Arial MT"/>
              </a:rPr>
              <a:t>·</a:t>
            </a:r>
            <a:r>
              <a:rPr lang="fr-FR" sz="1100" b="0" u="none" spc="4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interface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object 31"/>
          <p:cNvSpPr/>
          <p:nvPr/>
        </p:nvSpPr>
        <p:spPr>
          <a:xfrm>
            <a:off x="5473800" y="3046680"/>
            <a:ext cx="1315080" cy="522000"/>
          </a:xfrm>
          <a:prstGeom prst="rect">
            <a:avLst/>
          </a:prstGeom>
          <a:solidFill>
            <a:srgbClr val="1F3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62280" rIns="0" bIns="0" anchor="t">
            <a:spAutoFit/>
          </a:bodyPr>
          <a:p>
            <a:pPr marL="108000" defTabSz="914400">
              <a:lnSpc>
                <a:spcPct val="100000"/>
              </a:lnSpc>
              <a:spcBef>
                <a:spcPts val="490"/>
              </a:spcBef>
            </a:pPr>
            <a:r>
              <a:rPr lang="fr-FR" sz="1350" b="1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InfluxDB</a:t>
            </a:r>
            <a:endParaRPr lang="fr-F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11" strike="noStrike">
                <a:solidFill>
                  <a:srgbClr val="FFFFFF"/>
                </a:solidFill>
                <a:effectLst/>
                <a:uFillTx/>
                <a:latin typeface="Arial MT"/>
              </a:rPr>
              <a:t>télémétrie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object 38"/>
          <p:cNvGrpSpPr/>
          <p:nvPr/>
        </p:nvGrpSpPr>
        <p:grpSpPr>
          <a:xfrm>
            <a:off x="1726560" y="4080600"/>
            <a:ext cx="576360" cy="75600"/>
            <a:chOff x="1726560" y="4080600"/>
            <a:chExt cx="576360" cy="75600"/>
          </a:xfrm>
        </p:grpSpPr>
        <p:sp>
          <p:nvSpPr>
            <p:cNvPr id="101" name="object 39"/>
            <p:cNvSpPr/>
            <p:nvPr/>
          </p:nvSpPr>
          <p:spPr>
            <a:xfrm>
              <a:off x="1726560" y="4118400"/>
              <a:ext cx="576000" cy="360"/>
            </a:xfrm>
            <a:custGeom>
              <a:avLst/>
              <a:gdLst>
                <a:gd name="textAreaLeft" fmla="*/ 0 w 576000"/>
                <a:gd name="textAreaRight" fmla="*/ 576720 w 576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576580" h="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object 40"/>
            <p:cNvSpPr/>
            <p:nvPr/>
          </p:nvSpPr>
          <p:spPr>
            <a:xfrm>
              <a:off x="2217960" y="4080600"/>
              <a:ext cx="84960" cy="7560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object 41"/>
          <p:cNvSpPr/>
          <p:nvPr/>
        </p:nvSpPr>
        <p:spPr>
          <a:xfrm>
            <a:off x="1821960" y="3892320"/>
            <a:ext cx="39852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POST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object 26"/>
          <p:cNvGrpSpPr/>
          <p:nvPr/>
        </p:nvGrpSpPr>
        <p:grpSpPr>
          <a:xfrm>
            <a:off x="3582360" y="3785400"/>
            <a:ext cx="1422720" cy="594000"/>
            <a:chOff x="3582360" y="3785400"/>
            <a:chExt cx="1422720" cy="594000"/>
          </a:xfrm>
        </p:grpSpPr>
        <p:sp>
          <p:nvSpPr>
            <p:cNvPr id="105" name="object 27"/>
            <p:cNvSpPr/>
            <p:nvPr/>
          </p:nvSpPr>
          <p:spPr>
            <a:xfrm>
              <a:off x="3618360" y="3785400"/>
              <a:ext cx="1386720" cy="558000"/>
            </a:xfrm>
            <a:custGeom>
              <a:avLst/>
              <a:gdLst>
                <a:gd name="textAreaLeft" fmla="*/ 0 w 1386720"/>
                <a:gd name="textAreaRight" fmla="*/ 1387440 w 1386720"/>
                <a:gd name="textAreaTop" fmla="*/ 0 h 558000"/>
                <a:gd name="textAreaBottom" fmla="*/ 558720 h 558000"/>
              </a:gdLst>
              <a:ahLst/>
              <a:cxnLst/>
              <a:rect l="textAreaLeft" t="textAreaTop" r="textAreaRight" b="textAreaBottom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object 28"/>
            <p:cNvSpPr/>
            <p:nvPr/>
          </p:nvSpPr>
          <p:spPr>
            <a:xfrm>
              <a:off x="3582360" y="385740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object 29"/>
            <p:cNvSpPr/>
            <p:nvPr/>
          </p:nvSpPr>
          <p:spPr>
            <a:xfrm>
              <a:off x="3582360" y="3857400"/>
              <a:ext cx="1350720" cy="522000"/>
            </a:xfrm>
            <a:custGeom>
              <a:avLst/>
              <a:gdLst>
                <a:gd name="textAreaLeft" fmla="*/ 0 w 1350720"/>
                <a:gd name="textAreaRight" fmla="*/ 1351440 w 1350720"/>
                <a:gd name="textAreaTop" fmla="*/ 0 h 522000"/>
                <a:gd name="textAreaBottom" fmla="*/ 522720 h 522000"/>
              </a:gdLst>
              <a:ahLst/>
              <a:cxnLst/>
              <a:rect l="textAreaLeft" t="textAreaTop" r="textAreaRight" b="textAreaBottom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8" name="object 30"/>
          <p:cNvSpPr/>
          <p:nvPr/>
        </p:nvSpPr>
        <p:spPr>
          <a:xfrm>
            <a:off x="3654360" y="3903480"/>
            <a:ext cx="12844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5800" rIns="0" bIns="0" anchor="t">
            <a:spAutoFit/>
          </a:bodyPr>
          <a:p>
            <a:pPr marL="30960" defTabSz="914400">
              <a:lnSpc>
                <a:spcPct val="100000"/>
              </a:lnSpc>
              <a:spcBef>
                <a:spcPts val="43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backend</a:t>
            </a:r>
            <a:r>
              <a:rPr lang="fr-FR" sz="135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350" b="1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×N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 defTabSz="9144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FastAPI</a:t>
            </a: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36" strike="noStrike">
                <a:solidFill>
                  <a:srgbClr val="4A4A4A"/>
                </a:solidFill>
                <a:effectLst/>
                <a:uFillTx/>
                <a:latin typeface="Arial MT"/>
              </a:rPr>
              <a:t>·</a:t>
            </a:r>
            <a:r>
              <a:rPr lang="fr-FR" sz="1100" b="0" u="none" spc="26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seuils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object 32"/>
          <p:cNvSpPr/>
          <p:nvPr/>
        </p:nvSpPr>
        <p:spPr>
          <a:xfrm>
            <a:off x="5473800" y="4055400"/>
            <a:ext cx="1315080" cy="522000"/>
          </a:xfrm>
          <a:custGeom>
            <a:avLst/>
            <a:gdLst>
              <a:gd name="textAreaLeft" fmla="*/ 0 w 1315080"/>
              <a:gd name="textAreaRight" fmla="*/ 1315800 w 1315080"/>
              <a:gd name="textAreaTop" fmla="*/ 0 h 522000"/>
              <a:gd name="textAreaBottom" fmla="*/ 522720 h 522000"/>
            </a:gdLst>
            <a:ahLst/>
            <a:cxnLst/>
            <a:rect l="textAreaLeft" t="textAreaTop" r="textAreaRight" b="textAreaBottom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object 33"/>
          <p:cNvSpPr/>
          <p:nvPr/>
        </p:nvSpPr>
        <p:spPr>
          <a:xfrm>
            <a:off x="5569200" y="4105440"/>
            <a:ext cx="101268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PostgreSQL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defTabSz="914400">
              <a:lnSpc>
                <a:spcPct val="100000"/>
              </a:lnSpc>
              <a:spcBef>
                <a:spcPts val="45"/>
              </a:spcBef>
            </a:pPr>
            <a:r>
              <a:rPr lang="fr-FR" sz="1100" b="0" u="none" spc="-11" strike="noStrike">
                <a:solidFill>
                  <a:srgbClr val="FFFFFF"/>
                </a:solidFill>
                <a:effectLst/>
                <a:uFillTx/>
                <a:latin typeface="Arial MT"/>
              </a:rPr>
              <a:t>alertes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1" name="object 42"/>
          <p:cNvGrpSpPr/>
          <p:nvPr/>
        </p:nvGrpSpPr>
        <p:grpSpPr>
          <a:xfrm>
            <a:off x="3150000" y="2369160"/>
            <a:ext cx="2683800" cy="2388600"/>
            <a:chOff x="3150000" y="2369160"/>
            <a:chExt cx="2683800" cy="2388600"/>
          </a:xfrm>
        </p:grpSpPr>
        <p:sp>
          <p:nvSpPr>
            <p:cNvPr id="112" name="object 43"/>
            <p:cNvSpPr/>
            <p:nvPr/>
          </p:nvSpPr>
          <p:spPr>
            <a:xfrm>
              <a:off x="3150000" y="2406960"/>
              <a:ext cx="414000" cy="360"/>
            </a:xfrm>
            <a:custGeom>
              <a:avLst/>
              <a:gdLst>
                <a:gd name="textAreaLeft" fmla="*/ 0 w 414000"/>
                <a:gd name="textAreaRight" fmla="*/ 414720 w 414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414654" h="0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object 44"/>
            <p:cNvSpPr/>
            <p:nvPr/>
          </p:nvSpPr>
          <p:spPr>
            <a:xfrm>
              <a:off x="3479040" y="2369160"/>
              <a:ext cx="84960" cy="7560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object 45"/>
            <p:cNvSpPr/>
            <p:nvPr/>
          </p:nvSpPr>
          <p:spPr>
            <a:xfrm>
              <a:off x="3150000" y="4118400"/>
              <a:ext cx="414000" cy="360"/>
            </a:xfrm>
            <a:custGeom>
              <a:avLst/>
              <a:gdLst>
                <a:gd name="textAreaLeft" fmla="*/ 0 w 414000"/>
                <a:gd name="textAreaRight" fmla="*/ 414720 w 414000"/>
                <a:gd name="textAreaTop" fmla="*/ 0 h 360"/>
                <a:gd name="textAreaBottom" fmla="*/ 1440 h 360"/>
              </a:gdLst>
              <a:ahLst/>
              <a:cxnLst/>
              <a:rect l="textAreaLeft" t="textAreaTop" r="textAreaRight" b="textAreaBottom"/>
              <a:pathLst>
                <a:path w="414654" h="0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object 46"/>
            <p:cNvSpPr/>
            <p:nvPr/>
          </p:nvSpPr>
          <p:spPr>
            <a:xfrm>
              <a:off x="3479040" y="4080600"/>
              <a:ext cx="84960" cy="7560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object 47"/>
            <p:cNvSpPr/>
            <p:nvPr/>
          </p:nvSpPr>
          <p:spPr>
            <a:xfrm>
              <a:off x="3168000" y="2668320"/>
              <a:ext cx="1089720" cy="648360"/>
            </a:xfrm>
            <a:custGeom>
              <a:avLst/>
              <a:gdLst>
                <a:gd name="textAreaLeft" fmla="*/ 0 w 1089720"/>
                <a:gd name="textAreaRight" fmla="*/ 1090440 w 1089720"/>
                <a:gd name="textAreaTop" fmla="*/ 0 h 648360"/>
                <a:gd name="textAreaBottom" fmla="*/ 649080 h 648360"/>
              </a:gdLst>
              <a:ahLst/>
              <a:cxnLst/>
              <a:rect l="textAreaLeft" t="textAreaTop" r="textAreaRight" b="textAreaBottom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object 48"/>
            <p:cNvSpPr/>
            <p:nvPr/>
          </p:nvSpPr>
          <p:spPr>
            <a:xfrm>
              <a:off x="3168000" y="3278880"/>
              <a:ext cx="84960" cy="7560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object 49"/>
            <p:cNvSpPr/>
            <p:nvPr/>
          </p:nvSpPr>
          <p:spPr>
            <a:xfrm>
              <a:off x="4933440" y="3307680"/>
              <a:ext cx="522000" cy="693360"/>
            </a:xfrm>
            <a:custGeom>
              <a:avLst/>
              <a:gdLst>
                <a:gd name="textAreaLeft" fmla="*/ 0 w 522000"/>
                <a:gd name="textAreaRight" fmla="*/ 522720 w 522000"/>
                <a:gd name="textAreaTop" fmla="*/ 0 h 693360"/>
                <a:gd name="textAreaBottom" fmla="*/ 694080 h 693360"/>
              </a:gdLst>
              <a:ahLst/>
              <a:cxnLst/>
              <a:rect l="textAreaLeft" t="textAreaTop" r="textAreaRight" b="textAreaBottom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object 50"/>
            <p:cNvSpPr/>
            <p:nvPr/>
          </p:nvSpPr>
          <p:spPr>
            <a:xfrm>
              <a:off x="5370840" y="3269880"/>
              <a:ext cx="84960" cy="7560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object 51"/>
            <p:cNvSpPr/>
            <p:nvPr/>
          </p:nvSpPr>
          <p:spPr>
            <a:xfrm>
              <a:off x="4933440" y="4235760"/>
              <a:ext cx="522000" cy="80640"/>
            </a:xfrm>
            <a:custGeom>
              <a:avLst/>
              <a:gdLst>
                <a:gd name="textAreaLeft" fmla="*/ 0 w 522000"/>
                <a:gd name="textAreaRight" fmla="*/ 522720 w 522000"/>
                <a:gd name="textAreaTop" fmla="*/ 0 h 80640"/>
                <a:gd name="textAreaBottom" fmla="*/ 81360 h 80640"/>
              </a:gdLst>
              <a:ahLst/>
              <a:cxnLst/>
              <a:rect l="textAreaLeft" t="textAreaTop" r="textAreaRight" b="textAreaBottom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object 52"/>
            <p:cNvSpPr/>
            <p:nvPr/>
          </p:nvSpPr>
          <p:spPr>
            <a:xfrm>
              <a:off x="5370840" y="4278960"/>
              <a:ext cx="84960" cy="75600"/>
            </a:xfrm>
            <a:custGeom>
              <a:avLst/>
              <a:gdLst>
                <a:gd name="textAreaLeft" fmla="*/ 0 w 84960"/>
                <a:gd name="textAreaRight" fmla="*/ 85680 w 84960"/>
                <a:gd name="textAreaTop" fmla="*/ 0 h 75600"/>
                <a:gd name="textAreaBottom" fmla="*/ 76320 h 7560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object 53"/>
            <p:cNvSpPr/>
            <p:nvPr/>
          </p:nvSpPr>
          <p:spPr>
            <a:xfrm>
              <a:off x="4257720" y="4397760"/>
              <a:ext cx="1576080" cy="360000"/>
            </a:xfrm>
            <a:custGeom>
              <a:avLst/>
              <a:gdLst>
                <a:gd name="textAreaLeft" fmla="*/ 0 w 1576080"/>
                <a:gd name="textAreaRight" fmla="*/ 1576800 w 1576080"/>
                <a:gd name="textAreaTop" fmla="*/ 0 h 360000"/>
                <a:gd name="textAreaBottom" fmla="*/ 360720 h 360000"/>
              </a:gdLst>
              <a:ahLst/>
              <a:cxnLst/>
              <a:rect l="textAreaLeft" t="textAreaTop" r="textAreaRight" b="textAreaBottom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object 54"/>
            <p:cNvSpPr/>
            <p:nvPr/>
          </p:nvSpPr>
          <p:spPr>
            <a:xfrm>
              <a:off x="4219920" y="4397760"/>
              <a:ext cx="75600" cy="84960"/>
            </a:xfrm>
            <a:custGeom>
              <a:avLst/>
              <a:gdLst>
                <a:gd name="textAreaLeft" fmla="*/ 0 w 75600"/>
                <a:gd name="textAreaRight" fmla="*/ 76320 w 75600"/>
                <a:gd name="textAreaTop" fmla="*/ 0 h 84960"/>
                <a:gd name="textAreaBottom" fmla="*/ 85680 h 84960"/>
              </a:gdLst>
              <a:ahLst/>
              <a:cxnLst/>
              <a:rect l="textAreaLeft" t="textAreaTop" r="textAreaRight" b="textAreaBottom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" name="object 68"/>
          <p:cNvSpPr/>
          <p:nvPr/>
        </p:nvSpPr>
        <p:spPr>
          <a:xfrm>
            <a:off x="7130880" y="2175840"/>
            <a:ext cx="4347720" cy="73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5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Sur</a:t>
            </a:r>
            <a:r>
              <a:rPr lang="fr-FR" sz="1500" b="1" u="none" spc="-17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51" strike="noStrike">
                <a:solidFill>
                  <a:srgbClr val="111111"/>
                </a:solidFill>
                <a:effectLst/>
                <a:uFillTx/>
                <a:latin typeface="Arial"/>
              </a:rPr>
              <a:t>site</a:t>
            </a:r>
            <a:r>
              <a:rPr lang="fr-FR" sz="15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79" strike="noStrike">
                <a:solidFill>
                  <a:srgbClr val="111111"/>
                </a:solidFill>
                <a:effectLst/>
                <a:uFillTx/>
                <a:latin typeface="Arial"/>
              </a:rPr>
              <a:t>:</a:t>
            </a:r>
            <a:r>
              <a:rPr lang="fr-FR" sz="1500" b="1" u="none" spc="-24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cloud</a:t>
            </a:r>
            <a:r>
              <a:rPr lang="fr-FR" sz="15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privé,</a:t>
            </a:r>
            <a:r>
              <a:rPr lang="fr-FR" sz="150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IaaS</a:t>
            </a:r>
            <a:r>
              <a:rPr lang="fr-FR" sz="1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Ingestion,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détection,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alertes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et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tableau</a:t>
            </a:r>
            <a:r>
              <a:rPr lang="fr-FR" sz="1400" b="0" u="none" spc="-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bord</a:t>
            </a:r>
            <a:r>
              <a:rPr lang="fr-FR" sz="1400" b="0" u="none" spc="-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temps</a:t>
            </a:r>
            <a:r>
              <a:rPr lang="fr-FR" sz="1400" b="0" u="none" spc="-9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réel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3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latence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faible,</a:t>
            </a:r>
            <a:r>
              <a:rPr lang="fr-FR" sz="1400" b="0" u="none" spc="2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réseau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industriel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isolé,</a:t>
            </a:r>
            <a:r>
              <a:rPr lang="fr-FR" sz="1400" b="0" u="none" spc="3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fonctionne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Internet.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object 55"/>
          <p:cNvSpPr/>
          <p:nvPr/>
        </p:nvSpPr>
        <p:spPr>
          <a:xfrm>
            <a:off x="4326120" y="2802600"/>
            <a:ext cx="121392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REST</a:t>
            </a:r>
            <a:r>
              <a:rPr lang="fr-FR" sz="1100" b="0" u="none" spc="-12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>
                <a:solidFill>
                  <a:srgbClr val="4A4A4A"/>
                </a:solidFill>
                <a:effectLst/>
                <a:uFillTx/>
                <a:latin typeface="Arial MT"/>
              </a:rPr>
              <a:t>+</a:t>
            </a:r>
            <a:r>
              <a:rPr lang="fr-FR" sz="1100" b="0" u="none" spc="-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WebSocket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object 56"/>
          <p:cNvSpPr/>
          <p:nvPr/>
        </p:nvSpPr>
        <p:spPr>
          <a:xfrm>
            <a:off x="4326120" y="2964600"/>
            <a:ext cx="949320" cy="1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vers</a:t>
            </a:r>
            <a:r>
              <a:rPr lang="fr-FR" sz="110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le</a:t>
            </a:r>
            <a:r>
              <a:rPr lang="fr-FR" sz="11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backend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object 70"/>
          <p:cNvSpPr/>
          <p:nvPr/>
        </p:nvSpPr>
        <p:spPr>
          <a:xfrm>
            <a:off x="7084800" y="3254400"/>
            <a:ext cx="353520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Prototype</a:t>
            </a:r>
            <a:r>
              <a:rPr lang="fr-FR" sz="1500" b="1" u="none" spc="-13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3" strike="noStrike">
                <a:solidFill>
                  <a:srgbClr val="111111"/>
                </a:solidFill>
                <a:effectLst/>
                <a:uFillTx/>
                <a:latin typeface="Arial"/>
              </a:rPr>
              <a:t>:</a:t>
            </a:r>
            <a:r>
              <a:rPr lang="fr-FR" sz="1500" b="1" u="none" spc="-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Docker</a:t>
            </a:r>
            <a:r>
              <a:rPr lang="fr-FR" sz="1500" b="1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Compose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object 57"/>
          <p:cNvSpPr/>
          <p:nvPr/>
        </p:nvSpPr>
        <p:spPr>
          <a:xfrm>
            <a:off x="4326120" y="4748040"/>
            <a:ext cx="2557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 defTabSz="9144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NOTIFY</a:t>
            </a:r>
            <a:r>
              <a:rPr lang="fr-FR" sz="1100" b="0" u="none" spc="-17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050" b="0" u="none" strike="noStrike">
                <a:solidFill>
                  <a:srgbClr val="4A4A4A"/>
                </a:solidFill>
                <a:effectLst/>
                <a:uFillTx/>
                <a:latin typeface="Microsoft Sans Serif"/>
              </a:rPr>
              <a:t>→</a:t>
            </a:r>
            <a:r>
              <a:rPr lang="fr-FR" sz="1050" b="0" u="none" spc="-20" strike="noStrike">
                <a:solidFill>
                  <a:srgbClr val="4A4A4A"/>
                </a:solidFill>
                <a:effectLst/>
                <a:uFillTx/>
                <a:latin typeface="Microsoft Sans Serif"/>
              </a:rPr>
              <a:t> </a:t>
            </a: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toutes</a:t>
            </a:r>
            <a:r>
              <a:rPr lang="fr-FR" sz="1100" b="0" u="none" spc="-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1100" b="0" u="none" spc="-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répliques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object 71"/>
          <p:cNvSpPr/>
          <p:nvPr/>
        </p:nvSpPr>
        <p:spPr>
          <a:xfrm>
            <a:off x="7084800" y="3494880"/>
            <a:ext cx="407520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defTabSz="914400">
              <a:lnSpc>
                <a:spcPct val="111000"/>
              </a:lnSpc>
              <a:spcBef>
                <a:spcPts val="96"/>
              </a:spcBef>
            </a:pP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6</a:t>
            </a:r>
            <a:r>
              <a:rPr lang="fr-FR" sz="1400" b="0" u="none" spc="-12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services,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démarrés</a:t>
            </a:r>
            <a:r>
              <a:rPr lang="fr-FR" sz="1400" b="0" u="none" spc="-1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7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commande.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Les</a:t>
            </a:r>
            <a:r>
              <a:rPr lang="fr-FR" sz="1400" b="0" u="none" spc="-1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services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état</a:t>
            </a:r>
            <a:r>
              <a:rPr lang="fr-FR" sz="1400" b="0" u="none" spc="-7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répliquent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à</a:t>
            </a:r>
            <a:r>
              <a:rPr lang="fr-FR" sz="1400" b="0" u="none" spc="-14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chaud.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object 60"/>
          <p:cNvPicPr/>
          <p:nvPr/>
        </p:nvPicPr>
        <p:blipFill>
          <a:blip r:embed="rId1"/>
          <a:stretch/>
        </p:blipFill>
        <p:spPr>
          <a:xfrm>
            <a:off x="612000" y="5848200"/>
            <a:ext cx="258840" cy="15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object 61"/>
          <p:cNvSpPr/>
          <p:nvPr/>
        </p:nvSpPr>
        <p:spPr>
          <a:xfrm>
            <a:off x="3467160" y="5867280"/>
            <a:ext cx="189720" cy="104040"/>
          </a:xfrm>
          <a:custGeom>
            <a:avLst/>
            <a:gdLst>
              <a:gd name="textAreaLeft" fmla="*/ 0 w 189720"/>
              <a:gd name="textAreaRight" fmla="*/ 190440 w 189720"/>
              <a:gd name="textAreaTop" fmla="*/ 0 h 104040"/>
              <a:gd name="textAreaBottom" fmla="*/ 104760 h 104040"/>
            </a:gdLst>
            <a:ahLst/>
            <a:cxnLst/>
            <a:rect l="textAreaLeft" t="textAreaTop" r="textAreaRight" b="textAreaBottom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object 73"/>
          <p:cNvSpPr/>
          <p:nvPr/>
        </p:nvSpPr>
        <p:spPr>
          <a:xfrm>
            <a:off x="609480" y="6229440"/>
            <a:ext cx="10972080" cy="86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8640"/>
              <a:gd name="textAreaBottom" fmla="*/ 9360 h 864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ftr" idx="23"/>
          </p:nvPr>
        </p:nvSpPr>
        <p:spPr>
          <a:xfrm>
            <a:off x="596880" y="6363720"/>
            <a:ext cx="73404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24"/>
          </p:nvPr>
        </p:nvSpPr>
        <p:spPr>
          <a:xfrm>
            <a:off x="11307600" y="6363720"/>
            <a:ext cx="28872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3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5" name="Image 75"/>
          <p:cNvPicPr/>
          <p:nvPr/>
        </p:nvPicPr>
        <p:blipFill>
          <a:blip r:embed="rId2"/>
          <a:stretch/>
        </p:blipFill>
        <p:spPr>
          <a:xfrm>
            <a:off x="11288880" y="103680"/>
            <a:ext cx="81144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object 65"/>
          <p:cNvSpPr/>
          <p:nvPr/>
        </p:nvSpPr>
        <p:spPr>
          <a:xfrm>
            <a:off x="7143840" y="2032920"/>
            <a:ext cx="4438080" cy="8640"/>
          </a:xfrm>
          <a:custGeom>
            <a:avLst/>
            <a:gdLst>
              <a:gd name="textAreaLeft" fmla="*/ 0 w 4438080"/>
              <a:gd name="textAreaRight" fmla="*/ 4438800 w 4438080"/>
              <a:gd name="textAreaTop" fmla="*/ 0 h 8640"/>
              <a:gd name="textAreaBottom" fmla="*/ 9360 h 8640"/>
            </a:gdLst>
            <a:ahLst/>
            <a:cxnLst/>
            <a:rect l="textAreaLeft" t="textAreaTop" r="textAreaRight" b="textAreaBottom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96880" y="619200"/>
            <a:ext cx="6393240" cy="54864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 defTabSz="914400">
              <a:lnSpc>
                <a:spcPct val="100000"/>
              </a:lnSpc>
              <a:spcBef>
                <a:spcPts val="136"/>
              </a:spcBef>
              <a:buNone/>
              <a:tabLst>
                <a:tab pos="0" algn="l"/>
              </a:tabLst>
            </a:pP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Risques</a:t>
            </a:r>
            <a:r>
              <a:rPr lang="fr-FR" sz="3450" b="1" u="none" spc="-53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74" strike="noStrike">
                <a:solidFill>
                  <a:srgbClr val="111111"/>
                </a:solidFill>
                <a:effectLst/>
                <a:uFillTx/>
                <a:latin typeface="Arial"/>
              </a:rPr>
              <a:t>et</a:t>
            </a:r>
            <a:r>
              <a:rPr lang="fr-FR" sz="3450" b="1" u="none" spc="-49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atténuation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38" name="object 3"/>
          <p:cNvGraphicFramePr/>
          <p:nvPr/>
        </p:nvGraphicFramePr>
        <p:xfrm>
          <a:off x="609480" y="1715040"/>
          <a:ext cx="10971720" cy="3199680"/>
        </p:xfrm>
        <a:graphic>
          <a:graphicData uri="http://schemas.openxmlformats.org/drawingml/2006/table">
            <a:tbl>
              <a:tblPr/>
              <a:tblGrid>
                <a:gridCol w="1922040"/>
                <a:gridCol w="2586960"/>
                <a:gridCol w="3210840"/>
                <a:gridCol w="3252240"/>
              </a:tblGrid>
              <a:tr h="251280">
                <a:tc>
                  <a:txBody>
                    <a:bodyPr lIns="0" tIns="0" rIns="0" bIns="0" anchor="t">
                      <a:noAutofit/>
                    </a:bodyPr>
                    <a:p>
                      <a:pPr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Menace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271800"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Conséquence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98280" defTabSz="914400">
                        <a:lnSpc>
                          <a:spcPts val="1125"/>
                        </a:lnSpc>
                      </a:pPr>
                      <a:r>
                        <a:rPr lang="fr-FR" sz="1150" b="1" u="none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Dans</a:t>
                      </a:r>
                      <a:r>
                        <a:rPr lang="fr-FR" sz="1150" b="1" u="none" spc="-51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150" b="1" u="none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le</a:t>
                      </a:r>
                      <a:r>
                        <a:rPr lang="fr-FR" sz="1150" b="1" u="none" spc="-54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150" b="1" u="none" spc="-11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prototype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69840" defTabSz="9144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Remediation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Usurpation </a:t>
                      </a:r>
                      <a:r>
                        <a:rPr lang="fr-FR" sz="1300" b="1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capteur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27180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masquée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ou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déclenchée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pc="-13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tort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9828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Clé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API</a:t>
                      </a:r>
                      <a:r>
                        <a:rPr lang="fr-FR" sz="1300" b="0" u="none" spc="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sur</a:t>
                      </a:r>
                      <a:r>
                        <a:rPr lang="fr-FR" sz="1300" b="0" u="none" spc="-13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l’ingestion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(refus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401),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données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validées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6984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Identité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propre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chaque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(mTLS), détection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d’anomalies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Accès</a:t>
                      </a:r>
                      <a:r>
                        <a:rPr lang="fr-FR" sz="1300" b="1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non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autorisé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27180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tiers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acquitte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9828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Tableau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bord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sans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authentification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r>
                        <a:rPr lang="fr-FR" sz="1300" b="0" u="none" spc="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API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non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exposées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6984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Authentification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unique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(OIDC)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rôles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opérateur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/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ingénieur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Fuite</a:t>
                      </a:r>
                      <a:r>
                        <a:rPr lang="fr-FR" sz="1300" b="1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données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27180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Cadence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production divulguée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9828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Secrets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hors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du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dépôt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r>
                        <a:rPr lang="fr-FR" sz="1300" b="0" u="none" spc="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token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InfluxDB</a:t>
                      </a:r>
                      <a:r>
                        <a:rPr lang="fr-FR" sz="1300" b="0" u="none" spc="-1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aux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droits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admin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6984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TLS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entre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services,</a:t>
                      </a:r>
                      <a:r>
                        <a:rPr lang="fr-FR" sz="1300" b="0" u="none" spc="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chiffrement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repos, gestion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secrets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5172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Altération,</a:t>
                      </a:r>
                      <a:r>
                        <a:rPr lang="fr-FR" sz="1300" b="1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injection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27180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Historique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falsifié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9828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Requêtes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Flux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filtrées,</a:t>
                      </a:r>
                      <a:r>
                        <a:rPr lang="fr-FR" sz="1300" b="0" u="none" spc="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SQL</a:t>
                      </a:r>
                      <a:r>
                        <a:rPr lang="fr-FR" sz="1300" b="0" u="none" spc="-113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paramétré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98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Journal</a:t>
                      </a:r>
                      <a:r>
                        <a:rPr lang="fr-FR" sz="1300" b="0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d’audit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inaltérable,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sauvegardes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5172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Panne</a:t>
                      </a:r>
                      <a:r>
                        <a:rPr lang="fr-FR" sz="1300" b="1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capteur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27180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La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panne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passe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inaperçue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9828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Non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couvert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98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«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muet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»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Panne</a:t>
                      </a:r>
                      <a:r>
                        <a:rPr lang="fr-FR" sz="1300" b="1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d’un</a:t>
                      </a:r>
                      <a:r>
                        <a:rPr lang="fr-FR" sz="1300" b="1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service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271800" defTabSz="9144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perdues,</a:t>
                      </a:r>
                      <a:r>
                        <a:rPr lang="fr-FR" sz="1300" b="0" u="none" spc="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supervision aveugle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9828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Redémarrage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auto,</a:t>
                      </a:r>
                      <a:r>
                        <a:rPr lang="fr-FR" sz="1300" b="0" u="none" spc="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services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répliqués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98280" defTabSz="914400">
                        <a:lnSpc>
                          <a:spcPct val="100000"/>
                        </a:lnSpc>
                        <a:spcBef>
                          <a:spcPts val="91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nginx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uniques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9840" defTabSz="9144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répliquées,</a:t>
                      </a:r>
                      <a:r>
                        <a:rPr lang="fr-FR" sz="1300" b="0" u="none" spc="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répartiteur</a:t>
                      </a:r>
                      <a:r>
                        <a:rPr lang="fr-FR" sz="1300" b="0" u="none" spc="-1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redondant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9" name="object 4"/>
          <p:cNvSpPr/>
          <p:nvPr/>
        </p:nvSpPr>
        <p:spPr>
          <a:xfrm>
            <a:off x="609480" y="5109480"/>
            <a:ext cx="6468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3480" rIns="0" bIns="0" anchor="t">
            <a:spAutoFit/>
          </a:bodyPr>
          <a:p>
            <a:pPr marL="12600" defTabSz="914400">
              <a:lnSpc>
                <a:spcPts val="1950"/>
              </a:lnSpc>
              <a:spcBef>
                <a:spcPts val="264"/>
              </a:spcBef>
            </a:pP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Risques</a:t>
            </a:r>
            <a:r>
              <a:rPr lang="fr-FR" sz="1700" b="0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résiduels</a:t>
            </a:r>
            <a:r>
              <a:rPr lang="fr-FR" sz="1700" b="0" u="none" spc="-176" strike="noStrike">
                <a:solidFill>
                  <a:srgbClr val="111111"/>
                </a:solidFill>
                <a:effectLst/>
                <a:uFillTx/>
                <a:latin typeface="Arial"/>
              </a:rPr>
              <a:t> :</a:t>
            </a:r>
            <a:r>
              <a:rPr lang="fr-FR" sz="1700" b="0" u="none" spc="1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tableau</a:t>
            </a:r>
            <a:r>
              <a:rPr lang="fr-FR" sz="1700" b="0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de</a:t>
            </a:r>
            <a:r>
              <a:rPr lang="fr-FR" sz="1700" b="0" u="none" spc="-17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bord</a:t>
            </a:r>
            <a:r>
              <a:rPr lang="fr-FR" sz="1700" b="0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sans</a:t>
            </a:r>
            <a:r>
              <a:rPr lang="fr-FR" sz="1700" b="0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authentification,</a:t>
            </a:r>
            <a:r>
              <a:rPr lang="fr-FR" sz="1700" b="0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clé</a:t>
            </a:r>
            <a:r>
              <a:rPr lang="fr-FR" sz="1700" b="0" u="none" spc="-17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capteur </a:t>
            </a:r>
            <a:r>
              <a:rPr lang="fr-FR" sz="1700" b="0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partagée,</a:t>
            </a:r>
            <a:r>
              <a:rPr lang="fr-FR" sz="1700" b="0" u="none" spc="-3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bases</a:t>
            </a:r>
            <a:r>
              <a:rPr lang="fr-FR" sz="1700" b="0" u="none" spc="-18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uniques.</a:t>
            </a:r>
            <a:r>
              <a:rPr lang="fr-FR" sz="1700" b="0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700" b="0" u="none" spc="-18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panne</a:t>
            </a:r>
            <a:r>
              <a:rPr lang="fr-FR" sz="1700" b="0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d’InfluxDB</a:t>
            </a:r>
            <a:r>
              <a:rPr lang="fr-FR" sz="1700" b="0" u="none" spc="-19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suspend</a:t>
            </a:r>
            <a:r>
              <a:rPr lang="fr-FR" sz="1700" b="0" u="none" spc="-13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la</a:t>
            </a:r>
            <a:r>
              <a:rPr lang="fr-FR" sz="1700" b="0" u="none" spc="-24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détection.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object 5"/>
          <p:cNvSpPr/>
          <p:nvPr/>
        </p:nvSpPr>
        <p:spPr>
          <a:xfrm>
            <a:off x="609480" y="6229440"/>
            <a:ext cx="10972080" cy="864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8640"/>
              <a:gd name="textAreaBottom" fmla="*/ 9360 h 864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ftr" idx="25"/>
          </p:nvPr>
        </p:nvSpPr>
        <p:spPr>
          <a:xfrm>
            <a:off x="596880" y="6363720"/>
            <a:ext cx="73404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26"/>
          </p:nvPr>
        </p:nvSpPr>
        <p:spPr>
          <a:xfrm>
            <a:off x="11307600" y="6363720"/>
            <a:ext cx="288720" cy="145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 defTabSz="914400">
              <a:lnSpc>
                <a:spcPts val="1006"/>
              </a:lnSpc>
              <a:buNone/>
              <a:tabLst>
                <a:tab pos="0" algn="l"/>
              </a:tabLst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 defTabSz="914400">
              <a:lnSpc>
                <a:spcPts val="1006"/>
              </a:lnSpc>
              <a:buNone/>
              <a:tabLst>
                <a:tab pos="0" algn="l"/>
              </a:tabLst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Image 7"/>
          <p:cNvPicPr/>
          <p:nvPr/>
        </p:nvPicPr>
        <p:blipFill>
          <a:blip r:embed="rId1"/>
          <a:stretch/>
        </p:blipFill>
        <p:spPr>
          <a:xfrm>
            <a:off x="11288880" y="103680"/>
            <a:ext cx="81144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ZoneTexte 1"/>
          <p:cNvSpPr/>
          <p:nvPr/>
        </p:nvSpPr>
        <p:spPr>
          <a:xfrm>
            <a:off x="7225200" y="5796360"/>
            <a:ext cx="43711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fr-FR" sz="14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"/>
              </a:rPr>
              <a:t>Dépôt Git : </a:t>
            </a:r>
            <a:r>
              <a:rPr lang="fr-FR" sz="1400" b="0" u="sng" strike="noStrike">
                <a:solidFill>
                  <a:schemeClr val="dk2">
                    <a:lumMod val="60000"/>
                    <a:lumOff val="40000"/>
                  </a:schemeClr>
                </a:solidFill>
                <a:effectLst/>
                <a:uFillTx/>
                <a:latin typeface="Arial"/>
                <a:hlinkClick r:id="rId2"/>
              </a:rPr>
              <a:t>https://github.com/tVelard/FactorySense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Application>LibreOffice/26.2.5.2$Linux_X86_64 LibreOffice_project/6d2b0d33fb0f5da53a12f98bed3e9973e56ff1f0</Application>
  <AppVersion>15.0000</AppVersion>
  <Words>705</Words>
  <Paragraphs>148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2026-09-28T13:28:27Z</dcterms:created>
  <dc:creator/>
  <dc:description/>
  <dc:language>fr-FR</dc:language>
  <cp:lastModifiedBy/>
  <dcterms:modified xsi:type="dcterms:W3CDTF">2026-10-05T11:05:16Z</dcterms:modified>
  <cp:revision>10</cp:revision>
  <dc:subject/>
  <dc:title>FactorySense — Soutenance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Notes">
    <vt:i4>1</vt:i4>
  </property>
  <property fmtid="{D5CDD505-2E9C-101B-9397-08002B2CF9AE}" pid="7" name="PresentationFormat">
    <vt:lpwstr>Grand écran</vt:lpwstr>
  </property>
  <property fmtid="{D5CDD505-2E9C-101B-9397-08002B2CF9AE}" pid="8" name="Producer">
    <vt:lpwstr>Skia/PDF m153</vt:lpwstr>
  </property>
  <property fmtid="{D5CDD505-2E9C-101B-9397-08002B2CF9AE}" pid="9" name="Slides">
    <vt:i4>5</vt:i4>
  </property>
</Properties>
</file>