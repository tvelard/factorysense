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1"/>
    <p:restoredTop sz="94630"/>
  </p:normalViewPr>
  <p:slideViewPr>
    <p:cSldViewPr>
      <p:cViewPr varScale="1">
        <p:scale>
          <a:sx n="113" d="100"/>
          <a:sy n="113" d="100"/>
        </p:scale>
        <p:origin x="45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09599" y="1390648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899" y="208048"/>
            <a:ext cx="6407784" cy="1143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499" y="1714999"/>
            <a:ext cx="11049000" cy="320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6899" y="6363872"/>
            <a:ext cx="734694" cy="132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07564" y="6363872"/>
            <a:ext cx="289559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96899" y="2894284"/>
            <a:ext cx="6900545" cy="2222500"/>
          </a:xfrm>
          <a:prstGeom prst="rect">
            <a:avLst/>
          </a:prstGeom>
        </p:spPr>
        <p:txBody>
          <a:bodyPr vert="horz" wrap="square" lIns="0" tIns="340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85"/>
              </a:spcBef>
            </a:pP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F</a:t>
            </a:r>
            <a:r>
              <a:rPr sz="7300" b="1" spc="-195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7300" b="1" spc="30" dirty="0">
                <a:solidFill>
                  <a:srgbClr val="111111"/>
                </a:solidFill>
                <a:latin typeface="Arial"/>
                <a:cs typeface="Arial"/>
              </a:rPr>
              <a:t>c</a:t>
            </a:r>
            <a:r>
              <a:rPr sz="7300" b="1" spc="100" dirty="0">
                <a:solidFill>
                  <a:srgbClr val="111111"/>
                </a:solidFill>
                <a:latin typeface="Arial"/>
                <a:cs typeface="Arial"/>
              </a:rPr>
              <a:t>t</a:t>
            </a:r>
            <a:r>
              <a:rPr sz="7300" b="1" spc="-30" dirty="0">
                <a:solidFill>
                  <a:srgbClr val="111111"/>
                </a:solidFill>
                <a:latin typeface="Arial"/>
                <a:cs typeface="Arial"/>
              </a:rPr>
              <a:t>o</a:t>
            </a:r>
            <a:r>
              <a:rPr sz="7300" b="1" spc="-65" dirty="0">
                <a:solidFill>
                  <a:srgbClr val="111111"/>
                </a:solidFill>
                <a:latin typeface="Arial"/>
                <a:cs typeface="Arial"/>
              </a:rPr>
              <a:t>r</a:t>
            </a: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y</a:t>
            </a:r>
            <a:r>
              <a:rPr sz="7300" b="1" spc="-40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1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r>
              <a:rPr sz="7300" b="1" spc="155" dirty="0">
                <a:solidFill>
                  <a:srgbClr val="111111"/>
                </a:solidFill>
                <a:latin typeface="Arial"/>
                <a:cs typeface="Arial"/>
              </a:rPr>
              <a:t>n</a:t>
            </a:r>
            <a:r>
              <a:rPr sz="7300" b="1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38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endParaRPr sz="7300" dirty="0">
              <a:latin typeface="Arial"/>
              <a:cs typeface="Arial"/>
            </a:endParaRPr>
          </a:p>
          <a:p>
            <a:pPr marL="12700" marR="5080">
              <a:lnSpc>
                <a:spcPts val="2550"/>
              </a:lnSpc>
              <a:spcBef>
                <a:spcPts val="925"/>
              </a:spcBef>
            </a:pP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Surveiller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équipements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production</a:t>
            </a:r>
            <a:r>
              <a:rPr sz="2200" spc="-1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0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2200" spc="-1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temps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14" dirty="0">
                <a:solidFill>
                  <a:srgbClr val="4A4A4A"/>
                </a:solidFill>
                <a:latin typeface="Arial MT"/>
                <a:cs typeface="Arial MT"/>
              </a:rPr>
              <a:t>réel</a:t>
            </a:r>
            <a:r>
              <a:rPr sz="22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4A4A4A"/>
                </a:solidFill>
                <a:latin typeface="Arial MT"/>
                <a:cs typeface="Arial MT"/>
              </a:rPr>
              <a:t>pour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éviter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5" dirty="0">
                <a:solidFill>
                  <a:srgbClr val="4A4A4A"/>
                </a:solidFill>
                <a:latin typeface="Arial MT"/>
                <a:cs typeface="Arial MT"/>
              </a:rPr>
              <a:t>arrêts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4A4A4A"/>
                </a:solidFill>
                <a:latin typeface="Arial MT"/>
                <a:cs typeface="Arial MT"/>
              </a:rPr>
              <a:t>coûteux.</a:t>
            </a:r>
            <a:endParaRPr sz="2200" dirty="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9599" y="5495924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8" y="5674619"/>
            <a:ext cx="1384301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Amine SLAOUI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63800" y="5674619"/>
            <a:ext cx="1574800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Thomas VELARD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10788" y="5646444"/>
            <a:ext cx="1085850" cy="425450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R="5715" algn="r">
              <a:lnSpc>
                <a:spcPct val="100000"/>
              </a:lnSpc>
              <a:spcBef>
                <a:spcPts val="290"/>
              </a:spcBef>
            </a:pP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Télécom</a:t>
            </a:r>
            <a:r>
              <a:rPr sz="115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Paris</a:t>
            </a:r>
            <a:endParaRPr sz="115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  <a:spcBef>
                <a:spcPts val="195"/>
              </a:spcBef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Septembre</a:t>
            </a: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2026</a:t>
            </a:r>
            <a:endParaRPr sz="1150">
              <a:latin typeface="Arial MT"/>
              <a:cs typeface="Arial M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0BB28618-90C1-DA4D-BA48-38F8BE14D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342900"/>
            <a:ext cx="1271804" cy="1790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09599" y="619126"/>
            <a:ext cx="491807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10" dirty="0"/>
              <a:t>métier</a:t>
            </a:r>
            <a:endParaRPr sz="7300" dirty="0"/>
          </a:p>
        </p:txBody>
      </p:sp>
      <p:sp>
        <p:nvSpPr>
          <p:cNvPr id="3" name="object 3"/>
          <p:cNvSpPr txBox="1"/>
          <p:nvPr/>
        </p:nvSpPr>
        <p:spPr>
          <a:xfrm>
            <a:off x="596899" y="1641230"/>
            <a:ext cx="11000224" cy="71109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>
              <a:lnSpc>
                <a:spcPts val="2630"/>
              </a:lnSpc>
              <a:spcBef>
                <a:spcPts val="345"/>
              </a:spcBef>
            </a:pPr>
            <a:r>
              <a:rPr sz="2400" b="1" spc="-140" dirty="0">
                <a:solidFill>
                  <a:srgbClr val="111111"/>
                </a:solidFill>
                <a:latin typeface="Arial"/>
                <a:cs typeface="Arial"/>
              </a:rPr>
              <a:t>Voir</a:t>
            </a:r>
            <a:r>
              <a:rPr sz="240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240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5" dirty="0">
                <a:solidFill>
                  <a:srgbClr val="111111"/>
                </a:solidFill>
                <a:latin typeface="Arial"/>
                <a:cs typeface="Arial"/>
              </a:rPr>
              <a:t>machine</a:t>
            </a:r>
            <a:r>
              <a:rPr sz="240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dériver</a:t>
            </a:r>
            <a:r>
              <a:rPr sz="240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avant</a:t>
            </a:r>
            <a:r>
              <a:rPr sz="2400" b="1" spc="-2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qu’elle</a:t>
            </a:r>
            <a:r>
              <a:rPr sz="240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tombe</a:t>
            </a:r>
            <a:r>
              <a:rPr sz="240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400" b="1" spc="-1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10" dirty="0">
                <a:solidFill>
                  <a:srgbClr val="111111"/>
                </a:solidFill>
                <a:latin typeface="Arial"/>
                <a:cs typeface="Arial"/>
              </a:rPr>
              <a:t>panne, </a:t>
            </a:r>
            <a:r>
              <a:rPr sz="2400" b="1" spc="-80" dirty="0">
                <a:solidFill>
                  <a:srgbClr val="111111"/>
                </a:solidFill>
                <a:latin typeface="Arial"/>
                <a:cs typeface="Arial"/>
              </a:rPr>
              <a:t>et</a:t>
            </a:r>
            <a:r>
              <a:rPr sz="2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40" dirty="0">
                <a:solidFill>
                  <a:srgbClr val="111111"/>
                </a:solidFill>
                <a:latin typeface="Arial"/>
                <a:cs typeface="Arial"/>
              </a:rPr>
              <a:t>prouver</a:t>
            </a:r>
            <a:r>
              <a:rPr sz="2400" b="1" spc="-3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que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chaque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05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2400" b="1" spc="-3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85" dirty="0">
                <a:solidFill>
                  <a:srgbClr val="111111"/>
                </a:solidFill>
                <a:latin typeface="Arial"/>
                <a:cs typeface="Arial"/>
              </a:rPr>
              <a:t>été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prise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400" b="1" spc="-20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111111"/>
                </a:solidFill>
                <a:latin typeface="Arial"/>
                <a:cs typeface="Arial"/>
              </a:rPr>
              <a:t>charge.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64499" y="2674353"/>
            <a:ext cx="2070101" cy="25776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1" dirty="0" err="1">
                <a:solidFill>
                  <a:srgbClr val="C00000"/>
                </a:solidFill>
                <a:latin typeface="Arial"/>
                <a:cs typeface="Arial"/>
              </a:rPr>
              <a:t>Bénéfices</a:t>
            </a:r>
            <a:r>
              <a:rPr sz="16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600" b="1" spc="-10" dirty="0" err="1">
                <a:solidFill>
                  <a:srgbClr val="C00000"/>
                </a:solidFill>
                <a:latin typeface="Arial"/>
                <a:cs typeface="Arial"/>
              </a:rPr>
              <a:t>attendus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 :</a:t>
            </a:r>
            <a:endParaRPr sz="16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6899" y="3194968"/>
            <a:ext cx="3450590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L’état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du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parc</a:t>
            </a:r>
            <a:r>
              <a:rPr sz="1400" b="1" spc="-11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un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coup</a:t>
            </a:r>
            <a:r>
              <a:rPr sz="14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d’œil</a:t>
            </a:r>
            <a:r>
              <a:rPr sz="1400" b="1" spc="-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un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statut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par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machine,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normal,</a:t>
            </a:r>
            <a:r>
              <a:rPr sz="1400" spc="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ou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0700" y="3194968"/>
            <a:ext cx="335089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temps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réel</a:t>
            </a:r>
            <a:r>
              <a:rPr sz="1400" b="1" spc="-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dès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qu’un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seuil</a:t>
            </a:r>
            <a:r>
              <a:rPr sz="1400" spc="-1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est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franchi,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recharger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page.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064499" y="3194968"/>
            <a:ext cx="3474720" cy="739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Moins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d’arrêts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non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 planifiés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maintenance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intervient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pendant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dérive,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après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la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casse.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6899" y="4028228"/>
            <a:ext cx="3571240" cy="7166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8763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Les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tendances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historiques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vibration,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température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pression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pour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comprendre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une </a:t>
            </a:r>
            <a:r>
              <a:rPr sz="1400" spc="-10" dirty="0" err="1">
                <a:solidFill>
                  <a:srgbClr val="111111"/>
                </a:solidFill>
                <a:latin typeface="Arial MT"/>
                <a:cs typeface="Arial MT"/>
              </a:rPr>
              <a:t>dérive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30700" y="3856578"/>
            <a:ext cx="32378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Prioriser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critique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avant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l’avertissement,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seule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sz="1400" spc="-1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franchissement.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43399" y="4623633"/>
            <a:ext cx="3358515" cy="520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61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Acquitter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l’alerte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l’heure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prise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charge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reste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enregistrée.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064499" y="4090318"/>
            <a:ext cx="3256279" cy="74930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60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Économies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interventions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planifiées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plutôt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qu’en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urgence,</a:t>
            </a:r>
            <a:r>
              <a:rPr sz="1400" spc="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pièces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remplacées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avant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d’endommager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reste.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064499" y="4995193"/>
            <a:ext cx="3314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Conformité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journal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horodaté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acquittements,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exploitable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audit.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09599" y="622934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1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83272B8A-9B43-9CB3-3809-90EDECB61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4D3EFCDC-EEB0-2DD2-2F79-A24BD69BF5A3}"/>
              </a:ext>
            </a:extLst>
          </p:cNvPr>
          <p:cNvSpPr txBox="1"/>
          <p:nvPr/>
        </p:nvSpPr>
        <p:spPr>
          <a:xfrm>
            <a:off x="506304" y="5025934"/>
            <a:ext cx="367030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l">
              <a:lnSpc>
                <a:spcPts val="1415"/>
              </a:lnSpc>
              <a:tabLst>
                <a:tab pos="3557904" algn="l"/>
              </a:tabLst>
            </a:pPr>
            <a:r>
              <a:rPr lang="fr-FR" sz="1400" b="1" spc="-40" dirty="0">
                <a:solidFill>
                  <a:srgbClr val="111111"/>
                </a:solidFill>
                <a:latin typeface="Arial"/>
                <a:cs typeface="Arial"/>
              </a:rPr>
              <a:t>Des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60" dirty="0">
                <a:solidFill>
                  <a:srgbClr val="111111"/>
                </a:solidFill>
                <a:latin typeface="Arial"/>
                <a:cs typeface="Arial"/>
              </a:rPr>
              <a:t>seuils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55" dirty="0">
                <a:solidFill>
                  <a:srgbClr val="111111"/>
                </a:solidFill>
                <a:latin typeface="Arial"/>
                <a:cs typeface="Arial"/>
              </a:rPr>
              <a:t>explicites</a:t>
            </a:r>
            <a:r>
              <a:rPr lang="fr-FR"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lang="fr-FR"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35" dirty="0">
                <a:solidFill>
                  <a:srgbClr val="111111"/>
                </a:solidFill>
                <a:latin typeface="Arial MT"/>
                <a:cs typeface="Arial MT"/>
              </a:rPr>
              <a:t>capteur,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lang="fr-FR"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20" dirty="0">
                <a:solidFill>
                  <a:srgbClr val="111111"/>
                </a:solidFill>
                <a:latin typeface="Arial MT"/>
                <a:cs typeface="Arial MT"/>
              </a:rPr>
              <a:t>puis</a:t>
            </a:r>
            <a:r>
              <a:rPr lang="fr-FR"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lang="fr-FR" sz="1400" dirty="0">
              <a:latin typeface="Arial MT"/>
              <a:cs typeface="Arial MT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8292370F-34CE-3552-7764-147EFE3A54CB}"/>
              </a:ext>
            </a:extLst>
          </p:cNvPr>
          <p:cNvSpPr txBox="1"/>
          <p:nvPr/>
        </p:nvSpPr>
        <p:spPr>
          <a:xfrm>
            <a:off x="506304" y="2648108"/>
            <a:ext cx="27702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Ingénieurs</a:t>
            </a:r>
            <a:r>
              <a:rPr lang="fr-FR" sz="16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fr-FR" sz="16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production :</a:t>
            </a:r>
            <a:endParaRPr lang="fr-FR" sz="2000" dirty="0">
              <a:solidFill>
                <a:srgbClr val="C00000"/>
              </a:solidFill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03BD695-F388-7CC4-CF59-32402226AEA7}"/>
              </a:ext>
            </a:extLst>
          </p:cNvPr>
          <p:cNvSpPr txBox="1"/>
          <p:nvPr/>
        </p:nvSpPr>
        <p:spPr>
          <a:xfrm>
            <a:off x="4308122" y="2648108"/>
            <a:ext cx="27702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Équipes</a:t>
            </a:r>
            <a:r>
              <a:rPr lang="fr-FR" sz="1600" b="1" spc="-12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fr-FR" sz="1600" b="1" spc="-12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maintenance :</a:t>
            </a:r>
            <a:endParaRPr lang="fr-FR" sz="2000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0664"/>
            <a:ext cx="5863590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30" dirty="0"/>
              <a:t>techniques</a:t>
            </a:r>
            <a:endParaRPr sz="7300" dirty="0"/>
          </a:p>
        </p:txBody>
      </p:sp>
      <p:sp>
        <p:nvSpPr>
          <p:cNvPr id="5" name="object 5"/>
          <p:cNvSpPr txBox="1"/>
          <p:nvPr/>
        </p:nvSpPr>
        <p:spPr>
          <a:xfrm>
            <a:off x="596899" y="1738826"/>
            <a:ext cx="2030095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Services</a:t>
            </a:r>
            <a:r>
              <a:rPr sz="15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C00000"/>
                </a:solidFill>
                <a:latin typeface="Arial"/>
                <a:cs typeface="Arial"/>
              </a:rPr>
              <a:t>à</a:t>
            </a:r>
            <a:r>
              <a:rPr sz="1500" b="1" spc="-19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développer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7600" y="1738826"/>
            <a:ext cx="2813050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Données</a:t>
            </a:r>
            <a:r>
              <a:rPr sz="1500" b="1" spc="-1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C00000"/>
                </a:solidFill>
                <a:latin typeface="Arial"/>
                <a:cs typeface="Arial"/>
              </a:rPr>
              <a:t>à</a:t>
            </a:r>
            <a:r>
              <a:rPr sz="1500" b="1" spc="-19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stocker</a:t>
            </a:r>
            <a:r>
              <a:rPr sz="1500" b="1" spc="-18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50" dirty="0">
                <a:solidFill>
                  <a:srgbClr val="C00000"/>
                </a:solidFill>
                <a:latin typeface="Arial"/>
                <a:cs typeface="Arial"/>
              </a:rPr>
              <a:t>et</a:t>
            </a:r>
            <a:r>
              <a:rPr sz="1500" b="1" spc="-1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sécuriser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574426"/>
              </p:ext>
            </p:extLst>
          </p:nvPr>
        </p:nvGraphicFramePr>
        <p:xfrm>
          <a:off x="609599" y="2315210"/>
          <a:ext cx="5371464" cy="27139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7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2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35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125"/>
                        </a:lnSpc>
                      </a:pPr>
                      <a:r>
                        <a:rPr sz="115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Rôle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Brique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Ingestion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Télémétrie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Détection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franchissement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Séries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temporelles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État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actif</a:t>
                      </a:r>
                      <a:r>
                        <a:rPr sz="1300" spc="-1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250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→</a:t>
                      </a:r>
                      <a:r>
                        <a:rPr sz="1250" spc="-55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acquitté,</a:t>
                      </a:r>
                      <a:r>
                        <a:rPr sz="1300" spc="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partagé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PostgreSQL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6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1300" b="1" spc="-7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réel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Pousser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navigateur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WebSocket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Visualisation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courbes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Node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Répartition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Charge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répartie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333822"/>
              </p:ext>
            </p:extLst>
          </p:nvPr>
        </p:nvGraphicFramePr>
        <p:xfrm>
          <a:off x="6210299" y="2315209"/>
          <a:ext cx="5372733" cy="27139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7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978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Enjeu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Protection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Télémétrie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673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Intégrité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falsifiée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authentifiés,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749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entrées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39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Journal</a:t>
                      </a:r>
                      <a:r>
                        <a:rPr sz="1300" b="1" spc="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Registre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maintenance,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interne,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non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126">
                <a:tc>
                  <a:txBody>
                    <a:bodyPr/>
                    <a:lstStyle/>
                    <a:p>
                      <a:pPr>
                        <a:lnSpc>
                          <a:spcPts val="1540"/>
                        </a:lnSpc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540"/>
                        </a:lnSpc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preuve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audit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540"/>
                        </a:lnSpc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Secrets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705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Tokens,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mots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200" spc="-2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.</a:t>
                      </a:r>
                      <a:r>
                        <a:rPr sz="1200" spc="-509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200" spc="-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env</a:t>
                      </a:r>
                      <a:r>
                        <a:rPr sz="1200" spc="-455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Seuils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49554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</a:t>
                      </a:r>
                      <a:r>
                        <a:rPr sz="1300" spc="-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erroné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rend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l’alerte muette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Versionnés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avec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code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506786" y="5334347"/>
            <a:ext cx="5178425" cy="4753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ctr">
              <a:lnSpc>
                <a:spcPct val="111600"/>
              </a:lnSpc>
              <a:spcBef>
                <a:spcPts val="95"/>
              </a:spcBef>
            </a:pP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Exigences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transverses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4A4A4A"/>
                </a:solidFill>
                <a:latin typeface="Arial MT"/>
                <a:cs typeface="Arial MT"/>
              </a:rPr>
              <a:t>montée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horizontale,</a:t>
            </a:r>
            <a:r>
              <a:rPr sz="14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redémarrage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automatique,</a:t>
            </a:r>
            <a:r>
              <a:rPr sz="1400" spc="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4A4A4A"/>
                </a:solidFill>
                <a:latin typeface="Arial MT"/>
                <a:cs typeface="Arial MT"/>
              </a:rPr>
              <a:t>démarrage</a:t>
            </a:r>
            <a:r>
              <a:rPr sz="1400" spc="-9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14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une</a:t>
            </a:r>
            <a:r>
              <a:rPr sz="1400" spc="-10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commande.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2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661DE57-0521-071E-41E3-88903679B4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bject 62"/>
          <p:cNvSpPr txBox="1"/>
          <p:nvPr/>
        </p:nvSpPr>
        <p:spPr>
          <a:xfrm>
            <a:off x="939799" y="5396810"/>
            <a:ext cx="5180330" cy="6184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34493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l’historique,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consultation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hors</a:t>
            </a:r>
            <a:r>
              <a:rPr sz="11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site,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bases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managées</a:t>
            </a:r>
            <a:endParaRPr sz="1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sz="105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tabLst>
                <a:tab pos="2863215" algn="l"/>
              </a:tabLst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sans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lang="fr-FR" sz="1150" spc="-65" dirty="0">
                <a:solidFill>
                  <a:srgbClr val="4A4A4A"/>
                </a:solidFill>
                <a:latin typeface="Arial MT"/>
                <a:cs typeface="Arial MT"/>
              </a:rPr>
              <a:t>,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575" spc="-127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262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794" baseline="2645" dirty="0">
                <a:solidFill>
                  <a:srgbClr val="4A4A4A"/>
                </a:solidFill>
                <a:latin typeface="Lucida Console"/>
                <a:cs typeface="Lucida Console"/>
              </a:rPr>
              <a:t> </a:t>
            </a:r>
            <a:r>
              <a:rPr sz="1575" spc="-30" baseline="2645" dirty="0">
                <a:solidFill>
                  <a:srgbClr val="4A4A4A"/>
                </a:solidFill>
                <a:latin typeface="Lucida Console"/>
                <a:cs typeface="Lucida Console"/>
              </a:rPr>
              <a:t>scale</a:t>
            </a:r>
            <a:r>
              <a:rPr sz="1575" baseline="2645" dirty="0">
                <a:solidFill>
                  <a:srgbClr val="4A4A4A"/>
                </a:solidFill>
                <a:latin typeface="Lucida Console"/>
                <a:cs typeface="Lucida Console"/>
              </a:rPr>
              <a:t>	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lang="fr-FR" sz="1150" spc="-130" dirty="0">
                <a:solidFill>
                  <a:srgbClr val="4A4A4A"/>
                </a:solidFill>
                <a:latin typeface="Arial MT"/>
                <a:cs typeface="Arial MT"/>
              </a:rPr>
              <a:t> - 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volume</a:t>
            </a:r>
            <a:r>
              <a:rPr sz="115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persistant</a:t>
            </a:r>
            <a:endParaRPr sz="1150" dirty="0">
              <a:latin typeface="Arial MT"/>
              <a:cs typeface="Arial MT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20676"/>
            <a:ext cx="6407784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45" dirty="0"/>
              <a:t>Architecture</a:t>
            </a:r>
            <a:r>
              <a:rPr spc="-470" dirty="0"/>
              <a:t> </a:t>
            </a:r>
            <a:r>
              <a:rPr spc="-30" dirty="0"/>
              <a:t>proposée</a:t>
            </a:r>
            <a:endParaRPr sz="7300" dirty="0"/>
          </a:p>
        </p:txBody>
      </p:sp>
      <p:sp>
        <p:nvSpPr>
          <p:cNvPr id="3" name="object 3"/>
          <p:cNvSpPr/>
          <p:nvPr/>
        </p:nvSpPr>
        <p:spPr>
          <a:xfrm>
            <a:off x="2172500" y="1708961"/>
            <a:ext cx="4711700" cy="3270250"/>
          </a:xfrm>
          <a:custGeom>
            <a:avLst/>
            <a:gdLst/>
            <a:ahLst/>
            <a:cxnLst/>
            <a:rect l="l" t="t" r="r" b="b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272307" y="1749115"/>
            <a:ext cx="3768090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SUR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SITE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2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PRIVÉ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IaaS</a:t>
            </a:r>
            <a:r>
              <a:rPr sz="1000" b="1" spc="3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lang="fr-FR" sz="1000" b="1" spc="30" dirty="0">
                <a:solidFill>
                  <a:srgbClr val="6A6A6A"/>
                </a:solidFill>
                <a:latin typeface="Arial"/>
                <a:cs typeface="Arial"/>
              </a:rPr>
              <a:t>-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r>
              <a:rPr sz="1000" b="1" spc="4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Docker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Compose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7131049" y="1655178"/>
            <a:ext cx="1906905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Déploiement</a:t>
            </a:r>
            <a:r>
              <a:rPr sz="1500" b="1" spc="-6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hybride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45680" y="2145839"/>
            <a:ext cx="1081405" cy="522605"/>
          </a:xfrm>
          <a:custGeom>
            <a:avLst/>
            <a:gdLst/>
            <a:ahLst/>
            <a:cxnLst/>
            <a:rect l="l" t="t" r="r" b="b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ln w="13511">
            <a:solidFill>
              <a:srgbClr val="11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1014" y="2195742"/>
            <a:ext cx="930275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Navigateur</a:t>
            </a:r>
            <a:endParaRPr sz="13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ingénieurs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719629" y="2369232"/>
            <a:ext cx="590550" cy="76200"/>
            <a:chOff x="1719629" y="2369232"/>
            <a:chExt cx="590550" cy="76200"/>
          </a:xfrm>
        </p:grpSpPr>
        <p:sp>
          <p:nvSpPr>
            <p:cNvPr id="35" name="object 35"/>
            <p:cNvSpPr/>
            <p:nvPr/>
          </p:nvSpPr>
          <p:spPr>
            <a:xfrm>
              <a:off x="1726614" y="240706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1798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767928" y="2181081"/>
            <a:ext cx="37274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9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100" spc="-21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3000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38695" y="3780494"/>
            <a:ext cx="1165225" cy="606425"/>
            <a:chOff x="638695" y="3780494"/>
            <a:chExt cx="1165225" cy="606425"/>
          </a:xfrm>
        </p:grpSpPr>
        <p:sp>
          <p:nvSpPr>
            <p:cNvPr id="8" name="object 8"/>
            <p:cNvSpPr/>
            <p:nvPr/>
          </p:nvSpPr>
          <p:spPr>
            <a:xfrm>
              <a:off x="717742" y="3785256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22246" y="3864074"/>
            <a:ext cx="1006475" cy="43053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Capteurs</a:t>
            </a:r>
            <a:endParaRPr sz="1350" dirty="0">
              <a:latin typeface="Arial"/>
              <a:cs typeface="Arial"/>
            </a:endParaRPr>
          </a:p>
          <a:p>
            <a:pPr marL="31115">
              <a:lnSpc>
                <a:spcPts val="1280"/>
              </a:lnSpc>
              <a:spcBef>
                <a:spcPts val="50"/>
              </a:spcBef>
            </a:pP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simulés</a:t>
            </a:r>
            <a:r>
              <a:rPr sz="1100" spc="-4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×N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314143" y="2138854"/>
            <a:ext cx="843280" cy="2247900"/>
            <a:chOff x="2314143" y="2138854"/>
            <a:chExt cx="843280" cy="2247900"/>
          </a:xfrm>
        </p:grpSpPr>
        <p:sp>
          <p:nvSpPr>
            <p:cNvPr id="15" name="object 15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98364" y="2195742"/>
            <a:ext cx="629285" cy="567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999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nginx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répartition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75234" y="2069014"/>
            <a:ext cx="1435100" cy="606425"/>
            <a:chOff x="3575234" y="2069014"/>
            <a:chExt cx="1435100" cy="606425"/>
          </a:xfrm>
        </p:grpSpPr>
        <p:sp>
          <p:nvSpPr>
            <p:cNvPr id="19" name="object 19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658785" y="2195742"/>
            <a:ext cx="128524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frontend</a:t>
            </a:r>
            <a:r>
              <a:rPr sz="135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Node</a:t>
            </a:r>
            <a:r>
              <a:rPr sz="11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interface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73855" y="3046618"/>
            <a:ext cx="1315720" cy="522605"/>
          </a:xfrm>
          <a:prstGeom prst="rect">
            <a:avLst/>
          </a:prstGeom>
          <a:solidFill>
            <a:srgbClr val="1F36C7"/>
          </a:solidFill>
        </p:spPr>
        <p:txBody>
          <a:bodyPr vert="horz" wrap="square" lIns="0" tIns="62230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49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InfluxDB</a:t>
            </a:r>
            <a:endParaRPr sz="1350">
              <a:latin typeface="Arial"/>
              <a:cs typeface="Arial"/>
            </a:endParaRPr>
          </a:p>
          <a:p>
            <a:pPr marL="10795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télémétrie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1719629" y="4080712"/>
            <a:ext cx="590550" cy="76200"/>
            <a:chOff x="1719629" y="4080712"/>
            <a:chExt cx="590550" cy="76200"/>
          </a:xfrm>
        </p:grpSpPr>
        <p:sp>
          <p:nvSpPr>
            <p:cNvPr id="39" name="object 39"/>
            <p:cNvSpPr/>
            <p:nvPr/>
          </p:nvSpPr>
          <p:spPr>
            <a:xfrm>
              <a:off x="1726614" y="411854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1798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1821953" y="3892455"/>
            <a:ext cx="39941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POST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3575234" y="3780494"/>
            <a:ext cx="1435100" cy="606425"/>
            <a:chOff x="3575234" y="3780494"/>
            <a:chExt cx="1435100" cy="606425"/>
          </a:xfrm>
        </p:grpSpPr>
        <p:sp>
          <p:nvSpPr>
            <p:cNvPr id="27" name="object 27"/>
            <p:cNvSpPr/>
            <p:nvPr/>
          </p:nvSpPr>
          <p:spPr>
            <a:xfrm>
              <a:off x="3618250" y="3785256"/>
              <a:ext cx="1387475" cy="558800"/>
            </a:xfrm>
            <a:custGeom>
              <a:avLst/>
              <a:gdLst/>
              <a:ahLst/>
              <a:cxnLst/>
              <a:rect l="l" t="t" r="r" b="b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pPr algn="l" rtl="0"/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pPr algn="l" rtl="0"/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3654281" y="3903588"/>
            <a:ext cx="1285240" cy="487680"/>
          </a:xfrm>
          <a:prstGeom prst="rect">
            <a:avLst/>
          </a:prstGeom>
          <a:noFill/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backend</a:t>
            </a:r>
            <a:r>
              <a:rPr sz="13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 dirty="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FastAPI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seuils</a:t>
            </a:r>
            <a:endParaRPr sz="1100" dirty="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473855" y="4055490"/>
            <a:ext cx="1315720" cy="522605"/>
          </a:xfrm>
          <a:custGeom>
            <a:avLst/>
            <a:gdLst/>
            <a:ahLst/>
            <a:cxnLst/>
            <a:rect l="l" t="t" r="r" b="b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5569147" y="4105504"/>
            <a:ext cx="101346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PostgreSQL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alertes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149845" y="2369232"/>
            <a:ext cx="2691130" cy="2395855"/>
            <a:chOff x="3149845" y="2369232"/>
            <a:chExt cx="2691130" cy="2395855"/>
          </a:xfrm>
        </p:grpSpPr>
        <p:sp>
          <p:nvSpPr>
            <p:cNvPr id="43" name="object 43"/>
            <p:cNvSpPr/>
            <p:nvPr/>
          </p:nvSpPr>
          <p:spPr>
            <a:xfrm>
              <a:off x="3149845" y="240706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47907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149845" y="411854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907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167860" y="2668291"/>
              <a:ext cx="1090295" cy="648970"/>
            </a:xfrm>
            <a:custGeom>
              <a:avLst/>
              <a:gdLst/>
              <a:ahLst/>
              <a:cxnLst/>
              <a:rect l="l" t="t" r="r" b="b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167860" y="3279019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933387" y="3307844"/>
              <a:ext cx="522605" cy="694055"/>
            </a:xfrm>
            <a:custGeom>
              <a:avLst/>
              <a:gdLst/>
              <a:ahLst/>
              <a:cxnLst/>
              <a:rect l="l" t="t" r="r" b="b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370715" y="3270011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933387" y="4235646"/>
              <a:ext cx="522605" cy="81280"/>
            </a:xfrm>
            <a:custGeom>
              <a:avLst/>
              <a:gdLst/>
              <a:ahLst/>
              <a:cxnLst/>
              <a:rect l="l" t="t" r="r" b="b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370715" y="4278883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257803" y="4397786"/>
              <a:ext cx="1576705" cy="360680"/>
            </a:xfrm>
            <a:custGeom>
              <a:avLst/>
              <a:gdLst/>
              <a:ahLst/>
              <a:cxnLst/>
              <a:rect l="l" t="t" r="r" b="b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219970" y="4397786"/>
              <a:ext cx="76200" cy="85725"/>
            </a:xfrm>
            <a:custGeom>
              <a:avLst/>
              <a:gdLst/>
              <a:ahLst/>
              <a:cxnLst/>
              <a:rect l="l" t="t" r="r" b="b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68"/>
          <p:cNvSpPr txBox="1"/>
          <p:nvPr/>
        </p:nvSpPr>
        <p:spPr>
          <a:xfrm>
            <a:off x="7131049" y="2175793"/>
            <a:ext cx="4348480" cy="7166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Sur</a:t>
            </a:r>
            <a:r>
              <a:rPr sz="1400" b="1" spc="-1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site</a:t>
            </a:r>
            <a:r>
              <a:rPr sz="14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80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privé,</a:t>
            </a:r>
            <a:r>
              <a:rPr sz="1400" b="1" spc="-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30" dirty="0">
                <a:solidFill>
                  <a:srgbClr val="111111"/>
                </a:solidFill>
                <a:latin typeface="Arial"/>
                <a:cs typeface="Arial"/>
              </a:rPr>
              <a:t>IaaS</a:t>
            </a:r>
            <a:r>
              <a:rPr sz="1400" b="1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Ingestion,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détection,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alertes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tableau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bord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temps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réel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latence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faible,</a:t>
            </a:r>
            <a:r>
              <a:rPr sz="1400" spc="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réseau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industriel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isolé,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fonctionne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Internet.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4326135" y="2802587"/>
            <a:ext cx="121475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REST</a:t>
            </a:r>
            <a:r>
              <a:rPr sz="1100" spc="-1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4A4A4A"/>
                </a:solidFill>
                <a:latin typeface="Arial MT"/>
                <a:cs typeface="Arial MT"/>
              </a:rPr>
              <a:t>+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WebSocket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326135" y="2964661"/>
            <a:ext cx="9499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vers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</a:t>
            </a:r>
            <a:r>
              <a:rPr sz="110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backend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7143749" y="3019424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69" name="object 69"/>
          <p:cNvSpPr txBox="1"/>
          <p:nvPr/>
        </p:nvSpPr>
        <p:spPr>
          <a:xfrm>
            <a:off x="7131049" y="3061618"/>
            <a:ext cx="4093210" cy="7588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135"/>
              </a:spcBef>
            </a:pP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public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80" dirty="0">
                <a:solidFill>
                  <a:srgbClr val="111111"/>
                </a:solidFill>
                <a:latin typeface="Arial"/>
                <a:cs typeface="Arial"/>
              </a:rPr>
              <a:t>: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PaaS.</a:t>
            </a:r>
            <a:r>
              <a:rPr sz="1400" b="1" spc="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Historique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long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terme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consultation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hors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site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sur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bases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managées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élastique,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exploitation.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7131049" y="4055478"/>
            <a:ext cx="260540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Prototype</a:t>
            </a:r>
            <a:r>
              <a:rPr sz="1500" b="1" spc="-1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14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500" b="1" spc="-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Docker</a:t>
            </a:r>
            <a:r>
              <a:rPr sz="15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Compose</a:t>
            </a:r>
            <a:endParaRPr sz="1500">
              <a:latin typeface="Arial"/>
              <a:cs typeface="Arial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7143749" y="4410073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4326135" y="4748217"/>
            <a:ext cx="18548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NOTIFY</a:t>
            </a:r>
            <a:r>
              <a:rPr sz="1100" spc="-1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4A4A4A"/>
                </a:solidFill>
                <a:latin typeface="Microsoft Sans Serif"/>
                <a:cs typeface="Microsoft Sans Serif"/>
              </a:rPr>
              <a:t>→</a:t>
            </a:r>
            <a:r>
              <a:rPr sz="1050" spc="-20" dirty="0">
                <a:solidFill>
                  <a:srgbClr val="4A4A4A"/>
                </a:solidFill>
                <a:latin typeface="Microsoft Sans Serif"/>
                <a:cs typeface="Microsoft Sans Serif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toutes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répliques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7131049" y="4490368"/>
            <a:ext cx="4076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6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services,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démarrés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commande.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Les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services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état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répliquent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à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chaud.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7143749" y="5105398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2170248" y="5129669"/>
            <a:ext cx="4716145" cy="536575"/>
          </a:xfrm>
          <a:custGeom>
            <a:avLst/>
            <a:gdLst/>
            <a:ahLst/>
            <a:cxnLst/>
            <a:rect l="l" t="t" r="r" b="b"/>
            <a:pathLst>
              <a:path w="4716145" h="536575">
                <a:moveTo>
                  <a:pt x="132864" y="13511"/>
                </a:moveTo>
                <a:lnTo>
                  <a:pt x="87825" y="13511"/>
                </a:lnTo>
                <a:lnTo>
                  <a:pt x="87825" y="0"/>
                </a:lnTo>
                <a:lnTo>
                  <a:pt x="132864" y="0"/>
                </a:lnTo>
                <a:lnTo>
                  <a:pt x="132864" y="13511"/>
                </a:lnTo>
                <a:close/>
              </a:path>
              <a:path w="4716145" h="536575">
                <a:moveTo>
                  <a:pt x="213934" y="13511"/>
                </a:moveTo>
                <a:lnTo>
                  <a:pt x="168896" y="13511"/>
                </a:lnTo>
                <a:lnTo>
                  <a:pt x="168896" y="0"/>
                </a:lnTo>
                <a:lnTo>
                  <a:pt x="213934" y="0"/>
                </a:lnTo>
                <a:lnTo>
                  <a:pt x="213934" y="13511"/>
                </a:lnTo>
                <a:close/>
              </a:path>
              <a:path w="4716145" h="536575">
                <a:moveTo>
                  <a:pt x="295005" y="13511"/>
                </a:moveTo>
                <a:lnTo>
                  <a:pt x="249966" y="13511"/>
                </a:lnTo>
                <a:lnTo>
                  <a:pt x="249966" y="0"/>
                </a:lnTo>
                <a:lnTo>
                  <a:pt x="295005" y="0"/>
                </a:lnTo>
                <a:lnTo>
                  <a:pt x="295005" y="13511"/>
                </a:lnTo>
                <a:close/>
              </a:path>
              <a:path w="4716145" h="536575">
                <a:moveTo>
                  <a:pt x="376075" y="13511"/>
                </a:moveTo>
                <a:lnTo>
                  <a:pt x="331036" y="13511"/>
                </a:lnTo>
                <a:lnTo>
                  <a:pt x="331036" y="0"/>
                </a:lnTo>
                <a:lnTo>
                  <a:pt x="376075" y="0"/>
                </a:lnTo>
                <a:lnTo>
                  <a:pt x="376075" y="13511"/>
                </a:lnTo>
                <a:close/>
              </a:path>
              <a:path w="4716145" h="536575">
                <a:moveTo>
                  <a:pt x="457145" y="13511"/>
                </a:moveTo>
                <a:lnTo>
                  <a:pt x="412106" y="13511"/>
                </a:lnTo>
                <a:lnTo>
                  <a:pt x="412106" y="0"/>
                </a:lnTo>
                <a:lnTo>
                  <a:pt x="457145" y="0"/>
                </a:lnTo>
                <a:lnTo>
                  <a:pt x="457145" y="13511"/>
                </a:lnTo>
                <a:close/>
              </a:path>
              <a:path w="4716145" h="536575">
                <a:moveTo>
                  <a:pt x="538215" y="13511"/>
                </a:moveTo>
                <a:lnTo>
                  <a:pt x="493176" y="13511"/>
                </a:lnTo>
                <a:lnTo>
                  <a:pt x="493176" y="0"/>
                </a:lnTo>
                <a:lnTo>
                  <a:pt x="538215" y="0"/>
                </a:lnTo>
                <a:lnTo>
                  <a:pt x="538215" y="13511"/>
                </a:lnTo>
                <a:close/>
              </a:path>
              <a:path w="4716145" h="536575">
                <a:moveTo>
                  <a:pt x="619285" y="13511"/>
                </a:moveTo>
                <a:lnTo>
                  <a:pt x="574246" y="13511"/>
                </a:lnTo>
                <a:lnTo>
                  <a:pt x="574246" y="0"/>
                </a:lnTo>
                <a:lnTo>
                  <a:pt x="619285" y="0"/>
                </a:lnTo>
                <a:lnTo>
                  <a:pt x="619285" y="13511"/>
                </a:lnTo>
                <a:close/>
              </a:path>
              <a:path w="4716145" h="536575">
                <a:moveTo>
                  <a:pt x="700355" y="13511"/>
                </a:moveTo>
                <a:lnTo>
                  <a:pt x="655316" y="13511"/>
                </a:lnTo>
                <a:lnTo>
                  <a:pt x="655316" y="0"/>
                </a:lnTo>
                <a:lnTo>
                  <a:pt x="700355" y="0"/>
                </a:lnTo>
                <a:lnTo>
                  <a:pt x="700355" y="13511"/>
                </a:lnTo>
                <a:close/>
              </a:path>
              <a:path w="4716145" h="536575">
                <a:moveTo>
                  <a:pt x="781425" y="13511"/>
                </a:moveTo>
                <a:lnTo>
                  <a:pt x="736386" y="13511"/>
                </a:lnTo>
                <a:lnTo>
                  <a:pt x="736386" y="0"/>
                </a:lnTo>
                <a:lnTo>
                  <a:pt x="781425" y="0"/>
                </a:lnTo>
                <a:lnTo>
                  <a:pt x="781425" y="13511"/>
                </a:lnTo>
                <a:close/>
              </a:path>
              <a:path w="4716145" h="536575">
                <a:moveTo>
                  <a:pt x="862495" y="13511"/>
                </a:moveTo>
                <a:lnTo>
                  <a:pt x="817456" y="13511"/>
                </a:lnTo>
                <a:lnTo>
                  <a:pt x="817456" y="0"/>
                </a:lnTo>
                <a:lnTo>
                  <a:pt x="862495" y="0"/>
                </a:lnTo>
                <a:lnTo>
                  <a:pt x="862495" y="13511"/>
                </a:lnTo>
                <a:close/>
              </a:path>
              <a:path w="4716145" h="536575">
                <a:moveTo>
                  <a:pt x="943565" y="13511"/>
                </a:moveTo>
                <a:lnTo>
                  <a:pt x="898526" y="13511"/>
                </a:lnTo>
                <a:lnTo>
                  <a:pt x="898526" y="0"/>
                </a:lnTo>
                <a:lnTo>
                  <a:pt x="943565" y="0"/>
                </a:lnTo>
                <a:lnTo>
                  <a:pt x="943565" y="13511"/>
                </a:lnTo>
                <a:close/>
              </a:path>
              <a:path w="4716145" h="536575">
                <a:moveTo>
                  <a:pt x="1024636" y="13511"/>
                </a:moveTo>
                <a:lnTo>
                  <a:pt x="979597" y="13511"/>
                </a:lnTo>
                <a:lnTo>
                  <a:pt x="979597" y="0"/>
                </a:lnTo>
                <a:lnTo>
                  <a:pt x="1024636" y="0"/>
                </a:lnTo>
                <a:lnTo>
                  <a:pt x="1024636" y="13511"/>
                </a:lnTo>
                <a:close/>
              </a:path>
              <a:path w="4716145" h="536575">
                <a:moveTo>
                  <a:pt x="1105706" y="13511"/>
                </a:moveTo>
                <a:lnTo>
                  <a:pt x="1060667" y="13511"/>
                </a:lnTo>
                <a:lnTo>
                  <a:pt x="1060667" y="0"/>
                </a:lnTo>
                <a:lnTo>
                  <a:pt x="1105706" y="0"/>
                </a:lnTo>
                <a:lnTo>
                  <a:pt x="1105706" y="13511"/>
                </a:lnTo>
                <a:close/>
              </a:path>
              <a:path w="4716145" h="536575">
                <a:moveTo>
                  <a:pt x="1186776" y="13511"/>
                </a:moveTo>
                <a:lnTo>
                  <a:pt x="1141737" y="13511"/>
                </a:lnTo>
                <a:lnTo>
                  <a:pt x="1141737" y="0"/>
                </a:lnTo>
                <a:lnTo>
                  <a:pt x="1186776" y="0"/>
                </a:lnTo>
                <a:lnTo>
                  <a:pt x="1186776" y="13511"/>
                </a:lnTo>
                <a:close/>
              </a:path>
              <a:path w="4716145" h="536575">
                <a:moveTo>
                  <a:pt x="1267846" y="13511"/>
                </a:moveTo>
                <a:lnTo>
                  <a:pt x="1222807" y="13511"/>
                </a:lnTo>
                <a:lnTo>
                  <a:pt x="1222807" y="0"/>
                </a:lnTo>
                <a:lnTo>
                  <a:pt x="1267846" y="0"/>
                </a:lnTo>
                <a:lnTo>
                  <a:pt x="1267846" y="13511"/>
                </a:lnTo>
                <a:close/>
              </a:path>
              <a:path w="4716145" h="536575">
                <a:moveTo>
                  <a:pt x="1348916" y="13511"/>
                </a:moveTo>
                <a:lnTo>
                  <a:pt x="1303877" y="13511"/>
                </a:lnTo>
                <a:lnTo>
                  <a:pt x="1303877" y="0"/>
                </a:lnTo>
                <a:lnTo>
                  <a:pt x="1348916" y="0"/>
                </a:lnTo>
                <a:lnTo>
                  <a:pt x="1348916" y="13511"/>
                </a:lnTo>
                <a:close/>
              </a:path>
              <a:path w="4716145" h="536575">
                <a:moveTo>
                  <a:pt x="1429986" y="13511"/>
                </a:moveTo>
                <a:lnTo>
                  <a:pt x="1384947" y="13511"/>
                </a:lnTo>
                <a:lnTo>
                  <a:pt x="1384947" y="0"/>
                </a:lnTo>
                <a:lnTo>
                  <a:pt x="1429986" y="0"/>
                </a:lnTo>
                <a:lnTo>
                  <a:pt x="1429986" y="13511"/>
                </a:lnTo>
                <a:close/>
              </a:path>
              <a:path w="4716145" h="536575">
                <a:moveTo>
                  <a:pt x="1511056" y="13511"/>
                </a:moveTo>
                <a:lnTo>
                  <a:pt x="1466017" y="13511"/>
                </a:lnTo>
                <a:lnTo>
                  <a:pt x="1466017" y="0"/>
                </a:lnTo>
                <a:lnTo>
                  <a:pt x="1511056" y="0"/>
                </a:lnTo>
                <a:lnTo>
                  <a:pt x="1511056" y="13511"/>
                </a:lnTo>
                <a:close/>
              </a:path>
              <a:path w="4716145" h="536575">
                <a:moveTo>
                  <a:pt x="1592126" y="13511"/>
                </a:moveTo>
                <a:lnTo>
                  <a:pt x="1547087" y="13511"/>
                </a:lnTo>
                <a:lnTo>
                  <a:pt x="1547087" y="0"/>
                </a:lnTo>
                <a:lnTo>
                  <a:pt x="1592126" y="0"/>
                </a:lnTo>
                <a:lnTo>
                  <a:pt x="1592126" y="13511"/>
                </a:lnTo>
                <a:close/>
              </a:path>
              <a:path w="4716145" h="536575">
                <a:moveTo>
                  <a:pt x="1673196" y="13511"/>
                </a:moveTo>
                <a:lnTo>
                  <a:pt x="1628157" y="13511"/>
                </a:lnTo>
                <a:lnTo>
                  <a:pt x="1628157" y="0"/>
                </a:lnTo>
                <a:lnTo>
                  <a:pt x="1673196" y="0"/>
                </a:lnTo>
                <a:lnTo>
                  <a:pt x="1673196" y="13511"/>
                </a:lnTo>
                <a:close/>
              </a:path>
              <a:path w="4716145" h="536575">
                <a:moveTo>
                  <a:pt x="1754266" y="13511"/>
                </a:moveTo>
                <a:lnTo>
                  <a:pt x="1709227" y="13511"/>
                </a:lnTo>
                <a:lnTo>
                  <a:pt x="1709227" y="0"/>
                </a:lnTo>
                <a:lnTo>
                  <a:pt x="1754266" y="0"/>
                </a:lnTo>
                <a:lnTo>
                  <a:pt x="1754266" y="13511"/>
                </a:lnTo>
                <a:close/>
              </a:path>
              <a:path w="4716145" h="536575">
                <a:moveTo>
                  <a:pt x="1835337" y="13511"/>
                </a:moveTo>
                <a:lnTo>
                  <a:pt x="1790298" y="13511"/>
                </a:lnTo>
                <a:lnTo>
                  <a:pt x="1790298" y="0"/>
                </a:lnTo>
                <a:lnTo>
                  <a:pt x="1835337" y="0"/>
                </a:lnTo>
                <a:lnTo>
                  <a:pt x="1835337" y="13511"/>
                </a:lnTo>
                <a:close/>
              </a:path>
              <a:path w="4716145" h="536575">
                <a:moveTo>
                  <a:pt x="1916407" y="13511"/>
                </a:moveTo>
                <a:lnTo>
                  <a:pt x="1871368" y="13511"/>
                </a:lnTo>
                <a:lnTo>
                  <a:pt x="1871368" y="0"/>
                </a:lnTo>
                <a:lnTo>
                  <a:pt x="1916407" y="0"/>
                </a:lnTo>
                <a:lnTo>
                  <a:pt x="1916407" y="13511"/>
                </a:lnTo>
                <a:close/>
              </a:path>
              <a:path w="4716145" h="536575">
                <a:moveTo>
                  <a:pt x="1997477" y="13511"/>
                </a:moveTo>
                <a:lnTo>
                  <a:pt x="1952438" y="13511"/>
                </a:lnTo>
                <a:lnTo>
                  <a:pt x="1952438" y="0"/>
                </a:lnTo>
                <a:lnTo>
                  <a:pt x="1997477" y="0"/>
                </a:lnTo>
                <a:lnTo>
                  <a:pt x="1997477" y="13511"/>
                </a:lnTo>
                <a:close/>
              </a:path>
              <a:path w="4716145" h="536575">
                <a:moveTo>
                  <a:pt x="2078547" y="13511"/>
                </a:moveTo>
                <a:lnTo>
                  <a:pt x="2033508" y="13511"/>
                </a:lnTo>
                <a:lnTo>
                  <a:pt x="2033508" y="0"/>
                </a:lnTo>
                <a:lnTo>
                  <a:pt x="2078547" y="0"/>
                </a:lnTo>
                <a:lnTo>
                  <a:pt x="2078547" y="13511"/>
                </a:lnTo>
                <a:close/>
              </a:path>
              <a:path w="4716145" h="536575">
                <a:moveTo>
                  <a:pt x="2159617" y="13511"/>
                </a:moveTo>
                <a:lnTo>
                  <a:pt x="2114578" y="13511"/>
                </a:lnTo>
                <a:lnTo>
                  <a:pt x="2114578" y="0"/>
                </a:lnTo>
                <a:lnTo>
                  <a:pt x="2159617" y="0"/>
                </a:lnTo>
                <a:lnTo>
                  <a:pt x="2159617" y="13511"/>
                </a:lnTo>
                <a:close/>
              </a:path>
              <a:path w="4716145" h="536575">
                <a:moveTo>
                  <a:pt x="2240687" y="13511"/>
                </a:moveTo>
                <a:lnTo>
                  <a:pt x="2195648" y="13511"/>
                </a:lnTo>
                <a:lnTo>
                  <a:pt x="2195648" y="0"/>
                </a:lnTo>
                <a:lnTo>
                  <a:pt x="2240687" y="0"/>
                </a:lnTo>
                <a:lnTo>
                  <a:pt x="2240687" y="13511"/>
                </a:lnTo>
                <a:close/>
              </a:path>
              <a:path w="4716145" h="536575">
                <a:moveTo>
                  <a:pt x="2321757" y="13511"/>
                </a:moveTo>
                <a:lnTo>
                  <a:pt x="2276718" y="13511"/>
                </a:lnTo>
                <a:lnTo>
                  <a:pt x="2276718" y="0"/>
                </a:lnTo>
                <a:lnTo>
                  <a:pt x="2321757" y="0"/>
                </a:lnTo>
                <a:lnTo>
                  <a:pt x="2321757" y="13511"/>
                </a:lnTo>
                <a:close/>
              </a:path>
              <a:path w="4716145" h="536575">
                <a:moveTo>
                  <a:pt x="2402827" y="13511"/>
                </a:moveTo>
                <a:lnTo>
                  <a:pt x="2357788" y="13511"/>
                </a:lnTo>
                <a:lnTo>
                  <a:pt x="2357788" y="0"/>
                </a:lnTo>
                <a:lnTo>
                  <a:pt x="2402827" y="0"/>
                </a:lnTo>
                <a:lnTo>
                  <a:pt x="2402827" y="13511"/>
                </a:lnTo>
                <a:close/>
              </a:path>
              <a:path w="4716145" h="536575">
                <a:moveTo>
                  <a:pt x="2483897" y="13511"/>
                </a:moveTo>
                <a:lnTo>
                  <a:pt x="2438858" y="13511"/>
                </a:lnTo>
                <a:lnTo>
                  <a:pt x="2438858" y="0"/>
                </a:lnTo>
                <a:lnTo>
                  <a:pt x="2483897" y="0"/>
                </a:lnTo>
                <a:lnTo>
                  <a:pt x="2483897" y="13511"/>
                </a:lnTo>
                <a:close/>
              </a:path>
              <a:path w="4716145" h="536575">
                <a:moveTo>
                  <a:pt x="2564967" y="13511"/>
                </a:moveTo>
                <a:lnTo>
                  <a:pt x="2519929" y="13511"/>
                </a:lnTo>
                <a:lnTo>
                  <a:pt x="2519929" y="0"/>
                </a:lnTo>
                <a:lnTo>
                  <a:pt x="2564967" y="0"/>
                </a:lnTo>
                <a:lnTo>
                  <a:pt x="2564967" y="13511"/>
                </a:lnTo>
                <a:close/>
              </a:path>
              <a:path w="4716145" h="536575">
                <a:moveTo>
                  <a:pt x="2646038" y="13511"/>
                </a:moveTo>
                <a:lnTo>
                  <a:pt x="2600999" y="13511"/>
                </a:lnTo>
                <a:lnTo>
                  <a:pt x="2600999" y="0"/>
                </a:lnTo>
                <a:lnTo>
                  <a:pt x="2646038" y="0"/>
                </a:lnTo>
                <a:lnTo>
                  <a:pt x="2646038" y="13511"/>
                </a:lnTo>
                <a:close/>
              </a:path>
              <a:path w="4716145" h="536575">
                <a:moveTo>
                  <a:pt x="2727108" y="13511"/>
                </a:moveTo>
                <a:lnTo>
                  <a:pt x="2682069" y="13511"/>
                </a:lnTo>
                <a:lnTo>
                  <a:pt x="2682069" y="0"/>
                </a:lnTo>
                <a:lnTo>
                  <a:pt x="2727108" y="0"/>
                </a:lnTo>
                <a:lnTo>
                  <a:pt x="2727108" y="13511"/>
                </a:lnTo>
                <a:close/>
              </a:path>
              <a:path w="4716145" h="536575">
                <a:moveTo>
                  <a:pt x="2808178" y="13511"/>
                </a:moveTo>
                <a:lnTo>
                  <a:pt x="2763139" y="13511"/>
                </a:lnTo>
                <a:lnTo>
                  <a:pt x="2763139" y="0"/>
                </a:lnTo>
                <a:lnTo>
                  <a:pt x="2808178" y="0"/>
                </a:lnTo>
                <a:lnTo>
                  <a:pt x="2808178" y="13511"/>
                </a:lnTo>
                <a:close/>
              </a:path>
              <a:path w="4716145" h="536575">
                <a:moveTo>
                  <a:pt x="2889248" y="13511"/>
                </a:moveTo>
                <a:lnTo>
                  <a:pt x="2844209" y="13511"/>
                </a:lnTo>
                <a:lnTo>
                  <a:pt x="2844209" y="0"/>
                </a:lnTo>
                <a:lnTo>
                  <a:pt x="2889248" y="0"/>
                </a:lnTo>
                <a:lnTo>
                  <a:pt x="2889248" y="13511"/>
                </a:lnTo>
                <a:close/>
              </a:path>
              <a:path w="4716145" h="536575">
                <a:moveTo>
                  <a:pt x="2970318" y="13511"/>
                </a:moveTo>
                <a:lnTo>
                  <a:pt x="2925279" y="13511"/>
                </a:lnTo>
                <a:lnTo>
                  <a:pt x="2925279" y="0"/>
                </a:lnTo>
                <a:lnTo>
                  <a:pt x="2970318" y="0"/>
                </a:lnTo>
                <a:lnTo>
                  <a:pt x="2970318" y="13511"/>
                </a:lnTo>
                <a:close/>
              </a:path>
              <a:path w="4716145" h="536575">
                <a:moveTo>
                  <a:pt x="3051388" y="13511"/>
                </a:moveTo>
                <a:lnTo>
                  <a:pt x="3006349" y="13511"/>
                </a:lnTo>
                <a:lnTo>
                  <a:pt x="3006349" y="0"/>
                </a:lnTo>
                <a:lnTo>
                  <a:pt x="3051388" y="0"/>
                </a:lnTo>
                <a:lnTo>
                  <a:pt x="3051388" y="13511"/>
                </a:lnTo>
                <a:close/>
              </a:path>
              <a:path w="4716145" h="536575">
                <a:moveTo>
                  <a:pt x="3132458" y="13511"/>
                </a:moveTo>
                <a:lnTo>
                  <a:pt x="3087419" y="13511"/>
                </a:lnTo>
                <a:lnTo>
                  <a:pt x="3087419" y="0"/>
                </a:lnTo>
                <a:lnTo>
                  <a:pt x="3132458" y="0"/>
                </a:lnTo>
                <a:lnTo>
                  <a:pt x="3132458" y="13511"/>
                </a:lnTo>
                <a:close/>
              </a:path>
              <a:path w="4716145" h="536575">
                <a:moveTo>
                  <a:pt x="3213528" y="13511"/>
                </a:moveTo>
                <a:lnTo>
                  <a:pt x="3168489" y="13511"/>
                </a:lnTo>
                <a:lnTo>
                  <a:pt x="3168489" y="0"/>
                </a:lnTo>
                <a:lnTo>
                  <a:pt x="3213528" y="0"/>
                </a:lnTo>
                <a:lnTo>
                  <a:pt x="3213528" y="13511"/>
                </a:lnTo>
                <a:close/>
              </a:path>
              <a:path w="4716145" h="536575">
                <a:moveTo>
                  <a:pt x="3294598" y="13511"/>
                </a:moveTo>
                <a:lnTo>
                  <a:pt x="3249559" y="13511"/>
                </a:lnTo>
                <a:lnTo>
                  <a:pt x="3249559" y="0"/>
                </a:lnTo>
                <a:lnTo>
                  <a:pt x="3294598" y="0"/>
                </a:lnTo>
                <a:lnTo>
                  <a:pt x="3294598" y="13511"/>
                </a:lnTo>
                <a:close/>
              </a:path>
              <a:path w="4716145" h="536575">
                <a:moveTo>
                  <a:pt x="3375668" y="13511"/>
                </a:moveTo>
                <a:lnTo>
                  <a:pt x="3330630" y="13511"/>
                </a:lnTo>
                <a:lnTo>
                  <a:pt x="3330630" y="0"/>
                </a:lnTo>
                <a:lnTo>
                  <a:pt x="3375668" y="0"/>
                </a:lnTo>
                <a:lnTo>
                  <a:pt x="3375668" y="13511"/>
                </a:lnTo>
                <a:close/>
              </a:path>
              <a:path w="4716145" h="536575">
                <a:moveTo>
                  <a:pt x="3456739" y="13511"/>
                </a:moveTo>
                <a:lnTo>
                  <a:pt x="3411700" y="13511"/>
                </a:lnTo>
                <a:lnTo>
                  <a:pt x="3411700" y="0"/>
                </a:lnTo>
                <a:lnTo>
                  <a:pt x="3456739" y="0"/>
                </a:lnTo>
                <a:lnTo>
                  <a:pt x="3456739" y="13511"/>
                </a:lnTo>
                <a:close/>
              </a:path>
              <a:path w="4716145" h="536575">
                <a:moveTo>
                  <a:pt x="3537809" y="13511"/>
                </a:moveTo>
                <a:lnTo>
                  <a:pt x="3492770" y="13511"/>
                </a:lnTo>
                <a:lnTo>
                  <a:pt x="3492770" y="0"/>
                </a:lnTo>
                <a:lnTo>
                  <a:pt x="3537809" y="0"/>
                </a:lnTo>
                <a:lnTo>
                  <a:pt x="3537809" y="13511"/>
                </a:lnTo>
                <a:close/>
              </a:path>
              <a:path w="4716145" h="536575">
                <a:moveTo>
                  <a:pt x="3618879" y="13511"/>
                </a:moveTo>
                <a:lnTo>
                  <a:pt x="3573840" y="13511"/>
                </a:lnTo>
                <a:lnTo>
                  <a:pt x="3573840" y="0"/>
                </a:lnTo>
                <a:lnTo>
                  <a:pt x="3618879" y="0"/>
                </a:lnTo>
                <a:lnTo>
                  <a:pt x="3618879" y="13511"/>
                </a:lnTo>
                <a:close/>
              </a:path>
              <a:path w="4716145" h="536575">
                <a:moveTo>
                  <a:pt x="3699949" y="13511"/>
                </a:moveTo>
                <a:lnTo>
                  <a:pt x="3654910" y="13511"/>
                </a:lnTo>
                <a:lnTo>
                  <a:pt x="3654910" y="0"/>
                </a:lnTo>
                <a:lnTo>
                  <a:pt x="3699949" y="0"/>
                </a:lnTo>
                <a:lnTo>
                  <a:pt x="3699949" y="13511"/>
                </a:lnTo>
                <a:close/>
              </a:path>
              <a:path w="4716145" h="536575">
                <a:moveTo>
                  <a:pt x="3781019" y="13511"/>
                </a:moveTo>
                <a:lnTo>
                  <a:pt x="3735980" y="13511"/>
                </a:lnTo>
                <a:lnTo>
                  <a:pt x="3735980" y="0"/>
                </a:lnTo>
                <a:lnTo>
                  <a:pt x="3781019" y="0"/>
                </a:lnTo>
                <a:lnTo>
                  <a:pt x="3781019" y="13511"/>
                </a:lnTo>
                <a:close/>
              </a:path>
              <a:path w="4716145" h="536575">
                <a:moveTo>
                  <a:pt x="3862089" y="13511"/>
                </a:moveTo>
                <a:lnTo>
                  <a:pt x="3817050" y="13511"/>
                </a:lnTo>
                <a:lnTo>
                  <a:pt x="3817050" y="0"/>
                </a:lnTo>
                <a:lnTo>
                  <a:pt x="3862089" y="0"/>
                </a:lnTo>
                <a:lnTo>
                  <a:pt x="3862089" y="13511"/>
                </a:lnTo>
                <a:close/>
              </a:path>
              <a:path w="4716145" h="536575">
                <a:moveTo>
                  <a:pt x="3943159" y="13511"/>
                </a:moveTo>
                <a:lnTo>
                  <a:pt x="3898120" y="13511"/>
                </a:lnTo>
                <a:lnTo>
                  <a:pt x="3898120" y="0"/>
                </a:lnTo>
                <a:lnTo>
                  <a:pt x="3943159" y="0"/>
                </a:lnTo>
                <a:lnTo>
                  <a:pt x="3943159" y="13511"/>
                </a:lnTo>
                <a:close/>
              </a:path>
              <a:path w="4716145" h="536575">
                <a:moveTo>
                  <a:pt x="4024229" y="13511"/>
                </a:moveTo>
                <a:lnTo>
                  <a:pt x="3979190" y="13511"/>
                </a:lnTo>
                <a:lnTo>
                  <a:pt x="3979190" y="0"/>
                </a:lnTo>
                <a:lnTo>
                  <a:pt x="4024229" y="0"/>
                </a:lnTo>
                <a:lnTo>
                  <a:pt x="4024229" y="13511"/>
                </a:lnTo>
                <a:close/>
              </a:path>
              <a:path w="4716145" h="536575">
                <a:moveTo>
                  <a:pt x="4105299" y="13511"/>
                </a:moveTo>
                <a:lnTo>
                  <a:pt x="4060260" y="13511"/>
                </a:lnTo>
                <a:lnTo>
                  <a:pt x="4060260" y="0"/>
                </a:lnTo>
                <a:lnTo>
                  <a:pt x="4105299" y="0"/>
                </a:lnTo>
                <a:lnTo>
                  <a:pt x="4105299" y="13511"/>
                </a:lnTo>
                <a:close/>
              </a:path>
              <a:path w="4716145" h="536575">
                <a:moveTo>
                  <a:pt x="4186369" y="13511"/>
                </a:moveTo>
                <a:lnTo>
                  <a:pt x="4141331" y="13511"/>
                </a:lnTo>
                <a:lnTo>
                  <a:pt x="4141331" y="0"/>
                </a:lnTo>
                <a:lnTo>
                  <a:pt x="4186369" y="0"/>
                </a:lnTo>
                <a:lnTo>
                  <a:pt x="4186369" y="13511"/>
                </a:lnTo>
                <a:close/>
              </a:path>
              <a:path w="4716145" h="536575">
                <a:moveTo>
                  <a:pt x="4267440" y="13511"/>
                </a:moveTo>
                <a:lnTo>
                  <a:pt x="4222401" y="13511"/>
                </a:lnTo>
                <a:lnTo>
                  <a:pt x="4222401" y="0"/>
                </a:lnTo>
                <a:lnTo>
                  <a:pt x="4267440" y="0"/>
                </a:lnTo>
                <a:lnTo>
                  <a:pt x="4267440" y="13511"/>
                </a:lnTo>
                <a:close/>
              </a:path>
              <a:path w="4716145" h="536575">
                <a:moveTo>
                  <a:pt x="4348510" y="13511"/>
                </a:moveTo>
                <a:lnTo>
                  <a:pt x="4303471" y="13511"/>
                </a:lnTo>
                <a:lnTo>
                  <a:pt x="4303471" y="0"/>
                </a:lnTo>
                <a:lnTo>
                  <a:pt x="4348510" y="0"/>
                </a:lnTo>
                <a:lnTo>
                  <a:pt x="4348510" y="13511"/>
                </a:lnTo>
                <a:close/>
              </a:path>
              <a:path w="4716145" h="536575">
                <a:moveTo>
                  <a:pt x="4429580" y="13511"/>
                </a:moveTo>
                <a:lnTo>
                  <a:pt x="4384541" y="13511"/>
                </a:lnTo>
                <a:lnTo>
                  <a:pt x="4384541" y="0"/>
                </a:lnTo>
                <a:lnTo>
                  <a:pt x="4429580" y="0"/>
                </a:lnTo>
                <a:lnTo>
                  <a:pt x="4429580" y="13511"/>
                </a:lnTo>
                <a:close/>
              </a:path>
              <a:path w="4716145" h="536575">
                <a:moveTo>
                  <a:pt x="4510650" y="13511"/>
                </a:moveTo>
                <a:lnTo>
                  <a:pt x="4465611" y="13511"/>
                </a:lnTo>
                <a:lnTo>
                  <a:pt x="4465611" y="0"/>
                </a:lnTo>
                <a:lnTo>
                  <a:pt x="4510650" y="0"/>
                </a:lnTo>
                <a:lnTo>
                  <a:pt x="4510650" y="13511"/>
                </a:lnTo>
                <a:close/>
              </a:path>
              <a:path w="4716145" h="536575">
                <a:moveTo>
                  <a:pt x="4591720" y="13511"/>
                </a:moveTo>
                <a:lnTo>
                  <a:pt x="4546681" y="13511"/>
                </a:lnTo>
                <a:lnTo>
                  <a:pt x="4546681" y="0"/>
                </a:lnTo>
                <a:lnTo>
                  <a:pt x="4591720" y="0"/>
                </a:lnTo>
                <a:lnTo>
                  <a:pt x="4591720" y="13511"/>
                </a:lnTo>
                <a:close/>
              </a:path>
              <a:path w="4716145" h="536575">
                <a:moveTo>
                  <a:pt x="4672790" y="13511"/>
                </a:moveTo>
                <a:lnTo>
                  <a:pt x="4627751" y="13511"/>
                </a:lnTo>
                <a:lnTo>
                  <a:pt x="4627751" y="0"/>
                </a:lnTo>
                <a:lnTo>
                  <a:pt x="4672790" y="0"/>
                </a:lnTo>
                <a:lnTo>
                  <a:pt x="4672790" y="13511"/>
                </a:lnTo>
                <a:close/>
              </a:path>
              <a:path w="4716145" h="536575">
                <a:moveTo>
                  <a:pt x="4715577" y="51794"/>
                </a:moveTo>
                <a:lnTo>
                  <a:pt x="4702065" y="51794"/>
                </a:lnTo>
                <a:lnTo>
                  <a:pt x="4702065" y="6755"/>
                </a:lnTo>
                <a:lnTo>
                  <a:pt x="4715577" y="6755"/>
                </a:lnTo>
                <a:lnTo>
                  <a:pt x="4715577" y="51794"/>
                </a:lnTo>
                <a:close/>
              </a:path>
              <a:path w="4716145" h="536575">
                <a:moveTo>
                  <a:pt x="4715577" y="132864"/>
                </a:moveTo>
                <a:lnTo>
                  <a:pt x="4702065" y="132864"/>
                </a:lnTo>
                <a:lnTo>
                  <a:pt x="4702065" y="87825"/>
                </a:lnTo>
                <a:lnTo>
                  <a:pt x="4715577" y="87825"/>
                </a:lnTo>
                <a:lnTo>
                  <a:pt x="4715577" y="132864"/>
                </a:lnTo>
                <a:close/>
              </a:path>
              <a:path w="4716145" h="536575">
                <a:moveTo>
                  <a:pt x="4715577" y="213934"/>
                </a:moveTo>
                <a:lnTo>
                  <a:pt x="4702065" y="213934"/>
                </a:lnTo>
                <a:lnTo>
                  <a:pt x="4702065" y="168896"/>
                </a:lnTo>
                <a:lnTo>
                  <a:pt x="4715577" y="168896"/>
                </a:lnTo>
                <a:lnTo>
                  <a:pt x="4715577" y="213934"/>
                </a:lnTo>
                <a:close/>
              </a:path>
              <a:path w="4716145" h="536575">
                <a:moveTo>
                  <a:pt x="4715577" y="295005"/>
                </a:moveTo>
                <a:lnTo>
                  <a:pt x="4702065" y="295005"/>
                </a:lnTo>
                <a:lnTo>
                  <a:pt x="4702065" y="249966"/>
                </a:lnTo>
                <a:lnTo>
                  <a:pt x="4715577" y="249966"/>
                </a:lnTo>
                <a:lnTo>
                  <a:pt x="4715577" y="295005"/>
                </a:lnTo>
                <a:close/>
              </a:path>
              <a:path w="4716145" h="536575">
                <a:moveTo>
                  <a:pt x="4715577" y="376075"/>
                </a:moveTo>
                <a:lnTo>
                  <a:pt x="4702065" y="376075"/>
                </a:lnTo>
                <a:lnTo>
                  <a:pt x="4702065" y="331036"/>
                </a:lnTo>
                <a:lnTo>
                  <a:pt x="4715577" y="331036"/>
                </a:lnTo>
                <a:lnTo>
                  <a:pt x="4715577" y="376075"/>
                </a:lnTo>
                <a:close/>
              </a:path>
              <a:path w="4716145" h="536575">
                <a:moveTo>
                  <a:pt x="4715577" y="457145"/>
                </a:moveTo>
                <a:lnTo>
                  <a:pt x="4702065" y="457145"/>
                </a:lnTo>
                <a:lnTo>
                  <a:pt x="4702065" y="412106"/>
                </a:lnTo>
                <a:lnTo>
                  <a:pt x="4715577" y="412106"/>
                </a:lnTo>
                <a:lnTo>
                  <a:pt x="4715577" y="457145"/>
                </a:lnTo>
                <a:close/>
              </a:path>
              <a:path w="4716145" h="536575">
                <a:moveTo>
                  <a:pt x="4708821" y="529207"/>
                </a:moveTo>
                <a:lnTo>
                  <a:pt x="4702065" y="529207"/>
                </a:lnTo>
                <a:lnTo>
                  <a:pt x="4702065" y="493176"/>
                </a:lnTo>
                <a:lnTo>
                  <a:pt x="4715577" y="493176"/>
                </a:lnTo>
                <a:lnTo>
                  <a:pt x="4715577" y="522451"/>
                </a:lnTo>
                <a:lnTo>
                  <a:pt x="4708821" y="522451"/>
                </a:lnTo>
                <a:lnTo>
                  <a:pt x="4708821" y="529207"/>
                </a:lnTo>
                <a:close/>
              </a:path>
              <a:path w="4716145" h="536575">
                <a:moveTo>
                  <a:pt x="4715577" y="535963"/>
                </a:moveTo>
                <a:lnTo>
                  <a:pt x="4699813" y="535963"/>
                </a:lnTo>
                <a:lnTo>
                  <a:pt x="4699813" y="522451"/>
                </a:lnTo>
                <a:lnTo>
                  <a:pt x="4702065" y="522451"/>
                </a:lnTo>
                <a:lnTo>
                  <a:pt x="4702065" y="529207"/>
                </a:lnTo>
                <a:lnTo>
                  <a:pt x="4715577" y="529207"/>
                </a:lnTo>
                <a:lnTo>
                  <a:pt x="4715577" y="535963"/>
                </a:lnTo>
                <a:close/>
              </a:path>
              <a:path w="4716145" h="536575">
                <a:moveTo>
                  <a:pt x="4715577" y="529207"/>
                </a:moveTo>
                <a:lnTo>
                  <a:pt x="4708821" y="529207"/>
                </a:lnTo>
                <a:lnTo>
                  <a:pt x="4708821" y="522451"/>
                </a:lnTo>
                <a:lnTo>
                  <a:pt x="4715577" y="522451"/>
                </a:lnTo>
                <a:lnTo>
                  <a:pt x="4715577" y="529207"/>
                </a:lnTo>
                <a:close/>
              </a:path>
              <a:path w="4716145" h="536575">
                <a:moveTo>
                  <a:pt x="4663782" y="535963"/>
                </a:moveTo>
                <a:lnTo>
                  <a:pt x="4618743" y="535963"/>
                </a:lnTo>
                <a:lnTo>
                  <a:pt x="4618743" y="522451"/>
                </a:lnTo>
                <a:lnTo>
                  <a:pt x="4663782" y="522451"/>
                </a:lnTo>
                <a:lnTo>
                  <a:pt x="4663782" y="535963"/>
                </a:lnTo>
                <a:close/>
              </a:path>
              <a:path w="4716145" h="536575">
                <a:moveTo>
                  <a:pt x="4582712" y="535963"/>
                </a:moveTo>
                <a:lnTo>
                  <a:pt x="4537673" y="535963"/>
                </a:lnTo>
                <a:lnTo>
                  <a:pt x="4537673" y="522451"/>
                </a:lnTo>
                <a:lnTo>
                  <a:pt x="4582712" y="522451"/>
                </a:lnTo>
                <a:lnTo>
                  <a:pt x="4582712" y="535963"/>
                </a:lnTo>
                <a:close/>
              </a:path>
              <a:path w="4716145" h="536575">
                <a:moveTo>
                  <a:pt x="4501642" y="535963"/>
                </a:moveTo>
                <a:lnTo>
                  <a:pt x="4456603" y="535963"/>
                </a:lnTo>
                <a:lnTo>
                  <a:pt x="4456603" y="522451"/>
                </a:lnTo>
                <a:lnTo>
                  <a:pt x="4501642" y="522451"/>
                </a:lnTo>
                <a:lnTo>
                  <a:pt x="4501642" y="535963"/>
                </a:lnTo>
                <a:close/>
              </a:path>
              <a:path w="4716145" h="536575">
                <a:moveTo>
                  <a:pt x="4420572" y="535963"/>
                </a:moveTo>
                <a:lnTo>
                  <a:pt x="4375533" y="535963"/>
                </a:lnTo>
                <a:lnTo>
                  <a:pt x="4375533" y="522451"/>
                </a:lnTo>
                <a:lnTo>
                  <a:pt x="4420572" y="522451"/>
                </a:lnTo>
                <a:lnTo>
                  <a:pt x="4420572" y="535963"/>
                </a:lnTo>
                <a:close/>
              </a:path>
              <a:path w="4716145" h="536575">
                <a:moveTo>
                  <a:pt x="4339502" y="535963"/>
                </a:moveTo>
                <a:lnTo>
                  <a:pt x="4294463" y="535963"/>
                </a:lnTo>
                <a:lnTo>
                  <a:pt x="4294463" y="522451"/>
                </a:lnTo>
                <a:lnTo>
                  <a:pt x="4339502" y="522451"/>
                </a:lnTo>
                <a:lnTo>
                  <a:pt x="4339502" y="535963"/>
                </a:lnTo>
                <a:close/>
              </a:path>
              <a:path w="4716145" h="536575">
                <a:moveTo>
                  <a:pt x="4258432" y="535963"/>
                </a:moveTo>
                <a:lnTo>
                  <a:pt x="4213393" y="535963"/>
                </a:lnTo>
                <a:lnTo>
                  <a:pt x="4213393" y="522451"/>
                </a:lnTo>
                <a:lnTo>
                  <a:pt x="4258432" y="522451"/>
                </a:lnTo>
                <a:lnTo>
                  <a:pt x="4258432" y="535963"/>
                </a:lnTo>
                <a:close/>
              </a:path>
              <a:path w="4716145" h="536575">
                <a:moveTo>
                  <a:pt x="4177362" y="535963"/>
                </a:moveTo>
                <a:lnTo>
                  <a:pt x="4132323" y="535963"/>
                </a:lnTo>
                <a:lnTo>
                  <a:pt x="4132323" y="522451"/>
                </a:lnTo>
                <a:lnTo>
                  <a:pt x="4177362" y="522451"/>
                </a:lnTo>
                <a:lnTo>
                  <a:pt x="4177362" y="535963"/>
                </a:lnTo>
                <a:close/>
              </a:path>
              <a:path w="4716145" h="536575">
                <a:moveTo>
                  <a:pt x="4096292" y="535963"/>
                </a:moveTo>
                <a:lnTo>
                  <a:pt x="4051253" y="535963"/>
                </a:lnTo>
                <a:lnTo>
                  <a:pt x="4051253" y="522451"/>
                </a:lnTo>
                <a:lnTo>
                  <a:pt x="4096292" y="522451"/>
                </a:lnTo>
                <a:lnTo>
                  <a:pt x="4096292" y="535963"/>
                </a:lnTo>
                <a:close/>
              </a:path>
              <a:path w="4716145" h="536575">
                <a:moveTo>
                  <a:pt x="4015222" y="535963"/>
                </a:moveTo>
                <a:lnTo>
                  <a:pt x="3970183" y="535963"/>
                </a:lnTo>
                <a:lnTo>
                  <a:pt x="3970183" y="522451"/>
                </a:lnTo>
                <a:lnTo>
                  <a:pt x="4015222" y="522451"/>
                </a:lnTo>
                <a:lnTo>
                  <a:pt x="4015222" y="535963"/>
                </a:lnTo>
                <a:close/>
              </a:path>
              <a:path w="4716145" h="536575">
                <a:moveTo>
                  <a:pt x="3934151" y="535963"/>
                </a:moveTo>
                <a:lnTo>
                  <a:pt x="3889112" y="535963"/>
                </a:lnTo>
                <a:lnTo>
                  <a:pt x="3889112" y="522451"/>
                </a:lnTo>
                <a:lnTo>
                  <a:pt x="3934151" y="522451"/>
                </a:lnTo>
                <a:lnTo>
                  <a:pt x="3934151" y="535963"/>
                </a:lnTo>
                <a:close/>
              </a:path>
              <a:path w="4716145" h="536575">
                <a:moveTo>
                  <a:pt x="3853081" y="535963"/>
                </a:moveTo>
                <a:lnTo>
                  <a:pt x="3808042" y="535963"/>
                </a:lnTo>
                <a:lnTo>
                  <a:pt x="3808042" y="522451"/>
                </a:lnTo>
                <a:lnTo>
                  <a:pt x="3853081" y="522451"/>
                </a:lnTo>
                <a:lnTo>
                  <a:pt x="3853081" y="535963"/>
                </a:lnTo>
                <a:close/>
              </a:path>
              <a:path w="4716145" h="536575">
                <a:moveTo>
                  <a:pt x="3772011" y="535963"/>
                </a:moveTo>
                <a:lnTo>
                  <a:pt x="3726972" y="535963"/>
                </a:lnTo>
                <a:lnTo>
                  <a:pt x="3726972" y="522451"/>
                </a:lnTo>
                <a:lnTo>
                  <a:pt x="3772011" y="522451"/>
                </a:lnTo>
                <a:lnTo>
                  <a:pt x="3772011" y="535963"/>
                </a:lnTo>
                <a:close/>
              </a:path>
              <a:path w="4716145" h="536575">
                <a:moveTo>
                  <a:pt x="3690941" y="535963"/>
                </a:moveTo>
                <a:lnTo>
                  <a:pt x="3645902" y="535963"/>
                </a:lnTo>
                <a:lnTo>
                  <a:pt x="3645902" y="522451"/>
                </a:lnTo>
                <a:lnTo>
                  <a:pt x="3690941" y="522451"/>
                </a:lnTo>
                <a:lnTo>
                  <a:pt x="3690941" y="535963"/>
                </a:lnTo>
                <a:close/>
              </a:path>
              <a:path w="4716145" h="536575">
                <a:moveTo>
                  <a:pt x="3609871" y="535963"/>
                </a:moveTo>
                <a:lnTo>
                  <a:pt x="3564832" y="535963"/>
                </a:lnTo>
                <a:lnTo>
                  <a:pt x="3564832" y="522451"/>
                </a:lnTo>
                <a:lnTo>
                  <a:pt x="3609871" y="522451"/>
                </a:lnTo>
                <a:lnTo>
                  <a:pt x="3609871" y="535963"/>
                </a:lnTo>
                <a:close/>
              </a:path>
              <a:path w="4716145" h="536575">
                <a:moveTo>
                  <a:pt x="3528801" y="535963"/>
                </a:moveTo>
                <a:lnTo>
                  <a:pt x="3483762" y="535963"/>
                </a:lnTo>
                <a:lnTo>
                  <a:pt x="3483762" y="522451"/>
                </a:lnTo>
                <a:lnTo>
                  <a:pt x="3528801" y="522451"/>
                </a:lnTo>
                <a:lnTo>
                  <a:pt x="3528801" y="535963"/>
                </a:lnTo>
                <a:close/>
              </a:path>
              <a:path w="4716145" h="536575">
                <a:moveTo>
                  <a:pt x="3447731" y="535963"/>
                </a:moveTo>
                <a:lnTo>
                  <a:pt x="3402692" y="535963"/>
                </a:lnTo>
                <a:lnTo>
                  <a:pt x="3402692" y="522451"/>
                </a:lnTo>
                <a:lnTo>
                  <a:pt x="3447731" y="522451"/>
                </a:lnTo>
                <a:lnTo>
                  <a:pt x="3447731" y="535963"/>
                </a:lnTo>
                <a:close/>
              </a:path>
              <a:path w="4716145" h="536575">
                <a:moveTo>
                  <a:pt x="3366661" y="535963"/>
                </a:moveTo>
                <a:lnTo>
                  <a:pt x="3321622" y="535963"/>
                </a:lnTo>
                <a:lnTo>
                  <a:pt x="3321622" y="522451"/>
                </a:lnTo>
                <a:lnTo>
                  <a:pt x="3366661" y="522451"/>
                </a:lnTo>
                <a:lnTo>
                  <a:pt x="3366661" y="535963"/>
                </a:lnTo>
                <a:close/>
              </a:path>
              <a:path w="4716145" h="536575">
                <a:moveTo>
                  <a:pt x="3285591" y="535963"/>
                </a:moveTo>
                <a:lnTo>
                  <a:pt x="3240552" y="535963"/>
                </a:lnTo>
                <a:lnTo>
                  <a:pt x="3240552" y="522451"/>
                </a:lnTo>
                <a:lnTo>
                  <a:pt x="3285591" y="522451"/>
                </a:lnTo>
                <a:lnTo>
                  <a:pt x="3285591" y="535963"/>
                </a:lnTo>
                <a:close/>
              </a:path>
              <a:path w="4716145" h="536575">
                <a:moveTo>
                  <a:pt x="3204520" y="535963"/>
                </a:moveTo>
                <a:lnTo>
                  <a:pt x="3159482" y="535963"/>
                </a:lnTo>
                <a:lnTo>
                  <a:pt x="3159482" y="522451"/>
                </a:lnTo>
                <a:lnTo>
                  <a:pt x="3204520" y="522451"/>
                </a:lnTo>
                <a:lnTo>
                  <a:pt x="3204520" y="535963"/>
                </a:lnTo>
                <a:close/>
              </a:path>
              <a:path w="4716145" h="536575">
                <a:moveTo>
                  <a:pt x="3123450" y="535963"/>
                </a:moveTo>
                <a:lnTo>
                  <a:pt x="3078411" y="535963"/>
                </a:lnTo>
                <a:lnTo>
                  <a:pt x="3078411" y="522451"/>
                </a:lnTo>
                <a:lnTo>
                  <a:pt x="3123450" y="522451"/>
                </a:lnTo>
                <a:lnTo>
                  <a:pt x="3123450" y="535963"/>
                </a:lnTo>
                <a:close/>
              </a:path>
              <a:path w="4716145" h="536575">
                <a:moveTo>
                  <a:pt x="3042380" y="535963"/>
                </a:moveTo>
                <a:lnTo>
                  <a:pt x="2997341" y="535963"/>
                </a:lnTo>
                <a:lnTo>
                  <a:pt x="2997341" y="522451"/>
                </a:lnTo>
                <a:lnTo>
                  <a:pt x="3042380" y="522451"/>
                </a:lnTo>
                <a:lnTo>
                  <a:pt x="3042380" y="535963"/>
                </a:lnTo>
                <a:close/>
              </a:path>
              <a:path w="4716145" h="536575">
                <a:moveTo>
                  <a:pt x="2961310" y="535963"/>
                </a:moveTo>
                <a:lnTo>
                  <a:pt x="2916271" y="535963"/>
                </a:lnTo>
                <a:lnTo>
                  <a:pt x="2916271" y="522451"/>
                </a:lnTo>
                <a:lnTo>
                  <a:pt x="2961310" y="522451"/>
                </a:lnTo>
                <a:lnTo>
                  <a:pt x="2961310" y="535963"/>
                </a:lnTo>
                <a:close/>
              </a:path>
              <a:path w="4716145" h="536575">
                <a:moveTo>
                  <a:pt x="2880240" y="535963"/>
                </a:moveTo>
                <a:lnTo>
                  <a:pt x="2835201" y="535963"/>
                </a:lnTo>
                <a:lnTo>
                  <a:pt x="2835201" y="522451"/>
                </a:lnTo>
                <a:lnTo>
                  <a:pt x="2880240" y="522451"/>
                </a:lnTo>
                <a:lnTo>
                  <a:pt x="2880240" y="535963"/>
                </a:lnTo>
                <a:close/>
              </a:path>
              <a:path w="4716145" h="536575">
                <a:moveTo>
                  <a:pt x="2799170" y="535963"/>
                </a:moveTo>
                <a:lnTo>
                  <a:pt x="2754131" y="535963"/>
                </a:lnTo>
                <a:lnTo>
                  <a:pt x="2754131" y="522451"/>
                </a:lnTo>
                <a:lnTo>
                  <a:pt x="2799170" y="522451"/>
                </a:lnTo>
                <a:lnTo>
                  <a:pt x="2799170" y="535963"/>
                </a:lnTo>
                <a:close/>
              </a:path>
              <a:path w="4716145" h="536575">
                <a:moveTo>
                  <a:pt x="2718100" y="535963"/>
                </a:moveTo>
                <a:lnTo>
                  <a:pt x="2673061" y="535963"/>
                </a:lnTo>
                <a:lnTo>
                  <a:pt x="2673061" y="522451"/>
                </a:lnTo>
                <a:lnTo>
                  <a:pt x="2718100" y="522451"/>
                </a:lnTo>
                <a:lnTo>
                  <a:pt x="2718100" y="535963"/>
                </a:lnTo>
                <a:close/>
              </a:path>
              <a:path w="4716145" h="536575">
                <a:moveTo>
                  <a:pt x="2637030" y="535963"/>
                </a:moveTo>
                <a:lnTo>
                  <a:pt x="2591991" y="535963"/>
                </a:lnTo>
                <a:lnTo>
                  <a:pt x="2591991" y="522451"/>
                </a:lnTo>
                <a:lnTo>
                  <a:pt x="2637030" y="522451"/>
                </a:lnTo>
                <a:lnTo>
                  <a:pt x="2637030" y="535963"/>
                </a:lnTo>
                <a:close/>
              </a:path>
              <a:path w="4716145" h="536575">
                <a:moveTo>
                  <a:pt x="2555960" y="535963"/>
                </a:moveTo>
                <a:lnTo>
                  <a:pt x="2510921" y="535963"/>
                </a:lnTo>
                <a:lnTo>
                  <a:pt x="2510921" y="522451"/>
                </a:lnTo>
                <a:lnTo>
                  <a:pt x="2555960" y="522451"/>
                </a:lnTo>
                <a:lnTo>
                  <a:pt x="2555960" y="535963"/>
                </a:lnTo>
                <a:close/>
              </a:path>
              <a:path w="4716145" h="536575">
                <a:moveTo>
                  <a:pt x="2474890" y="535963"/>
                </a:moveTo>
                <a:lnTo>
                  <a:pt x="2429851" y="535963"/>
                </a:lnTo>
                <a:lnTo>
                  <a:pt x="2429851" y="522451"/>
                </a:lnTo>
                <a:lnTo>
                  <a:pt x="2474890" y="522451"/>
                </a:lnTo>
                <a:lnTo>
                  <a:pt x="2474890" y="535963"/>
                </a:lnTo>
                <a:close/>
              </a:path>
              <a:path w="4716145" h="536575">
                <a:moveTo>
                  <a:pt x="2393819" y="535963"/>
                </a:moveTo>
                <a:lnTo>
                  <a:pt x="2348781" y="535963"/>
                </a:lnTo>
                <a:lnTo>
                  <a:pt x="2348781" y="522451"/>
                </a:lnTo>
                <a:lnTo>
                  <a:pt x="2393819" y="522451"/>
                </a:lnTo>
                <a:lnTo>
                  <a:pt x="2393819" y="535963"/>
                </a:lnTo>
                <a:close/>
              </a:path>
              <a:path w="4716145" h="536575">
                <a:moveTo>
                  <a:pt x="2312749" y="535963"/>
                </a:moveTo>
                <a:lnTo>
                  <a:pt x="2267710" y="535963"/>
                </a:lnTo>
                <a:lnTo>
                  <a:pt x="2267710" y="522451"/>
                </a:lnTo>
                <a:lnTo>
                  <a:pt x="2312749" y="522451"/>
                </a:lnTo>
                <a:lnTo>
                  <a:pt x="2312749" y="535963"/>
                </a:lnTo>
                <a:close/>
              </a:path>
              <a:path w="4716145" h="536575">
                <a:moveTo>
                  <a:pt x="2231679" y="535963"/>
                </a:moveTo>
                <a:lnTo>
                  <a:pt x="2186640" y="535963"/>
                </a:lnTo>
                <a:lnTo>
                  <a:pt x="2186640" y="522451"/>
                </a:lnTo>
                <a:lnTo>
                  <a:pt x="2231679" y="522451"/>
                </a:lnTo>
                <a:lnTo>
                  <a:pt x="2231679" y="535963"/>
                </a:lnTo>
                <a:close/>
              </a:path>
              <a:path w="4716145" h="536575">
                <a:moveTo>
                  <a:pt x="2150609" y="535963"/>
                </a:moveTo>
                <a:lnTo>
                  <a:pt x="2105570" y="535963"/>
                </a:lnTo>
                <a:lnTo>
                  <a:pt x="2105570" y="522451"/>
                </a:lnTo>
                <a:lnTo>
                  <a:pt x="2150609" y="522451"/>
                </a:lnTo>
                <a:lnTo>
                  <a:pt x="2150609" y="535963"/>
                </a:lnTo>
                <a:close/>
              </a:path>
              <a:path w="4716145" h="536575">
                <a:moveTo>
                  <a:pt x="2069539" y="535963"/>
                </a:moveTo>
                <a:lnTo>
                  <a:pt x="2024500" y="535963"/>
                </a:lnTo>
                <a:lnTo>
                  <a:pt x="2024500" y="522451"/>
                </a:lnTo>
                <a:lnTo>
                  <a:pt x="2069539" y="522451"/>
                </a:lnTo>
                <a:lnTo>
                  <a:pt x="2069539" y="535963"/>
                </a:lnTo>
                <a:close/>
              </a:path>
              <a:path w="4716145" h="536575">
                <a:moveTo>
                  <a:pt x="1988469" y="535963"/>
                </a:moveTo>
                <a:lnTo>
                  <a:pt x="1943430" y="535963"/>
                </a:lnTo>
                <a:lnTo>
                  <a:pt x="1943430" y="522451"/>
                </a:lnTo>
                <a:lnTo>
                  <a:pt x="1988469" y="522451"/>
                </a:lnTo>
                <a:lnTo>
                  <a:pt x="1988469" y="535963"/>
                </a:lnTo>
                <a:close/>
              </a:path>
              <a:path w="4716145" h="536575">
                <a:moveTo>
                  <a:pt x="1907399" y="535963"/>
                </a:moveTo>
                <a:lnTo>
                  <a:pt x="1862360" y="535963"/>
                </a:lnTo>
                <a:lnTo>
                  <a:pt x="1862360" y="522451"/>
                </a:lnTo>
                <a:lnTo>
                  <a:pt x="1907399" y="522451"/>
                </a:lnTo>
                <a:lnTo>
                  <a:pt x="1907399" y="535963"/>
                </a:lnTo>
                <a:close/>
              </a:path>
              <a:path w="4716145" h="536575">
                <a:moveTo>
                  <a:pt x="1826329" y="535963"/>
                </a:moveTo>
                <a:lnTo>
                  <a:pt x="1781290" y="535963"/>
                </a:lnTo>
                <a:lnTo>
                  <a:pt x="1781290" y="522451"/>
                </a:lnTo>
                <a:lnTo>
                  <a:pt x="1826329" y="522451"/>
                </a:lnTo>
                <a:lnTo>
                  <a:pt x="1826329" y="535963"/>
                </a:lnTo>
                <a:close/>
              </a:path>
              <a:path w="4716145" h="536575">
                <a:moveTo>
                  <a:pt x="1745259" y="535963"/>
                </a:moveTo>
                <a:lnTo>
                  <a:pt x="1700220" y="535963"/>
                </a:lnTo>
                <a:lnTo>
                  <a:pt x="1700220" y="522451"/>
                </a:lnTo>
                <a:lnTo>
                  <a:pt x="1745259" y="522451"/>
                </a:lnTo>
                <a:lnTo>
                  <a:pt x="1745259" y="535963"/>
                </a:lnTo>
                <a:close/>
              </a:path>
              <a:path w="4716145" h="536575">
                <a:moveTo>
                  <a:pt x="1664189" y="535963"/>
                </a:moveTo>
                <a:lnTo>
                  <a:pt x="1619150" y="535963"/>
                </a:lnTo>
                <a:lnTo>
                  <a:pt x="1619150" y="522451"/>
                </a:lnTo>
                <a:lnTo>
                  <a:pt x="1664189" y="522451"/>
                </a:lnTo>
                <a:lnTo>
                  <a:pt x="1664189" y="535963"/>
                </a:lnTo>
                <a:close/>
              </a:path>
              <a:path w="4716145" h="536575">
                <a:moveTo>
                  <a:pt x="1583118" y="535963"/>
                </a:moveTo>
                <a:lnTo>
                  <a:pt x="1538079" y="535963"/>
                </a:lnTo>
                <a:lnTo>
                  <a:pt x="1538079" y="522451"/>
                </a:lnTo>
                <a:lnTo>
                  <a:pt x="1583118" y="522451"/>
                </a:lnTo>
                <a:lnTo>
                  <a:pt x="1583118" y="535963"/>
                </a:lnTo>
                <a:close/>
              </a:path>
              <a:path w="4716145" h="536575">
                <a:moveTo>
                  <a:pt x="1502048" y="535963"/>
                </a:moveTo>
                <a:lnTo>
                  <a:pt x="1457009" y="535963"/>
                </a:lnTo>
                <a:lnTo>
                  <a:pt x="1457009" y="522451"/>
                </a:lnTo>
                <a:lnTo>
                  <a:pt x="1502048" y="522451"/>
                </a:lnTo>
                <a:lnTo>
                  <a:pt x="1502048" y="535963"/>
                </a:lnTo>
                <a:close/>
              </a:path>
              <a:path w="4716145" h="536575">
                <a:moveTo>
                  <a:pt x="1420978" y="535963"/>
                </a:moveTo>
                <a:lnTo>
                  <a:pt x="1375939" y="535963"/>
                </a:lnTo>
                <a:lnTo>
                  <a:pt x="1375939" y="522451"/>
                </a:lnTo>
                <a:lnTo>
                  <a:pt x="1420978" y="522451"/>
                </a:lnTo>
                <a:lnTo>
                  <a:pt x="1420978" y="535963"/>
                </a:lnTo>
                <a:close/>
              </a:path>
              <a:path w="4716145" h="536575">
                <a:moveTo>
                  <a:pt x="1339908" y="535963"/>
                </a:moveTo>
                <a:lnTo>
                  <a:pt x="1294869" y="535963"/>
                </a:lnTo>
                <a:lnTo>
                  <a:pt x="1294869" y="522451"/>
                </a:lnTo>
                <a:lnTo>
                  <a:pt x="1339908" y="522451"/>
                </a:lnTo>
                <a:lnTo>
                  <a:pt x="1339908" y="535963"/>
                </a:lnTo>
                <a:close/>
              </a:path>
              <a:path w="4716145" h="536575">
                <a:moveTo>
                  <a:pt x="1258838" y="535963"/>
                </a:moveTo>
                <a:lnTo>
                  <a:pt x="1213799" y="535963"/>
                </a:lnTo>
                <a:lnTo>
                  <a:pt x="1213799" y="522451"/>
                </a:lnTo>
                <a:lnTo>
                  <a:pt x="1258838" y="522451"/>
                </a:lnTo>
                <a:lnTo>
                  <a:pt x="1258838" y="535963"/>
                </a:lnTo>
                <a:close/>
              </a:path>
              <a:path w="4716145" h="536575">
                <a:moveTo>
                  <a:pt x="1177768" y="535963"/>
                </a:moveTo>
                <a:lnTo>
                  <a:pt x="1132729" y="535963"/>
                </a:lnTo>
                <a:lnTo>
                  <a:pt x="1132729" y="522451"/>
                </a:lnTo>
                <a:lnTo>
                  <a:pt x="1177768" y="522451"/>
                </a:lnTo>
                <a:lnTo>
                  <a:pt x="1177768" y="535963"/>
                </a:lnTo>
                <a:close/>
              </a:path>
              <a:path w="4716145" h="536575">
                <a:moveTo>
                  <a:pt x="1096698" y="535963"/>
                </a:moveTo>
                <a:lnTo>
                  <a:pt x="1051659" y="535963"/>
                </a:lnTo>
                <a:lnTo>
                  <a:pt x="1051659" y="522451"/>
                </a:lnTo>
                <a:lnTo>
                  <a:pt x="1096698" y="522451"/>
                </a:lnTo>
                <a:lnTo>
                  <a:pt x="1096698" y="535963"/>
                </a:lnTo>
                <a:close/>
              </a:path>
              <a:path w="4716145" h="536575">
                <a:moveTo>
                  <a:pt x="1015628" y="535963"/>
                </a:moveTo>
                <a:lnTo>
                  <a:pt x="970589" y="535963"/>
                </a:lnTo>
                <a:lnTo>
                  <a:pt x="970589" y="522451"/>
                </a:lnTo>
                <a:lnTo>
                  <a:pt x="1015628" y="522451"/>
                </a:lnTo>
                <a:lnTo>
                  <a:pt x="1015628" y="535963"/>
                </a:lnTo>
                <a:close/>
              </a:path>
              <a:path w="4716145" h="536575">
                <a:moveTo>
                  <a:pt x="934558" y="535963"/>
                </a:moveTo>
                <a:lnTo>
                  <a:pt x="889519" y="535963"/>
                </a:lnTo>
                <a:lnTo>
                  <a:pt x="889519" y="522451"/>
                </a:lnTo>
                <a:lnTo>
                  <a:pt x="934558" y="522451"/>
                </a:lnTo>
                <a:lnTo>
                  <a:pt x="934558" y="535963"/>
                </a:lnTo>
                <a:close/>
              </a:path>
              <a:path w="4716145" h="536575">
                <a:moveTo>
                  <a:pt x="853488" y="535963"/>
                </a:moveTo>
                <a:lnTo>
                  <a:pt x="808449" y="535963"/>
                </a:lnTo>
                <a:lnTo>
                  <a:pt x="808449" y="522451"/>
                </a:lnTo>
                <a:lnTo>
                  <a:pt x="853488" y="522451"/>
                </a:lnTo>
                <a:lnTo>
                  <a:pt x="853488" y="535963"/>
                </a:lnTo>
                <a:close/>
              </a:path>
              <a:path w="4716145" h="536575">
                <a:moveTo>
                  <a:pt x="772417" y="535963"/>
                </a:moveTo>
                <a:lnTo>
                  <a:pt x="727378" y="535963"/>
                </a:lnTo>
                <a:lnTo>
                  <a:pt x="727378" y="522451"/>
                </a:lnTo>
                <a:lnTo>
                  <a:pt x="772417" y="522451"/>
                </a:lnTo>
                <a:lnTo>
                  <a:pt x="772417" y="535963"/>
                </a:lnTo>
                <a:close/>
              </a:path>
              <a:path w="4716145" h="536575">
                <a:moveTo>
                  <a:pt x="691347" y="535963"/>
                </a:moveTo>
                <a:lnTo>
                  <a:pt x="646308" y="535963"/>
                </a:lnTo>
                <a:lnTo>
                  <a:pt x="646308" y="522451"/>
                </a:lnTo>
                <a:lnTo>
                  <a:pt x="691347" y="522451"/>
                </a:lnTo>
                <a:lnTo>
                  <a:pt x="691347" y="535963"/>
                </a:lnTo>
                <a:close/>
              </a:path>
              <a:path w="4716145" h="536575">
                <a:moveTo>
                  <a:pt x="610277" y="535963"/>
                </a:moveTo>
                <a:lnTo>
                  <a:pt x="565238" y="535963"/>
                </a:lnTo>
                <a:lnTo>
                  <a:pt x="565238" y="522451"/>
                </a:lnTo>
                <a:lnTo>
                  <a:pt x="610277" y="522451"/>
                </a:lnTo>
                <a:lnTo>
                  <a:pt x="610277" y="535963"/>
                </a:lnTo>
                <a:close/>
              </a:path>
              <a:path w="4716145" h="536575">
                <a:moveTo>
                  <a:pt x="529207" y="535963"/>
                </a:moveTo>
                <a:lnTo>
                  <a:pt x="484168" y="535963"/>
                </a:lnTo>
                <a:lnTo>
                  <a:pt x="484168" y="522451"/>
                </a:lnTo>
                <a:lnTo>
                  <a:pt x="529207" y="522451"/>
                </a:lnTo>
                <a:lnTo>
                  <a:pt x="529207" y="535963"/>
                </a:lnTo>
                <a:close/>
              </a:path>
              <a:path w="4716145" h="536575">
                <a:moveTo>
                  <a:pt x="448137" y="535963"/>
                </a:moveTo>
                <a:lnTo>
                  <a:pt x="403098" y="535963"/>
                </a:lnTo>
                <a:lnTo>
                  <a:pt x="403098" y="522451"/>
                </a:lnTo>
                <a:lnTo>
                  <a:pt x="448137" y="522451"/>
                </a:lnTo>
                <a:lnTo>
                  <a:pt x="448137" y="535963"/>
                </a:lnTo>
                <a:close/>
              </a:path>
              <a:path w="4716145" h="536575">
                <a:moveTo>
                  <a:pt x="367067" y="535963"/>
                </a:moveTo>
                <a:lnTo>
                  <a:pt x="322028" y="535963"/>
                </a:lnTo>
                <a:lnTo>
                  <a:pt x="322028" y="522451"/>
                </a:lnTo>
                <a:lnTo>
                  <a:pt x="367067" y="522451"/>
                </a:lnTo>
                <a:lnTo>
                  <a:pt x="367067" y="535963"/>
                </a:lnTo>
                <a:close/>
              </a:path>
              <a:path w="4716145" h="536575">
                <a:moveTo>
                  <a:pt x="285997" y="535963"/>
                </a:moveTo>
                <a:lnTo>
                  <a:pt x="240958" y="535963"/>
                </a:lnTo>
                <a:lnTo>
                  <a:pt x="240958" y="522451"/>
                </a:lnTo>
                <a:lnTo>
                  <a:pt x="285997" y="522451"/>
                </a:lnTo>
                <a:lnTo>
                  <a:pt x="285997" y="535963"/>
                </a:lnTo>
                <a:close/>
              </a:path>
              <a:path w="4716145" h="536575">
                <a:moveTo>
                  <a:pt x="204927" y="535963"/>
                </a:moveTo>
                <a:lnTo>
                  <a:pt x="159888" y="535963"/>
                </a:lnTo>
                <a:lnTo>
                  <a:pt x="159888" y="522451"/>
                </a:lnTo>
                <a:lnTo>
                  <a:pt x="204927" y="522451"/>
                </a:lnTo>
                <a:lnTo>
                  <a:pt x="204927" y="535963"/>
                </a:lnTo>
                <a:close/>
              </a:path>
              <a:path w="4716145" h="536575">
                <a:moveTo>
                  <a:pt x="123857" y="535963"/>
                </a:moveTo>
                <a:lnTo>
                  <a:pt x="78818" y="535963"/>
                </a:lnTo>
                <a:lnTo>
                  <a:pt x="78818" y="522451"/>
                </a:lnTo>
                <a:lnTo>
                  <a:pt x="123857" y="522451"/>
                </a:lnTo>
                <a:lnTo>
                  <a:pt x="123857" y="535963"/>
                </a:lnTo>
                <a:close/>
              </a:path>
              <a:path w="4716145" h="536575">
                <a:moveTo>
                  <a:pt x="42786" y="535963"/>
                </a:moveTo>
                <a:lnTo>
                  <a:pt x="0" y="535963"/>
                </a:lnTo>
                <a:lnTo>
                  <a:pt x="0" y="520199"/>
                </a:lnTo>
                <a:lnTo>
                  <a:pt x="13511" y="520199"/>
                </a:lnTo>
                <a:lnTo>
                  <a:pt x="13511" y="522451"/>
                </a:lnTo>
                <a:lnTo>
                  <a:pt x="6755" y="522451"/>
                </a:lnTo>
                <a:lnTo>
                  <a:pt x="6755" y="529207"/>
                </a:lnTo>
                <a:lnTo>
                  <a:pt x="42786" y="529207"/>
                </a:lnTo>
                <a:lnTo>
                  <a:pt x="42786" y="535963"/>
                </a:lnTo>
                <a:close/>
              </a:path>
              <a:path w="4716145" h="536575">
                <a:moveTo>
                  <a:pt x="13511" y="529207"/>
                </a:moveTo>
                <a:lnTo>
                  <a:pt x="6755" y="529207"/>
                </a:lnTo>
                <a:lnTo>
                  <a:pt x="6755" y="522451"/>
                </a:lnTo>
                <a:lnTo>
                  <a:pt x="13511" y="522451"/>
                </a:lnTo>
                <a:lnTo>
                  <a:pt x="13511" y="529207"/>
                </a:lnTo>
                <a:close/>
              </a:path>
              <a:path w="4716145" h="536575">
                <a:moveTo>
                  <a:pt x="42786" y="529207"/>
                </a:moveTo>
                <a:lnTo>
                  <a:pt x="13511" y="529207"/>
                </a:lnTo>
                <a:lnTo>
                  <a:pt x="13511" y="522451"/>
                </a:lnTo>
                <a:lnTo>
                  <a:pt x="42786" y="522451"/>
                </a:lnTo>
                <a:lnTo>
                  <a:pt x="42786" y="529207"/>
                </a:lnTo>
                <a:close/>
              </a:path>
              <a:path w="4716145" h="536575">
                <a:moveTo>
                  <a:pt x="13511" y="484168"/>
                </a:moveTo>
                <a:lnTo>
                  <a:pt x="0" y="484168"/>
                </a:lnTo>
                <a:lnTo>
                  <a:pt x="0" y="439129"/>
                </a:lnTo>
                <a:lnTo>
                  <a:pt x="13511" y="439129"/>
                </a:lnTo>
                <a:lnTo>
                  <a:pt x="13511" y="484168"/>
                </a:lnTo>
                <a:close/>
              </a:path>
              <a:path w="4716145" h="536575">
                <a:moveTo>
                  <a:pt x="13511" y="403098"/>
                </a:moveTo>
                <a:lnTo>
                  <a:pt x="0" y="403098"/>
                </a:lnTo>
                <a:lnTo>
                  <a:pt x="0" y="358059"/>
                </a:lnTo>
                <a:lnTo>
                  <a:pt x="13511" y="358059"/>
                </a:lnTo>
                <a:lnTo>
                  <a:pt x="13511" y="403098"/>
                </a:lnTo>
                <a:close/>
              </a:path>
              <a:path w="4716145" h="536575">
                <a:moveTo>
                  <a:pt x="13511" y="322028"/>
                </a:moveTo>
                <a:lnTo>
                  <a:pt x="0" y="322028"/>
                </a:lnTo>
                <a:lnTo>
                  <a:pt x="0" y="276989"/>
                </a:lnTo>
                <a:lnTo>
                  <a:pt x="13511" y="276989"/>
                </a:lnTo>
                <a:lnTo>
                  <a:pt x="13511" y="322028"/>
                </a:lnTo>
                <a:close/>
              </a:path>
              <a:path w="4716145" h="536575">
                <a:moveTo>
                  <a:pt x="13511" y="240958"/>
                </a:moveTo>
                <a:lnTo>
                  <a:pt x="0" y="240958"/>
                </a:lnTo>
                <a:lnTo>
                  <a:pt x="0" y="195919"/>
                </a:lnTo>
                <a:lnTo>
                  <a:pt x="13511" y="195919"/>
                </a:lnTo>
                <a:lnTo>
                  <a:pt x="13511" y="240958"/>
                </a:lnTo>
                <a:close/>
              </a:path>
              <a:path w="4716145" h="536575">
                <a:moveTo>
                  <a:pt x="13511" y="159888"/>
                </a:moveTo>
                <a:lnTo>
                  <a:pt x="0" y="159888"/>
                </a:lnTo>
                <a:lnTo>
                  <a:pt x="0" y="114849"/>
                </a:lnTo>
                <a:lnTo>
                  <a:pt x="13511" y="114849"/>
                </a:lnTo>
                <a:lnTo>
                  <a:pt x="13511" y="159888"/>
                </a:lnTo>
                <a:close/>
              </a:path>
              <a:path w="4716145" h="536575">
                <a:moveTo>
                  <a:pt x="13511" y="78818"/>
                </a:moveTo>
                <a:lnTo>
                  <a:pt x="0" y="78818"/>
                </a:lnTo>
                <a:lnTo>
                  <a:pt x="0" y="33779"/>
                </a:lnTo>
                <a:lnTo>
                  <a:pt x="13511" y="33779"/>
                </a:lnTo>
                <a:lnTo>
                  <a:pt x="13511" y="78818"/>
                </a:lnTo>
                <a:close/>
              </a:path>
              <a:path w="4716145" h="536575">
                <a:moveTo>
                  <a:pt x="51794" y="13511"/>
                </a:moveTo>
                <a:lnTo>
                  <a:pt x="6755" y="13511"/>
                </a:lnTo>
                <a:lnTo>
                  <a:pt x="6755" y="0"/>
                </a:lnTo>
                <a:lnTo>
                  <a:pt x="51794" y="0"/>
                </a:lnTo>
                <a:lnTo>
                  <a:pt x="51794" y="13511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2272307" y="5181092"/>
            <a:ext cx="284670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-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PUBLIC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PaaS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lang="fr-FR" sz="1000" b="1" spc="105" dirty="0">
                <a:solidFill>
                  <a:srgbClr val="6A6A6A"/>
                </a:solidFill>
                <a:latin typeface="Arial"/>
                <a:cs typeface="Arial"/>
              </a:rPr>
              <a:t>- </a:t>
            </a:r>
            <a:r>
              <a:rPr sz="1000" b="1" dirty="0" err="1">
                <a:solidFill>
                  <a:srgbClr val="6A6A6A"/>
                </a:solidFill>
                <a:latin typeface="Arial"/>
                <a:cs typeface="Arial"/>
              </a:rPr>
              <a:t>cible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,</a:t>
            </a:r>
            <a:r>
              <a:rPr sz="1000" b="1" spc="9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hors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endParaRPr sz="1000" dirty="0">
              <a:latin typeface="Arial"/>
              <a:cs typeface="Arial"/>
            </a:endParaRPr>
          </a:p>
        </p:txBody>
      </p:sp>
      <p:pic>
        <p:nvPicPr>
          <p:cNvPr id="60" name="object 6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1981" y="5848349"/>
            <a:ext cx="259556" cy="154781"/>
          </a:xfrm>
          <a:prstGeom prst="rect">
            <a:avLst/>
          </a:prstGeom>
        </p:spPr>
      </p:pic>
      <p:sp>
        <p:nvSpPr>
          <p:cNvPr id="61" name="object 61"/>
          <p:cNvSpPr/>
          <p:nvPr/>
        </p:nvSpPr>
        <p:spPr>
          <a:xfrm>
            <a:off x="3467100" y="5867400"/>
            <a:ext cx="190500" cy="104775"/>
          </a:xfrm>
          <a:custGeom>
            <a:avLst/>
            <a:gdLst/>
            <a:ahLst/>
            <a:cxnLst/>
            <a:rect l="l" t="t" r="r" b="b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72" name="object 72"/>
          <p:cNvSpPr txBox="1"/>
          <p:nvPr/>
        </p:nvSpPr>
        <p:spPr>
          <a:xfrm>
            <a:off x="7131049" y="5162366"/>
            <a:ext cx="2380615" cy="67005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docker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compose</a:t>
            </a:r>
            <a:r>
              <a:rPr sz="1250" spc="-8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up 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dirty="0">
                <a:solidFill>
                  <a:srgbClr val="111111"/>
                </a:solidFill>
                <a:latin typeface="Lucida Console"/>
                <a:cs typeface="Lucida Console"/>
              </a:rPr>
              <a:t>d</a:t>
            </a:r>
            <a:r>
              <a:rPr sz="1250" spc="-10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backend=3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1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14" dirty="0">
                <a:solidFill>
                  <a:srgbClr val="111111"/>
                </a:solidFill>
                <a:latin typeface="Lucida Console"/>
                <a:cs typeface="Lucida Console"/>
              </a:rPr>
              <a:t>sensor-</a:t>
            </a:r>
            <a:r>
              <a:rPr sz="1250" spc="-63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75" dirty="0">
                <a:solidFill>
                  <a:srgbClr val="111111"/>
                </a:solidFill>
                <a:latin typeface="Lucida Console"/>
                <a:cs typeface="Lucida Console"/>
              </a:rPr>
              <a:t>simulator=3</a:t>
            </a:r>
            <a:endParaRPr sz="1250" dirty="0">
              <a:latin typeface="Lucida Console"/>
              <a:cs typeface="Lucida Console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74" name="object 7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5" name="object 7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3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76" name="Image 75">
            <a:extLst>
              <a:ext uri="{FF2B5EF4-FFF2-40B4-BE49-F238E27FC236}">
                <a16:creationId xmlns:a16="http://schemas.microsoft.com/office/drawing/2014/main" id="{537F3DA2-E42B-30EE-55E6-364516CA8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  <p:sp>
        <p:nvSpPr>
          <p:cNvPr id="77" name="object 65">
            <a:extLst>
              <a:ext uri="{FF2B5EF4-FFF2-40B4-BE49-F238E27FC236}">
                <a16:creationId xmlns:a16="http://schemas.microsoft.com/office/drawing/2014/main" id="{9005B962-F387-72A9-7E48-40E6B92222AF}"/>
              </a:ext>
            </a:extLst>
          </p:cNvPr>
          <p:cNvSpPr/>
          <p:nvPr/>
        </p:nvSpPr>
        <p:spPr>
          <a:xfrm>
            <a:off x="7143749" y="2033000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9127"/>
            <a:ext cx="639381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Risques</a:t>
            </a:r>
            <a:r>
              <a:rPr spc="-530" dirty="0"/>
              <a:t> </a:t>
            </a:r>
            <a:r>
              <a:rPr spc="75" dirty="0"/>
              <a:t>et</a:t>
            </a:r>
            <a:r>
              <a:rPr spc="-490" dirty="0"/>
              <a:t> </a:t>
            </a:r>
            <a:r>
              <a:rPr spc="-10" dirty="0"/>
              <a:t>atténuation</a:t>
            </a:r>
            <a:endParaRPr sz="7300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159126"/>
              </p:ext>
            </p:extLst>
          </p:nvPr>
        </p:nvGraphicFramePr>
        <p:xfrm>
          <a:off x="609599" y="1714999"/>
          <a:ext cx="10972799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2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1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2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Menace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Conséquence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1125"/>
                        </a:lnSpc>
                      </a:pP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Dans</a:t>
                      </a:r>
                      <a:r>
                        <a:rPr sz="1150" b="1" spc="-5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1150" b="1" spc="-55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prototype</a:t>
                      </a:r>
                      <a:endParaRPr sz="1150" dirty="0">
                        <a:solidFill>
                          <a:srgbClr val="C00000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ts val="1125"/>
                        </a:lnSpc>
                      </a:pPr>
                      <a:r>
                        <a:rPr lang="fr-FR" sz="1150" b="1" spc="-10" dirty="0" err="1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Remediation</a:t>
                      </a:r>
                      <a:endParaRPr sz="115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Usurpation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 dirty="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9080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masquée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ou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déclenchée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915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</a:t>
                      </a:r>
                      <a:r>
                        <a:rPr sz="1300" spc="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sur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l’ingestion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(refus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401),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données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540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Identité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propre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chaque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(mTLS), détection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d’anomalies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Accès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6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non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autorisé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tiers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acquitte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762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sans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410209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(OIDC)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rôles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opérateur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/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ingénieur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Fuite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6407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Cadence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production divulguée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223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aux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droits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admin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7305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TLS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services,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chiffrement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repos, coffre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Altération,</a:t>
                      </a:r>
                      <a:r>
                        <a:rPr sz="1300" b="1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injection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Requêtes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Flux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filtrées,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SQL</a:t>
                      </a:r>
                      <a:r>
                        <a:rPr sz="1300" spc="-114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paramétré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Journal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d’audit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inaltérable,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sauvegardes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La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inaperçue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couvert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«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muet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»,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tampon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local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8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d’un</a:t>
                      </a: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27368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perdues,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supervision aveugle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Redémarrage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auto,</a:t>
                      </a:r>
                      <a:r>
                        <a:rPr sz="1300" spc="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répliquées,</a:t>
                      </a:r>
                      <a:r>
                        <a:rPr sz="1300" spc="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répartiteur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redondant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2861625" y="5189571"/>
            <a:ext cx="6468745" cy="54694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algn="ctr">
              <a:lnSpc>
                <a:spcPts val="1950"/>
              </a:lnSpc>
              <a:spcBef>
                <a:spcPts val="265"/>
              </a:spcBef>
            </a:pP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Risques</a:t>
            </a:r>
            <a:r>
              <a:rPr sz="1700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résiduels</a:t>
            </a:r>
            <a:r>
              <a:rPr sz="1700" spc="-175" dirty="0">
                <a:solidFill>
                  <a:srgbClr val="111111"/>
                </a:solidFill>
                <a:latin typeface="Arial"/>
                <a:cs typeface="Arial"/>
              </a:rPr>
              <a:t> :</a:t>
            </a:r>
            <a:r>
              <a:rPr sz="1700" spc="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tableau</a:t>
            </a:r>
            <a:r>
              <a:rPr sz="1700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55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sz="1700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105" dirty="0">
                <a:solidFill>
                  <a:srgbClr val="111111"/>
                </a:solidFill>
                <a:latin typeface="Arial"/>
                <a:cs typeface="Arial"/>
              </a:rPr>
              <a:t>bord</a:t>
            </a:r>
            <a:r>
              <a:rPr sz="1700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0" dirty="0">
                <a:solidFill>
                  <a:srgbClr val="111111"/>
                </a:solidFill>
                <a:latin typeface="Arial"/>
                <a:cs typeface="Arial"/>
              </a:rPr>
              <a:t>sans</a:t>
            </a:r>
            <a:r>
              <a:rPr sz="1700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90" dirty="0">
                <a:solidFill>
                  <a:srgbClr val="111111"/>
                </a:solidFill>
                <a:latin typeface="Arial"/>
                <a:cs typeface="Arial"/>
              </a:rPr>
              <a:t>authentification,</a:t>
            </a:r>
            <a:r>
              <a:rPr sz="1700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60" dirty="0">
                <a:solidFill>
                  <a:srgbClr val="111111"/>
                </a:solidFill>
                <a:latin typeface="Arial"/>
                <a:cs typeface="Arial"/>
              </a:rPr>
              <a:t>clé</a:t>
            </a:r>
            <a:r>
              <a:rPr sz="1700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111111"/>
                </a:solidFill>
                <a:latin typeface="Arial"/>
                <a:cs typeface="Arial"/>
              </a:rPr>
              <a:t>capteur </a:t>
            </a:r>
            <a:r>
              <a:rPr sz="1700" spc="-75" dirty="0">
                <a:solidFill>
                  <a:srgbClr val="111111"/>
                </a:solidFill>
                <a:latin typeface="Arial"/>
                <a:cs typeface="Arial"/>
              </a:rPr>
              <a:t>partagée,</a:t>
            </a:r>
            <a:r>
              <a:rPr sz="1700" spc="-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70" dirty="0">
                <a:solidFill>
                  <a:srgbClr val="111111"/>
                </a:solidFill>
                <a:latin typeface="Arial"/>
                <a:cs typeface="Arial"/>
              </a:rPr>
              <a:t>bases</a:t>
            </a:r>
            <a:r>
              <a:rPr sz="1700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95" dirty="0">
                <a:solidFill>
                  <a:srgbClr val="111111"/>
                </a:solidFill>
                <a:latin typeface="Arial"/>
                <a:cs typeface="Arial"/>
              </a:rPr>
              <a:t>uniques.</a:t>
            </a:r>
            <a:r>
              <a:rPr sz="1700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7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700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panne</a:t>
            </a:r>
            <a:r>
              <a:rPr sz="1700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0" dirty="0">
                <a:solidFill>
                  <a:srgbClr val="111111"/>
                </a:solidFill>
                <a:latin typeface="Arial"/>
                <a:cs typeface="Arial"/>
              </a:rPr>
              <a:t>d’InfluxDB</a:t>
            </a:r>
            <a:r>
              <a:rPr sz="1700" spc="-1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95" dirty="0">
                <a:solidFill>
                  <a:srgbClr val="111111"/>
                </a:solidFill>
                <a:latin typeface="Arial"/>
                <a:cs typeface="Arial"/>
              </a:rPr>
              <a:t>suspend</a:t>
            </a:r>
            <a:r>
              <a:rPr sz="1700" spc="-1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30" dirty="0">
                <a:solidFill>
                  <a:srgbClr val="111111"/>
                </a:solidFill>
                <a:latin typeface="Arial"/>
                <a:cs typeface="Arial"/>
              </a:rPr>
              <a:t>la</a:t>
            </a:r>
            <a:r>
              <a:rPr sz="1700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65" dirty="0">
                <a:solidFill>
                  <a:srgbClr val="111111"/>
                </a:solidFill>
                <a:latin typeface="Arial"/>
                <a:cs typeface="Arial"/>
              </a:rPr>
              <a:t>détection.</a:t>
            </a:r>
            <a:endParaRPr sz="17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4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471B968-4290-F30B-DE31-3DFAAEC48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Words>686</Words>
  <Application>Microsoft Macintosh PowerPoint</Application>
  <PresentationFormat>Grand écran</PresentationFormat>
  <Paragraphs>138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 MT</vt:lpstr>
      <vt:lpstr>Arial</vt:lpstr>
      <vt:lpstr>Calibri</vt:lpstr>
      <vt:lpstr>Lucida Console</vt:lpstr>
      <vt:lpstr>Microsoft Sans Serif</vt:lpstr>
      <vt:lpstr>Office Theme</vt:lpstr>
      <vt:lpstr>Présentation PowerPoint</vt:lpstr>
      <vt:lpstr>Besoins métier</vt:lpstr>
      <vt:lpstr>Besoins techniques</vt:lpstr>
      <vt:lpstr>Architecture proposée</vt:lpstr>
      <vt:lpstr>Risques et atténuation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FactorySense — Soutenance</dc:title>
  <cp:lastModifiedBy>Amine Slaoui</cp:lastModifiedBy>
  <cp:revision>5</cp:revision>
  <dcterms:created xsi:type="dcterms:W3CDTF">2026-09-28T13:28:27Z</dcterms:created>
  <dcterms:modified xsi:type="dcterms:W3CDTF">2026-10-03T20:08:12Z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Producer">
    <vt:lpwstr>Skia/PDF m153</vt:lpwstr>
  </property>
</Properties>
</file>